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143000"/>
            <a:ext cx="5303520" cy="5303520"/>
          </a:xfrm>
          <a:prstGeom prst="ellipse">
            <a:avLst/>
          </a:prstGeom>
          <a:solidFill>
            <a:srgbClr val="4C88C2">
              <a:alpha val="88000"/>
            </a:srgbClr>
          </a:solidFill>
          <a:ln w="12700">
            <a:solidFill>
              <a:srgbClr val="4C88C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29800" y="4251960"/>
            <a:ext cx="2514600" cy="2514600"/>
          </a:xfrm>
          <a:prstGeom prst="ellipse">
            <a:avLst/>
          </a:prstGeom>
          <a:solidFill>
            <a:srgbClr val="2C7A7B">
              <a:alpha val="80000"/>
            </a:srgbClr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61872"/>
            <a:ext cx="1051560" cy="0"/>
          </a:xfrm>
          <a:prstGeom prst="line">
            <a:avLst/>
          </a:prstGeom>
          <a:noFill/>
          <a:ln w="50800">
            <a:solidFill>
              <a:srgbClr val="6DB2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583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B8D4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Q1/Q2 GRUNDKURS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8641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Elektrodynamik und Energieübertragung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49808" y="3246120"/>
            <a:ext cx="6309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KLP-basierte Wiederholung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49808" y="3776472"/>
            <a:ext cx="7132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BED2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Vom sicheren Abruf über einfache Anwendungen bis zum Transfer.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49808" y="4892040"/>
            <a:ext cx="4617720" cy="658368"/>
          </a:xfrm>
          <a:prstGeom prst="roundRect">
            <a:avLst>
              <a:gd name="adj" fmla="val 8333"/>
            </a:avLst>
          </a:prstGeom>
          <a:solidFill>
            <a:srgbClr val="1E425F"/>
          </a:solidFill>
          <a:ln w="12700">
            <a:solidFill>
              <a:srgbClr val="315B7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50749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E2EE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Abrufen    2  Verstehen    3  Rechnen    4  Transfer</a:t>
            </a:r>
            <a:endParaRPr lang="en-US" sz="1170" dirty="0"/>
          </a:p>
        </p:txBody>
      </p:sp>
      <p:sp>
        <p:nvSpPr>
          <p:cNvPr id="11" name="Text 9"/>
          <p:cNvSpPr/>
          <p:nvPr/>
        </p:nvSpPr>
        <p:spPr>
          <a:xfrm>
            <a:off x="749808" y="621792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A9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KLP-Recherche: 2026-09-12</a:t>
            </a:r>
            <a:endParaRPr lang="en-US" sz="97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KLP-KOMPASS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Inhaltsfeld Elektrodynamik und Energieübertragung (GK)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Q1/Q2 Grundkurs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600200"/>
            <a:ext cx="649224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1600200"/>
            <a:ext cx="68580" cy="429768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719072"/>
            <a:ext cx="6144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Verbindliche fachliche Schwerpunkte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59536" y="2093976"/>
            <a:ext cx="6126480" cy="3675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Elektrodynamik: magnetischer Fluss, Induktion, Induktionsgesetz, Wechselspannung, Auf-/Entladen des Kondensators</a:t>
            </a:r>
            <a:endParaRPr lang="en-US" sz="1500" dirty="0"/>
          </a:p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Energieübertragung: Generator, Transformator, elektromagnetische Schwingung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60920" y="1600200"/>
            <a:ext cx="4160520" cy="2029968"/>
          </a:xfrm>
          <a:prstGeom prst="roundRect">
            <a:avLst>
              <a:gd name="adj" fmla="val 2703"/>
            </a:avLst>
          </a:prstGeom>
          <a:solidFill>
            <a:srgbClr val="E8F4F2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60920" y="1600200"/>
            <a:ext cx="68580" cy="2029968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62088" y="1719072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du am Ende können sollst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562088" y="2093976"/>
            <a:ext cx="3794760" cy="1408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Magnetischen Fluss als zentrale Größe der Induktion verwenden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Faradaysches Induktionsgesetz auf zeitliche Änderungen anwenden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Lenzsche Regel als Energieerhaltungsprinzip deuten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Generator und Transformator quantitativ beschreiben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360920" y="3840480"/>
            <a:ext cx="4160520" cy="2057400"/>
          </a:xfrm>
          <a:prstGeom prst="roundRect">
            <a:avLst>
              <a:gd name="adj" fmla="val 2667"/>
            </a:avLst>
          </a:prstGeom>
          <a:solidFill>
            <a:srgbClr val="FFF4DE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60920" y="3840480"/>
            <a:ext cx="68580" cy="2057400"/>
          </a:xfrm>
          <a:prstGeom prst="rect">
            <a:avLst/>
          </a:prstGeom>
          <a:solidFill>
            <a:srgbClr val="D78C24"/>
          </a:solidFill>
          <a:ln w="12700">
            <a:solidFill>
              <a:srgbClr val="D78C24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62088" y="3959352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Lernweg dieser Präsentation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562088" y="4334256"/>
            <a:ext cx="3794760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sehr leichte Abruffragen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Begriffe und Formeln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einfache Aufgaben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und Grafik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13232" y="606247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KLP Physik NRW 2022 · S. 40–41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1 · ABRUFEN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Leichter Einstieg → sicherer Abruf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Q1/Q2 Grundkurs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47218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Fragen 1–2 sind bewusst sehr leicht. Danach wird der Abruf schrittweise fachlicher.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" y="1856232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3544" y="1938528"/>
            <a:ext cx="493776" cy="493776"/>
          </a:xfrm>
          <a:prstGeom prst="ellipse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3544" y="1947672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9344" y="1947672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Bewegst du einen Magneten in eine Spule hinein: Kann am Messgerät eine Spannung auftreten?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49808" y="2670048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23544" y="2752344"/>
            <a:ext cx="493776" cy="493776"/>
          </a:xfrm>
          <a:prstGeom prst="ellipse">
            <a:avLst/>
          </a:prstGeom>
          <a:solidFill>
            <a:srgbClr val="4C88C2"/>
          </a:solidFill>
          <a:ln w="12700">
            <a:solidFill>
              <a:srgbClr val="4C88C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3544" y="2761488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09344" y="2761488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Bleibt diese Induktionsspannung bestehen, wenn Magnet und Spule relativ zueinander ruhen und das Magnetfeld konstant ist?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49808" y="3483864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3544" y="3566160"/>
            <a:ext cx="493776" cy="493776"/>
          </a:xfrm>
          <a:prstGeom prst="ellipse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3544" y="3575304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09344" y="3575304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Welche Einheit hat der magnetische Fluss Φ?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49808" y="4297680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3544" y="4379976"/>
            <a:ext cx="493776" cy="493776"/>
          </a:xfrm>
          <a:prstGeom prst="ellipse">
            <a:avLst/>
          </a:prstGeom>
          <a:solidFill>
            <a:srgbClr val="4E7A5A"/>
          </a:solidFill>
          <a:ln w="12700">
            <a:solidFill>
              <a:srgbClr val="4E7A5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544" y="438912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609344" y="4389120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Welche Änderungen können den magnetischen Fluss durch eine Leiterschleife verändern?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49808" y="5111496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3544" y="5193792"/>
            <a:ext cx="493776" cy="493776"/>
          </a:xfrm>
          <a:prstGeom prst="ellipse">
            <a:avLst/>
          </a:prstGeom>
          <a:solidFill>
            <a:srgbClr val="D78C24"/>
          </a:solidFill>
          <a:ln w="12700">
            <a:solidFill>
              <a:srgbClr val="D78C24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3544" y="5202936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609344" y="5202936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bedeutet das Minuszeichen im Induktionsgesetz?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2 · VERSTEHEN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Fachbegriffe und Formeln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Q1/Q2 Grundkurs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600200"/>
            <a:ext cx="5340096" cy="1938528"/>
          </a:xfrm>
          <a:prstGeom prst="roundRect">
            <a:avLst>
              <a:gd name="adj" fmla="val 2830"/>
            </a:avLst>
          </a:prstGeom>
          <a:solidFill>
            <a:srgbClr val="F0F4F7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1600200"/>
            <a:ext cx="68580" cy="1938528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719072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Magnetischer Fluss Φ</a:t>
            </a:r>
            <a:endParaRPr lang="en-US" sz="1530" dirty="0"/>
          </a:p>
        </p:txBody>
      </p:sp>
      <p:sp>
        <p:nvSpPr>
          <p:cNvPr id="12" name="Text 10"/>
          <p:cNvSpPr/>
          <p:nvPr/>
        </p:nvSpPr>
        <p:spPr>
          <a:xfrm>
            <a:off x="859536" y="2093976"/>
            <a:ext cx="4974336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Maß für die Durchsetzung einer Fläche mit magnetischem Feld.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Einheit: Wb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Beziehung: Φ = B · A · cos(α)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81344" y="1600200"/>
            <a:ext cx="5340096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81344" y="1600200"/>
            <a:ext cx="68580" cy="1938528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2512" y="1719072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Induktionsspannung U_ind</a:t>
            </a:r>
            <a:endParaRPr lang="en-US" sz="1530" dirty="0"/>
          </a:p>
        </p:txBody>
      </p:sp>
      <p:sp>
        <p:nvSpPr>
          <p:cNvPr id="16" name="Text 14"/>
          <p:cNvSpPr/>
          <p:nvPr/>
        </p:nvSpPr>
        <p:spPr>
          <a:xfrm>
            <a:off x="6382512" y="2093976"/>
            <a:ext cx="4974336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Spannung durch zeitliche Änderung des magnetischen Flusses.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Einheit: V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8368" y="3822192"/>
            <a:ext cx="5340096" cy="1938528"/>
          </a:xfrm>
          <a:prstGeom prst="roundRect">
            <a:avLst>
              <a:gd name="adj" fmla="val 2830"/>
            </a:avLst>
          </a:prstGeom>
          <a:solidFill>
            <a:srgbClr val="F0F4F7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8368" y="3822192"/>
            <a:ext cx="68580" cy="1938528"/>
          </a:xfrm>
          <a:prstGeom prst="rect">
            <a:avLst/>
          </a:prstGeom>
          <a:solidFill>
            <a:srgbClr val="D78C24"/>
          </a:solidFill>
          <a:ln w="12700">
            <a:solidFill>
              <a:srgbClr val="D78C24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" y="394106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Kapazität C</a:t>
            </a:r>
            <a:endParaRPr lang="en-US" sz="1530" dirty="0"/>
          </a:p>
        </p:txBody>
      </p:sp>
      <p:sp>
        <p:nvSpPr>
          <p:cNvPr id="20" name="Text 18"/>
          <p:cNvSpPr/>
          <p:nvPr/>
        </p:nvSpPr>
        <p:spPr>
          <a:xfrm>
            <a:off x="859536" y="4315968"/>
            <a:ext cx="4974336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Ladung pro Spannung eines Kondensators.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Einheit: F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81344" y="3822192"/>
            <a:ext cx="5340096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81344" y="3822192"/>
            <a:ext cx="68580" cy="1938528"/>
          </a:xfrm>
          <a:prstGeom prst="rect">
            <a:avLst/>
          </a:prstGeom>
          <a:solidFill>
            <a:srgbClr val="4E7A5A"/>
          </a:solidFill>
          <a:ln w="12700">
            <a:solidFill>
              <a:srgbClr val="4E7A5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82512" y="394106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Lenzsche Regel</a:t>
            </a:r>
            <a:endParaRPr lang="en-US" sz="1530" dirty="0"/>
          </a:p>
        </p:txBody>
      </p:sp>
      <p:sp>
        <p:nvSpPr>
          <p:cNvPr id="24" name="Text 22"/>
          <p:cNvSpPr/>
          <p:nvPr/>
        </p:nvSpPr>
        <p:spPr>
          <a:xfrm>
            <a:off x="6382512" y="4315968"/>
            <a:ext cx="4974336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Induktionswirkung ist so gerichtet, dass sie der verursachenden Flussänderung entgegenwirkt.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Einheit: –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3 · ANWENDEN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Einfache Aufgaben und Rechenbeispiele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Q1/Q2 Grundkurs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46304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Rechne zunächst mit bewusst einfachen Zahlen und klaren Einzelschritten.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" y="1865376"/>
            <a:ext cx="10607040" cy="1124712"/>
          </a:xfrm>
          <a:prstGeom prst="roundRect">
            <a:avLst>
              <a:gd name="adj" fmla="val 4878"/>
            </a:avLst>
          </a:prstGeom>
          <a:solidFill>
            <a:srgbClr val="EAF3FB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1865376"/>
            <a:ext cx="68580" cy="1124712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1984248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Aufgabe 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50976" y="235915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= 0,20 T durchsetzt A = 0,010 m² senkrecht. Berechne Φ.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49808" y="3227832"/>
            <a:ext cx="10607040" cy="1124712"/>
          </a:xfrm>
          <a:prstGeom prst="roundRect">
            <a:avLst>
              <a:gd name="adj" fmla="val 4878"/>
            </a:avLst>
          </a:prstGeom>
          <a:solidFill>
            <a:srgbClr val="E8F4F2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227832"/>
            <a:ext cx="68580" cy="1124712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3346704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Aufgabe 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50976" y="372160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 = 100; Φ ändert sich in 0,10 s von 0 auf 0,002 Wb. Bestimme |U_ind|.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49808" y="4590288"/>
            <a:ext cx="10607040" cy="1124712"/>
          </a:xfrm>
          <a:prstGeom prst="roundRect">
            <a:avLst>
              <a:gd name="adj" fmla="val 4878"/>
            </a:avLst>
          </a:prstGeom>
          <a:solidFill>
            <a:srgbClr val="FFF4DE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49808" y="4590288"/>
            <a:ext cx="68580" cy="1124712"/>
          </a:xfrm>
          <a:prstGeom prst="rect">
            <a:avLst/>
          </a:prstGeom>
          <a:solidFill>
            <a:srgbClr val="D78C24"/>
          </a:solidFill>
          <a:ln w="12700">
            <a:solidFill>
              <a:srgbClr val="D78C24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0976" y="4709160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Aufgabe 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50976" y="508406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Idealtrafo: N₁:N₂ = 1000:100, U₁ = 230 V. Berechne U₂.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4 · TRANSFER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Jetzt verknüpfen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Q1/Q2 Grundkurs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463040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Hier musst du mehr als einen Gedanken verbinden oder das Modell begründet anwenden.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" y="1938528"/>
            <a:ext cx="10607040" cy="1600200"/>
          </a:xfrm>
          <a:prstGeom prst="roundRect">
            <a:avLst>
              <a:gd name="adj" fmla="val 3429"/>
            </a:avLst>
          </a:prstGeom>
          <a:solidFill>
            <a:srgbClr val="F2EEF8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1938528"/>
            <a:ext cx="68580" cy="1600200"/>
          </a:xfrm>
          <a:prstGeom prst="rect">
            <a:avLst/>
          </a:prstGeom>
          <a:solidFill>
            <a:srgbClr val="735D9B"/>
          </a:solidFill>
          <a:ln w="12700">
            <a:solidFill>
              <a:srgbClr val="735D9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2057400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Anwendung / Transfer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50976" y="2432304"/>
            <a:ext cx="102412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 Fahrraddynamo wandelt Bewegungsenergie in elektrische Energie um. Erkläre, welche zeitliche Änderung die Induktionsspannung in der Spule verursacht.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49808" y="3840480"/>
            <a:ext cx="10607040" cy="1600200"/>
          </a:xfrm>
          <a:prstGeom prst="roundRect">
            <a:avLst>
              <a:gd name="adj" fmla="val 3429"/>
            </a:avLst>
          </a:prstGeom>
          <a:solidFill>
            <a:srgbClr val="EDF5EF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840480"/>
            <a:ext cx="68580" cy="1600200"/>
          </a:xfrm>
          <a:prstGeom prst="rect">
            <a:avLst/>
          </a:prstGeom>
          <a:solidFill>
            <a:srgbClr val="4E7A5A"/>
          </a:solidFill>
          <a:ln w="12700">
            <a:solidFill>
              <a:srgbClr val="4E7A5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3959352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Konzeptfrage · Warum?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50976" y="4334256"/>
            <a:ext cx="102412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Begründe die Richtung des Induktionsstroms mit der Lenzschen Regel und der Energieerhaltung: Warum muss die induzierte Wirkung der verursachenden Flussänderung entgegenwirken?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926080" y="5833872"/>
            <a:ext cx="6336792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90672" y="5925312"/>
            <a:ext cx="5989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9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Strategie: Gegeben → Gesucht → Modell/Formel → Ergebnis → Plausibilität</a:t>
            </a:r>
            <a:endParaRPr lang="en-US" sz="109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5 · DARSTELLEN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Induktionsspannung beim Ein- und Ausfahren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Q1/Q2 Grundkurs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572768"/>
            <a:ext cx="7543800" cy="4526280"/>
          </a:xfrm>
          <a:prstGeom prst="roundRect">
            <a:avLst>
              <a:gd name="adj" fmla="val 1010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44752" y="5340096"/>
            <a:ext cx="6291072" cy="0"/>
          </a:xfrm>
          <a:prstGeom prst="line">
            <a:avLst/>
          </a:prstGeom>
          <a:noFill/>
          <a:ln w="17780">
            <a:solidFill>
              <a:srgbClr val="20304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444752" y="5340096"/>
            <a:ext cx="0" cy="-3355848"/>
          </a:xfrm>
          <a:prstGeom prst="line">
            <a:avLst/>
          </a:prstGeom>
          <a:noFill/>
          <a:ln w="17780">
            <a:solidFill>
              <a:srgbClr val="20304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444752" y="1984248"/>
            <a:ext cx="0" cy="3355848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44752" y="5340096"/>
            <a:ext cx="6291072" cy="0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16152" y="54132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68680" y="5248656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-3,25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017520" y="1984248"/>
            <a:ext cx="0" cy="3355848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4752" y="4501134"/>
            <a:ext cx="6291072" cy="0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88920" y="54132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1,58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68680" y="440969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-1,62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90288" y="1984248"/>
            <a:ext cx="0" cy="3355848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44752" y="3662172"/>
            <a:ext cx="6291072" cy="0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61688" y="54132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3,15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68680" y="357073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163056" y="1984248"/>
            <a:ext cx="0" cy="3355848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444752" y="2823210"/>
            <a:ext cx="6291072" cy="0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34456" y="54132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4,72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68680" y="273177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1,62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735824" y="1984248"/>
            <a:ext cx="0" cy="3355848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444752" y="1984248"/>
            <a:ext cx="6291072" cy="0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07224" y="54132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6,3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68680" y="189280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3,25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501384" y="566928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Zeit 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68680" y="175564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U_ind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444752" y="3662172"/>
            <a:ext cx="998583" cy="0"/>
          </a:xfrm>
          <a:prstGeom prst="line">
            <a:avLst/>
          </a:prstGeom>
          <a:noFill/>
          <a:ln w="30480">
            <a:solidFill>
              <a:srgbClr val="2F6FA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443335" y="3662172"/>
            <a:ext cx="199717" cy="-1446486"/>
          </a:xfrm>
          <a:prstGeom prst="line">
            <a:avLst/>
          </a:prstGeom>
          <a:noFill/>
          <a:ln w="30480">
            <a:solidFill>
              <a:srgbClr val="2F6FA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643051" y="2215686"/>
            <a:ext cx="798866" cy="0"/>
          </a:xfrm>
          <a:prstGeom prst="line">
            <a:avLst/>
          </a:prstGeom>
          <a:noFill/>
          <a:ln w="30480">
            <a:solidFill>
              <a:srgbClr val="2F6FA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441918" y="2215686"/>
            <a:ext cx="199717" cy="1446486"/>
          </a:xfrm>
          <a:prstGeom prst="line">
            <a:avLst/>
          </a:prstGeom>
          <a:noFill/>
          <a:ln w="30480">
            <a:solidFill>
              <a:srgbClr val="2F6FA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41634" y="3662172"/>
            <a:ext cx="1997166" cy="0"/>
          </a:xfrm>
          <a:prstGeom prst="line">
            <a:avLst/>
          </a:prstGeom>
          <a:noFill/>
          <a:ln w="30480">
            <a:solidFill>
              <a:srgbClr val="2F6FA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638800" y="3662172"/>
            <a:ext cx="199717" cy="1446486"/>
          </a:xfrm>
          <a:prstGeom prst="line">
            <a:avLst/>
          </a:prstGeom>
          <a:noFill/>
          <a:ln w="30480">
            <a:solidFill>
              <a:srgbClr val="2F6FA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838517" y="5108658"/>
            <a:ext cx="798866" cy="0"/>
          </a:xfrm>
          <a:prstGeom prst="line">
            <a:avLst/>
          </a:prstGeom>
          <a:noFill/>
          <a:ln w="30480">
            <a:solidFill>
              <a:srgbClr val="2F6FA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637383" y="5108658"/>
            <a:ext cx="199717" cy="-1446486"/>
          </a:xfrm>
          <a:prstGeom prst="line">
            <a:avLst/>
          </a:prstGeom>
          <a:noFill/>
          <a:ln w="30480">
            <a:solidFill>
              <a:srgbClr val="2F6FA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37099" y="3662172"/>
            <a:ext cx="898725" cy="0"/>
          </a:xfrm>
          <a:prstGeom prst="line">
            <a:avLst/>
          </a:prstGeom>
          <a:noFill/>
          <a:ln w="30480">
            <a:solidFill>
              <a:srgbClr val="2F6FA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99032" y="3616452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FA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397615" y="3616452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FA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597331" y="2169966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FA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396198" y="2169966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FA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595914" y="3616452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FA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593080" y="3616452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FA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792797" y="5062938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FA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591663" y="5062938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FA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791379" y="3616452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FA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690104" y="3616452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FA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673352" y="562356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U_ind(t)</a:t>
            </a:r>
            <a:endParaRPr lang="en-US" sz="920" dirty="0"/>
          </a:p>
        </p:txBody>
      </p:sp>
      <p:sp>
        <p:nvSpPr>
          <p:cNvPr id="54" name="Text 52"/>
          <p:cNvSpPr/>
          <p:nvPr/>
        </p:nvSpPr>
        <p:spPr>
          <a:xfrm>
            <a:off x="2267712" y="216712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Einfahren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3730752" y="340156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vollständig im Feld</a:t>
            </a:r>
            <a:endParaRPr lang="en-US" sz="920" dirty="0"/>
          </a:p>
        </p:txBody>
      </p:sp>
      <p:sp>
        <p:nvSpPr>
          <p:cNvPr id="56" name="Text 54"/>
          <p:cNvSpPr/>
          <p:nvPr/>
        </p:nvSpPr>
        <p:spPr>
          <a:xfrm>
            <a:off x="5559552" y="466344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Ausfahren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8412480" y="1572768"/>
            <a:ext cx="3108960" cy="2011680"/>
          </a:xfrm>
          <a:prstGeom prst="roundRect">
            <a:avLst>
              <a:gd name="adj" fmla="val 2727"/>
            </a:avLst>
          </a:prstGeom>
          <a:solidFill>
            <a:srgbClr val="EAF3FB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8412480" y="1572768"/>
            <a:ext cx="68580" cy="201168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613648" y="1691640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Auswerten</a:t>
            </a:r>
            <a:endParaRPr lang="en-US" sz="1450" dirty="0"/>
          </a:p>
        </p:txBody>
      </p:sp>
      <p:sp>
        <p:nvSpPr>
          <p:cNvPr id="60" name="Text 58"/>
          <p:cNvSpPr/>
          <p:nvPr/>
        </p:nvSpPr>
        <p:spPr>
          <a:xfrm>
            <a:off x="8613648" y="2066544"/>
            <a:ext cx="2743200" cy="1389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Warum ist U_ind in der Mitte null?</a:t>
            </a:r>
            <a:endParaRPr lang="en-US" sz="1320" dirty="0"/>
          </a:p>
          <a:p>
            <a:pPr marL="165100" indent="-1651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Warum besitzen Ein- und Ausfahrpuls entgegengesetzte Vorzeichen?</a:t>
            </a:r>
            <a:endParaRPr lang="en-US" sz="1320" dirty="0"/>
          </a:p>
        </p:txBody>
      </p:sp>
      <p:sp>
        <p:nvSpPr>
          <p:cNvPr id="61" name="Shape 59"/>
          <p:cNvSpPr/>
          <p:nvPr/>
        </p:nvSpPr>
        <p:spPr>
          <a:xfrm>
            <a:off x="8412480" y="3794760"/>
            <a:ext cx="3108960" cy="2304288"/>
          </a:xfrm>
          <a:prstGeom prst="roundRect">
            <a:avLst>
              <a:gd name="adj" fmla="val 2381"/>
            </a:avLst>
          </a:prstGeom>
          <a:solidFill>
            <a:srgbClr val="E8F4F2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8412480" y="3794760"/>
            <a:ext cx="68580" cy="2304288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613648" y="3913632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Darstellungssprache</a:t>
            </a:r>
            <a:endParaRPr lang="en-US" sz="1430" dirty="0"/>
          </a:p>
        </p:txBody>
      </p:sp>
      <p:sp>
        <p:nvSpPr>
          <p:cNvPr id="64" name="Text 62"/>
          <p:cNvSpPr/>
          <p:nvPr/>
        </p:nvSpPr>
        <p:spPr>
          <a:xfrm>
            <a:off x="8613648" y="4288536"/>
            <a:ext cx="2743200" cy="1682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Achsen + Einheiten prüfen</a:t>
            </a:r>
            <a:endParaRPr lang="en-US" sz="1260" dirty="0"/>
          </a:p>
          <a:p>
            <a:pPr marL="165100" indent="-165100">
              <a:buSzPct val="100000"/>
              <a:buChar char="•"/>
            </a:pPr>
            <a:r>
              <a:rPr lang="en-US" sz="12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 beschreiben</a:t>
            </a:r>
            <a:endParaRPr lang="en-US" sz="1260" dirty="0"/>
          </a:p>
          <a:p>
            <a:pPr marL="165100" indent="-165100">
              <a:buSzPct val="100000"/>
              <a:buChar char="•"/>
            </a:pPr>
            <a:r>
              <a:rPr lang="en-US" sz="12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 Fachbegriff/Formel begründen</a:t>
            </a:r>
            <a:endParaRPr lang="en-US" sz="12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SICHERUNG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Lösungen und Exit-Ticket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Q1/Q2 Grundkurs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44475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Erst nach eigener Bearbeitung einblenden.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8368" y="1810512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810512"/>
            <a:ext cx="68580" cy="1060704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192938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Warm-up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859536" y="2304288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Warm-up: ja; nein, bei konstantem Fluss ist U_ind=0; Weber (Wb); Änderungen von B, wirksamer Fläche oder Orientierung; das Minuszeichen beschreibt die Lenzsche Gegenwirkung auf die Flussänderung.</a:t>
            </a:r>
            <a:endParaRPr lang="en-US" sz="1160" dirty="0"/>
          </a:p>
        </p:txBody>
      </p:sp>
      <p:sp>
        <p:nvSpPr>
          <p:cNvPr id="14" name="Shape 12"/>
          <p:cNvSpPr/>
          <p:nvPr/>
        </p:nvSpPr>
        <p:spPr>
          <a:xfrm>
            <a:off x="6181344" y="1810512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81344" y="1810512"/>
            <a:ext cx="68580" cy="1060704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2512" y="192938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1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6382512" y="2304288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1: 0,002 Wb.</a:t>
            </a:r>
            <a:endParaRPr lang="en-US" sz="1160" dirty="0"/>
          </a:p>
        </p:txBody>
      </p:sp>
      <p:sp>
        <p:nvSpPr>
          <p:cNvPr id="18" name="Shape 16"/>
          <p:cNvSpPr/>
          <p:nvPr/>
        </p:nvSpPr>
        <p:spPr>
          <a:xfrm>
            <a:off x="658368" y="3063240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3063240"/>
            <a:ext cx="68580" cy="1060704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" y="3182112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2</a:t>
            </a:r>
            <a:endParaRPr lang="en-US" sz="1180" dirty="0"/>
          </a:p>
        </p:txBody>
      </p:sp>
      <p:sp>
        <p:nvSpPr>
          <p:cNvPr id="21" name="Text 19"/>
          <p:cNvSpPr/>
          <p:nvPr/>
        </p:nvSpPr>
        <p:spPr>
          <a:xfrm>
            <a:off x="859536" y="3557016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2: 2,0 V.</a:t>
            </a:r>
            <a:endParaRPr lang="en-US" sz="1160" dirty="0"/>
          </a:p>
        </p:txBody>
      </p:sp>
      <p:sp>
        <p:nvSpPr>
          <p:cNvPr id="22" name="Shape 20"/>
          <p:cNvSpPr/>
          <p:nvPr/>
        </p:nvSpPr>
        <p:spPr>
          <a:xfrm>
            <a:off x="6181344" y="3063240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81344" y="3063240"/>
            <a:ext cx="68580" cy="1060704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82512" y="3182112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3</a:t>
            </a:r>
            <a:endParaRPr lang="en-US" sz="1180" dirty="0"/>
          </a:p>
        </p:txBody>
      </p:sp>
      <p:sp>
        <p:nvSpPr>
          <p:cNvPr id="25" name="Text 23"/>
          <p:cNvSpPr/>
          <p:nvPr/>
        </p:nvSpPr>
        <p:spPr>
          <a:xfrm>
            <a:off x="6382512" y="3557016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3: 23 V.</a:t>
            </a:r>
            <a:endParaRPr lang="en-US" sz="1160" dirty="0"/>
          </a:p>
        </p:txBody>
      </p:sp>
      <p:sp>
        <p:nvSpPr>
          <p:cNvPr id="26" name="Shape 24"/>
          <p:cNvSpPr/>
          <p:nvPr/>
        </p:nvSpPr>
        <p:spPr>
          <a:xfrm>
            <a:off x="658368" y="4315968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" y="4315968"/>
            <a:ext cx="68580" cy="1060704"/>
          </a:xfrm>
          <a:prstGeom prst="rect">
            <a:avLst/>
          </a:prstGeom>
          <a:solidFill>
            <a:srgbClr val="735D9B"/>
          </a:solidFill>
          <a:ln w="12700">
            <a:solidFill>
              <a:srgbClr val="735D9B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9536" y="4434840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Anwendung</a:t>
            </a:r>
            <a:endParaRPr lang="en-US" sz="1180" dirty="0"/>
          </a:p>
        </p:txBody>
      </p:sp>
      <p:sp>
        <p:nvSpPr>
          <p:cNvPr id="29" name="Text 27"/>
          <p:cNvSpPr/>
          <p:nvPr/>
        </p:nvSpPr>
        <p:spPr>
          <a:xfrm>
            <a:off x="859536" y="4809744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Anwendung: Durch die Drehbewegung ändert sich der magnetische Fluss durch die Spule fortlaufend; dΦ/dt ist ungleich null und dadurch wird eine Spannung induziert.</a:t>
            </a:r>
            <a:endParaRPr lang="en-US" sz="1160" dirty="0"/>
          </a:p>
        </p:txBody>
      </p:sp>
      <p:sp>
        <p:nvSpPr>
          <p:cNvPr id="30" name="Shape 28"/>
          <p:cNvSpPr/>
          <p:nvPr/>
        </p:nvSpPr>
        <p:spPr>
          <a:xfrm>
            <a:off x="6181344" y="4315968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81344" y="4315968"/>
            <a:ext cx="68580" cy="1060704"/>
          </a:xfrm>
          <a:prstGeom prst="rect">
            <a:avLst/>
          </a:prstGeom>
          <a:solidFill>
            <a:srgbClr val="735D9B"/>
          </a:solidFill>
          <a:ln w="12700">
            <a:solidFill>
              <a:srgbClr val="735D9B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2512" y="4434840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Konzeptfrage</a:t>
            </a:r>
            <a:endParaRPr lang="en-US" sz="1180" dirty="0"/>
          </a:p>
        </p:txBody>
      </p:sp>
      <p:sp>
        <p:nvSpPr>
          <p:cNvPr id="33" name="Text 31"/>
          <p:cNvSpPr/>
          <p:nvPr/>
        </p:nvSpPr>
        <p:spPr>
          <a:xfrm>
            <a:off x="6382512" y="4809744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Konzeptfrage: Die induzierte Wirkung hemmt die verursachende Flussänderung. Würde sie die Änderung verstärken, könnte ohne zusätzliche Arbeit immer mehr Energie entstehen; das widerspräche der Energieerhaltung.</a:t>
            </a:r>
            <a:endParaRPr lang="en-US" sz="1160" dirty="0"/>
          </a:p>
        </p:txBody>
      </p:sp>
      <p:sp>
        <p:nvSpPr>
          <p:cNvPr id="34" name="Shape 32"/>
          <p:cNvSpPr/>
          <p:nvPr/>
        </p:nvSpPr>
        <p:spPr>
          <a:xfrm>
            <a:off x="749808" y="5650992"/>
            <a:ext cx="10607040" cy="612648"/>
          </a:xfrm>
          <a:prstGeom prst="roundRect">
            <a:avLst>
              <a:gd name="adj" fmla="val 8955"/>
            </a:avLst>
          </a:prstGeom>
          <a:solidFill>
            <a:srgbClr val="FFF4DE"/>
          </a:solidFill>
          <a:ln w="15240">
            <a:solidFill>
              <a:srgbClr val="D78C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2688" y="581558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78C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664208" y="5733288"/>
            <a:ext cx="9418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Nenne die zwei Spezialfälle des Induktionsgesetzes: zeitlich veränderliches B bzw. zeitlich veränderliche wirksame Fläche.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Rivius Gymnasium Attendorn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Elektrodynamik und Energieübertragung – Wiederholung</dc:title>
  <dc:subject>KLP-basierte Wiederholung: Elektrodynamik und Energieübertragung</dc:subject>
  <dc:creator>Jonathan Hardenacke</dc:creator>
  <cp:lastModifiedBy>Jonathan Hardenacke</cp:lastModifiedBy>
  <cp:revision>1</cp:revision>
  <dcterms:created xsi:type="dcterms:W3CDTF">2026-09-12T09:38:45Z</dcterms:created>
  <dcterms:modified xsi:type="dcterms:W3CDTF">2026-09-12T09:38:45Z</dcterms:modified>
</cp:coreProperties>
</file>