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500000">
            <a:off x="7498080" y="-914400"/>
            <a:ext cx="5943600" cy="5943600"/>
          </a:xfrm>
          <a:prstGeom prst="arc">
            <a:avLst/>
          </a:prstGeom>
          <a:solidFill>
            <a:srgbClr val="2F6FAD">
              <a:alpha val="84000"/>
            </a:srgbClr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4434840"/>
            <a:ext cx="2468880" cy="2468880"/>
          </a:xfrm>
          <a:prstGeom prst="ellipse">
            <a:avLst/>
          </a:prstGeom>
          <a:solidFill>
            <a:srgbClr val="2C7A7B">
              <a:alpha val="75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243584"/>
            <a:ext cx="1051560" cy="0"/>
          </a:xfrm>
          <a:prstGeom prst="line">
            <a:avLst/>
          </a:prstGeom>
          <a:noFill/>
          <a:ln w="50800">
            <a:solidFill>
              <a:srgbClr val="6FB4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6583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A9CD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1444752"/>
            <a:ext cx="8686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Klassische Wellen und geladene Teilchen in Feldern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49808" y="3346704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DCEA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Wiederholungspräsentation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9808" y="384048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FD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lebendes Dokument: Nach jeder Stunde wächst der Rückblick um eine neue Folie.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507492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1B405E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5212080"/>
            <a:ext cx="3703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DEA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Kernideen · Begriffe · Beziehungen · Schnellcheck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49808" y="6236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C1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Physik NRW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ORIENTIERUNG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 bleibt hängen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45920"/>
            <a:ext cx="5413248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1920240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929384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91056" y="1810512"/>
            <a:ext cx="4251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Harmonische Schwingungen und mechanische Wellen quantitativ beschreiben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72784" y="1645920"/>
            <a:ext cx="5257800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1920240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929384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05472" y="1810512"/>
            <a:ext cx="40965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Reflexion, Brechung, Beugung, Interferenz und Polarisation einordnen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8368" y="2999232"/>
            <a:ext cx="5413248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9536" y="3273552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282696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91056" y="3163824"/>
            <a:ext cx="42519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Elektrische und magnetische Felder als Modelle für Wechselwirkungen verwenden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72784" y="2999232"/>
            <a:ext cx="5257800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3273552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282696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05472" y="3163824"/>
            <a:ext cx="409651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Kräfte auf geladene Teilchen in homogenen Feldern analysieren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58368" y="4352544"/>
            <a:ext cx="10872216" cy="1161288"/>
          </a:xfrm>
          <a:prstGeom prst="roundRect">
            <a:avLst>
              <a:gd name="adj" fmla="val 5512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4626864"/>
            <a:ext cx="576072" cy="576072"/>
          </a:xfrm>
          <a:prstGeom prst="ellipse">
            <a:avLst/>
          </a:prstGeom>
          <a:solidFill>
            <a:srgbClr val="EAF3FB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636008"/>
            <a:ext cx="576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91056" y="4517136"/>
            <a:ext cx="971092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Bahnformen geladener Teilchen begründen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WERKZEUGKASTEN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Modelle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2763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27632"/>
            <a:ext cx="73152" cy="141732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73936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Amplitude A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77824" y="2157984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Maximale Auslenkung einer Schwingung.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72784" y="1627632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1627632"/>
            <a:ext cx="73152" cy="14173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73936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Frequenz f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92240" y="2157984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Schwingungen pro Sekunde.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8368" y="32004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200400"/>
            <a:ext cx="73152" cy="141732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346704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Wellenlänge λ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77824" y="3730752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Räumliche Periodenlänge einer Welle.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72784" y="320040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72784" y="3200400"/>
            <a:ext cx="73152" cy="14173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346704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Elektrische Feldstärke 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92240" y="3730752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Kraft pro positiver Probeladung.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8368" y="4773168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8368" y="4773168"/>
            <a:ext cx="73152" cy="141732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9536" y="491947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Magnetische Flussdichte B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77824" y="5303520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Größe zur Beschreibung magnetischer Feldwirkungen.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272784" y="4773168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72784" y="4773168"/>
            <a:ext cx="73152" cy="141732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3952" y="4919472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Lorentzkraft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492240" y="5303520"/>
            <a:ext cx="4974336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Magnetische Kraft auf bewegte Ladungen.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ZUSAMMENHÄNGE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Formeln, Beziehungen und zentrale Aussagen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18488"/>
            <a:ext cx="53949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46504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Schwingung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859536" y="2093976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Für eine harmonische Schwingung ist die Rückstellwirkung proportional zur Auslenkung.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859536" y="2697480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715768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x(t) = A·sin(ωt+φ)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272784" y="1618488"/>
            <a:ext cx="53949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46504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Welle</a:t>
            </a:r>
            <a:endParaRPr lang="en-US" sz="1380" dirty="0"/>
          </a:p>
        </p:txBody>
      </p:sp>
      <p:sp>
        <p:nvSpPr>
          <p:cNvPr id="16" name="Text 14"/>
          <p:cNvSpPr/>
          <p:nvPr/>
        </p:nvSpPr>
        <p:spPr>
          <a:xfrm>
            <a:off x="6473952" y="2093976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Ausbreitungsgeschwindigkeit, Frequenz und Wellenlänge sind verknüpft.</a:t>
            </a:r>
            <a:endParaRPr lang="en-US" sz="1270" dirty="0"/>
          </a:p>
        </p:txBody>
      </p:sp>
      <p:sp>
        <p:nvSpPr>
          <p:cNvPr id="17" name="Shape 15"/>
          <p:cNvSpPr/>
          <p:nvPr/>
        </p:nvSpPr>
        <p:spPr>
          <a:xfrm>
            <a:off x="6473952" y="2697480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715768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v_W = λ · f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658368" y="3182112"/>
            <a:ext cx="53949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310128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Elektrisches Feld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859536" y="3657600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 eine Ladung wirkt im homogenen elektrischen Feld eine konstante Kraft.</a:t>
            </a:r>
            <a:endParaRPr lang="en-US" sz="1270" dirty="0"/>
          </a:p>
        </p:txBody>
      </p:sp>
      <p:sp>
        <p:nvSpPr>
          <p:cNvPr id="22" name="Shape 20"/>
          <p:cNvSpPr/>
          <p:nvPr/>
        </p:nvSpPr>
        <p:spPr>
          <a:xfrm>
            <a:off x="859536" y="4261104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" y="427939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F_el = q · E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6272784" y="3182112"/>
            <a:ext cx="5394960" cy="1389888"/>
          </a:xfrm>
          <a:prstGeom prst="roundRect">
            <a:avLst>
              <a:gd name="adj" fmla="val 4605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310128"/>
            <a:ext cx="4992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Magnetisches Feld</a:t>
            </a:r>
            <a:endParaRPr lang="en-US" sz="1380" dirty="0"/>
          </a:p>
        </p:txBody>
      </p:sp>
      <p:sp>
        <p:nvSpPr>
          <p:cNvPr id="26" name="Text 24"/>
          <p:cNvSpPr/>
          <p:nvPr/>
        </p:nvSpPr>
        <p:spPr>
          <a:xfrm>
            <a:off x="6473952" y="3657600"/>
            <a:ext cx="49926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Bei senkrechter Bewegung gilt für den Betrag der Lorentzkraft: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6473952" y="4261104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65392" y="4279392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F_L = |q| · v · B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658368" y="4745736"/>
            <a:ext cx="11009376" cy="1298448"/>
          </a:xfrm>
          <a:prstGeom prst="roundRect">
            <a:avLst>
              <a:gd name="adj" fmla="val 4930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9536" y="4873752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Kreisbahn im B-Feld</a:t>
            </a:r>
            <a:endParaRPr lang="en-US" sz="1380" dirty="0"/>
          </a:p>
        </p:txBody>
      </p:sp>
      <p:sp>
        <p:nvSpPr>
          <p:cNvPr id="31" name="Text 29"/>
          <p:cNvSpPr/>
          <p:nvPr/>
        </p:nvSpPr>
        <p:spPr>
          <a:xfrm>
            <a:off x="859536" y="5221224"/>
            <a:ext cx="10607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Lorentzkraft kann als Zentripetalkraft wirken.</a:t>
            </a:r>
            <a:endParaRPr lang="en-US" sz="1270" dirty="0"/>
          </a:p>
        </p:txBody>
      </p:sp>
      <p:sp>
        <p:nvSpPr>
          <p:cNvPr id="32" name="Shape 30"/>
          <p:cNvSpPr/>
          <p:nvPr/>
        </p:nvSpPr>
        <p:spPr>
          <a:xfrm>
            <a:off x="859536" y="5733288"/>
            <a:ext cx="2011680" cy="237744"/>
          </a:xfrm>
          <a:prstGeom prst="roundRect">
            <a:avLst>
              <a:gd name="adj" fmla="val 1538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0976" y="5751576"/>
            <a:ext cx="1828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 = m·v/(|q|·B)</a:t>
            </a:r>
            <a:endParaRPr lang="en-US" sz="10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ABRUFÜBUNG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Schnellcheck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8368" y="158191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Ohne Unterlagen beantworten – erst danach gemeinsam prüfen.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9808" y="2148840"/>
            <a:ext cx="105613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9264" y="2368296"/>
            <a:ext cx="548640" cy="548640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9264" y="23865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55648" y="2286000"/>
            <a:ext cx="9098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Größen bestimmen eine harmonische Schwingung vollständig?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49808" y="3383280"/>
            <a:ext cx="105613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602736"/>
            <a:ext cx="548640" cy="548640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6210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55648" y="3520440"/>
            <a:ext cx="9098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ändert ein homogenes Magnetfeld bei senkrechtem Eintritt nur die Bewegungsrichtung?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9808" y="4617720"/>
            <a:ext cx="10561320" cy="987552"/>
          </a:xfrm>
          <a:prstGeom prst="roundRect">
            <a:avLst>
              <a:gd name="adj" fmla="val 6481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9264" y="4837176"/>
            <a:ext cx="548640" cy="548640"/>
          </a:xfrm>
          <a:prstGeom prst="ellipse">
            <a:avLst/>
          </a:prstGeom>
          <a:solidFill>
            <a:srgbClr val="D9902F"/>
          </a:solidFill>
          <a:ln w="12700">
            <a:solidFill>
              <a:srgbClr val="D9902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9264" y="485546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55648" y="4754880"/>
            <a:ext cx="9098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Wellenphänomene lassen sich mit dem Huygensschen Prinzip erklären?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096512" y="5943600"/>
            <a:ext cx="3977640" cy="384048"/>
          </a:xfrm>
          <a:prstGeom prst="roundRect">
            <a:avLst>
              <a:gd name="adj" fmla="val 11905"/>
            </a:avLst>
          </a:prstGeom>
          <a:solidFill>
            <a:srgbClr val="EAF3FB"/>
          </a:solidFill>
          <a:ln w="12700">
            <a:solidFill>
              <a:srgbClr val="D9EBF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60167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Erklären ist stärker als nur nennen.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004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FORTSCHREIBEN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66928" y="658368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Stundenrückblick – Vorlage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784080" y="338328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Q1/Q2 Grundkurs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53312"/>
            <a:ext cx="11045952" cy="0"/>
          </a:xfrm>
          <a:prstGeom prst="line">
            <a:avLst/>
          </a:prstGeom>
          <a:noFill/>
          <a:ln w="12700">
            <a:solidFill>
              <a:srgbClr val="C8D5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28816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1109960" y="6528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58368" y="1645920"/>
            <a:ext cx="5413248" cy="1627632"/>
          </a:xfrm>
          <a:prstGeom prst="roundRect">
            <a:avLst>
              <a:gd name="adj" fmla="val 4494"/>
            </a:avLst>
          </a:prstGeom>
          <a:solidFill>
            <a:srgbClr val="EAF3FB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45920"/>
            <a:ext cx="73152" cy="162763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9222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Heute neu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77824" y="2176272"/>
            <a:ext cx="4992624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max. 3 zentrale Erkenntnisse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eigenen Worten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Bezug zum Vorwissen herstellen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6272784" y="1645920"/>
            <a:ext cx="5257800" cy="1627632"/>
          </a:xfrm>
          <a:prstGeom prst="roundRect">
            <a:avLst>
              <a:gd name="adj" fmla="val 4494"/>
            </a:avLst>
          </a:prstGeom>
          <a:solidFill>
            <a:srgbClr val="E6F4F1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72784" y="1645920"/>
            <a:ext cx="73152" cy="162763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792224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 / Beobachtung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2176272"/>
            <a:ext cx="483717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prägnanter Versuch, Messwert, Graph oder Alltagsbezug als Anker für die Stunde.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658368" y="3520440"/>
            <a:ext cx="5413248" cy="1627632"/>
          </a:xfrm>
          <a:prstGeom prst="roundRect">
            <a:avLst>
              <a:gd name="adj" fmla="val 4494"/>
            </a:avLst>
          </a:prstGeom>
          <a:solidFill>
            <a:srgbClr val="FFF3DE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520440"/>
            <a:ext cx="73152" cy="1627632"/>
          </a:xfrm>
          <a:prstGeom prst="rect">
            <a:avLst/>
          </a:prstGeom>
          <a:solidFill>
            <a:srgbClr val="D9902F"/>
          </a:solidFill>
          <a:ln w="12700">
            <a:solidFill>
              <a:srgbClr val="D9902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6667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Merksatz / Formel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77824" y="4050792"/>
            <a:ext cx="49926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Genau eine zentrale Aussage oder Beziehung festhalten – möglichst mit Bedeutung der Größen.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6272784" y="3520440"/>
            <a:ext cx="5257800" cy="1627632"/>
          </a:xfrm>
          <a:prstGeom prst="roundRect">
            <a:avLst>
              <a:gd name="adj" fmla="val 4494"/>
            </a:avLst>
          </a:prstGeom>
          <a:solidFill>
            <a:srgbClr val="EBF4ED"/>
          </a:solidFill>
          <a:ln w="12700">
            <a:solidFill>
              <a:srgbClr val="C8D5E2"/>
            </a:solidFill>
            <a:prstDash val="solid"/>
          </a:ln>
          <a:effectLst>
            <a:outerShdw sx="100000" sy="100000" kx="0" ky="0" algn="bl" rotWithShape="0" blurRad="12700" dist="50800" dir="2700000">
              <a:srgbClr val="B7C5D2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72784" y="3520440"/>
            <a:ext cx="73152" cy="162763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666744"/>
            <a:ext cx="4873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2-Minuten-Check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92240" y="4050792"/>
            <a:ext cx="4837176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2–3 kurze Abruffragen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möglichst ohne Unterlagen lösbar</a:t>
            </a:r>
            <a:endParaRPr lang="en-US" sz="1340" dirty="0"/>
          </a:p>
          <a:p>
            <a:pPr marL="165100" indent="-1651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Anwendung oder Erklärung einbauen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1691640" y="5541264"/>
            <a:ext cx="8796528" cy="585216"/>
          </a:xfrm>
          <a:prstGeom prst="roundRect">
            <a:avLst>
              <a:gd name="adj" fmla="val 10938"/>
            </a:avLst>
          </a:prstGeom>
          <a:solidFill>
            <a:srgbClr val="FFFFFF"/>
          </a:solidFill>
          <a:ln w="12700">
            <a:solidFill>
              <a:srgbClr val="C8D5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01952" y="5687568"/>
            <a:ext cx="8375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Codex-Workflow: neue Stunde in praesentation.json → lessons ergänzen → npm run build:pptx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Klassische Wellen und geladene Teilchen in Feldern – Wiederholung</dc:title>
  <dc:subject>Fortlaufende Wiederholung: Klassische Wellen und geladene Teilchen in Feldern</dc:subject>
  <dc:creator>Jonathan Hardenacke</dc:creator>
  <cp:lastModifiedBy>Jonathan Hardenacke</cp:lastModifiedBy>
  <cp:revision>1</cp:revision>
  <dcterms:created xsi:type="dcterms:W3CDTF">2026-09-11T17:58:40Z</dcterms:created>
  <dcterms:modified xsi:type="dcterms:W3CDTF">2026-09-11T17:58:40Z</dcterms:modified>
</cp:coreProperties>
</file>