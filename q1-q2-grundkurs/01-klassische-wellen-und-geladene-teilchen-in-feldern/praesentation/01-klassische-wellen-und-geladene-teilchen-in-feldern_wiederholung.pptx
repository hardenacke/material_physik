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143000"/>
            <a:ext cx="5303520" cy="5303520"/>
          </a:xfrm>
          <a:prstGeom prst="ellipse">
            <a:avLst/>
          </a:prstGeom>
          <a:solidFill>
            <a:srgbClr val="4C88C2">
              <a:alpha val="88000"/>
            </a:srgbClr>
          </a:solidFill>
          <a:ln w="12700">
            <a:solidFill>
              <a:srgbClr val="4C88C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4251960"/>
            <a:ext cx="2514600" cy="2514600"/>
          </a:xfrm>
          <a:prstGeom prst="ellipse">
            <a:avLst/>
          </a:prstGeom>
          <a:solidFill>
            <a:srgbClr val="2C7A7B">
              <a:alpha val="80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61872"/>
            <a:ext cx="1051560" cy="0"/>
          </a:xfrm>
          <a:prstGeom prst="line">
            <a:avLst/>
          </a:prstGeom>
          <a:noFill/>
          <a:ln w="50800">
            <a:solidFill>
              <a:srgbClr val="6DB2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583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8D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8641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Klassische Wellen und geladene Teilchen in Feldern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49808" y="3246120"/>
            <a:ext cx="6309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E5F0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KLP-basierte Wiederholung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9808" y="3776472"/>
            <a:ext cx="7132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ED2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Vom sicheren Abruf über einfache Anwendungen bis zum Transfer.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49808" y="4892040"/>
            <a:ext cx="4617720" cy="658368"/>
          </a:xfrm>
          <a:prstGeom prst="roundRect">
            <a:avLst>
              <a:gd name="adj" fmla="val 8333"/>
            </a:avLst>
          </a:prstGeom>
          <a:solidFill>
            <a:srgbClr val="1E425F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50749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E2EE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Abrufen    2  Verstehen    3  Rechnen    4  Transfer</a:t>
            </a:r>
            <a:endParaRPr lang="en-US" sz="1170" dirty="0"/>
          </a:p>
        </p:txBody>
      </p:sp>
      <p:sp>
        <p:nvSpPr>
          <p:cNvPr id="11" name="Text 9"/>
          <p:cNvSpPr/>
          <p:nvPr/>
        </p:nvSpPr>
        <p:spPr>
          <a:xfrm>
            <a:off x="749808" y="621792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A9C2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KLP-Recherche: 2026-09-12</a:t>
            </a:r>
            <a:endParaRPr lang="en-US" sz="9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KLP-KOMPASS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Inhaltsfeld Klassische Wellen und geladene Teilchen in Feldern (GK)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649224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00200"/>
            <a:ext cx="68580" cy="429768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19072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Verbindliche fachliche Schwerpunkte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59536" y="2093976"/>
            <a:ext cx="6126480" cy="3675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Klassische Wellen: Federpendel, harmonische Schwingungen/Wellen; Huygens; Reflexion, Brechung, Beugung; Superposition, Polarisation</a:t>
            </a:r>
            <a:endParaRPr lang="en-US" sz="1500" dirty="0"/>
          </a:p>
          <a:p>
            <a:pPr marL="165100" indent="-165100">
              <a:buSzPct val="100000"/>
              <a:buChar char="•"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Teilchen in Feldern: elektrische/magnetische Felder; E, U, B; Bahnformen geladener Teilchen in homogenen Feldern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60920" y="1600200"/>
            <a:ext cx="4160520" cy="2029968"/>
          </a:xfrm>
          <a:prstGeom prst="roundRect">
            <a:avLst>
              <a:gd name="adj" fmla="val 2703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60920" y="1600200"/>
            <a:ext cx="68580" cy="202996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62088" y="1719072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du am Ende können sollst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62088" y="2093976"/>
            <a:ext cx="3794760" cy="1408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Harmonische Schwingungen und mechanische Wellen quantitativ beschreiben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Reflexion, Brechung, Beugung, Interferenz und Polarisation einordnen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 und magnetische Felder als Modelle für Wechselwirkungen verwenden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Kräfte auf geladene Teilchen in homogenen Feldern analysieren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360920" y="3840480"/>
            <a:ext cx="4160520" cy="2057400"/>
          </a:xfrm>
          <a:prstGeom prst="roundRect">
            <a:avLst>
              <a:gd name="adj" fmla="val 2667"/>
            </a:avLst>
          </a:prstGeom>
          <a:solidFill>
            <a:srgbClr val="FFF4DE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60920" y="3840480"/>
            <a:ext cx="68580" cy="2057400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62088" y="3959352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Lernweg dieser Präsentation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562088" y="4334256"/>
            <a:ext cx="3794760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sehr leichte Abruffragen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Formeln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einfache Aufgaben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und Grafik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13232" y="606247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 Physik NRW 2022 · S. 35–38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1 · ABRUFEN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Leichter Einstieg → sicherer Abruf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7218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Fragen 1–2 sind bewusst sehr leicht. Danach wird der Abruf schrittweise fachlicher.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856232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" y="1938528"/>
            <a:ext cx="493776" cy="493776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1947672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9344" y="1947672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Ton wird höher. Wird seine Frequenz größer oder kleiner?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9808" y="2670048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3544" y="2752344"/>
            <a:ext cx="493776" cy="493776"/>
          </a:xfrm>
          <a:prstGeom prst="ellipse">
            <a:avLst/>
          </a:prstGeom>
          <a:solidFill>
            <a:srgbClr val="4C88C2"/>
          </a:solidFill>
          <a:ln w="12700">
            <a:solidFill>
              <a:srgbClr val="4C88C2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" y="2761488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9344" y="2761488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Ton wird lauter. Welche Wellengröße wird dabei größer?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49808" y="3483864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3544" y="3566160"/>
            <a:ext cx="493776" cy="493776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" y="357530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9344" y="3575304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Einheit hat die Frequenz?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9808" y="4297680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3544" y="4379976"/>
            <a:ext cx="493776" cy="493776"/>
          </a:xfrm>
          <a:prstGeom prst="ellipse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" y="4389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9344" y="4389120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hängen Ausbreitungsgeschwindigkeit v, Wellenlänge λ und Frequenz f zusammen?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49808" y="5111496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3544" y="5193792"/>
            <a:ext cx="493776" cy="493776"/>
          </a:xfrm>
          <a:prstGeom prst="ellipse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3544" y="5202936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609344" y="5202936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Wann ist die Lorentzkraft auf eine bewegte Ladung im Magnetfeld null?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2 · VERSTEHEN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Fachbegriffe und Formeln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0F4F7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00200"/>
            <a:ext cx="68580" cy="1938528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1907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Frequenz f</a:t>
            </a:r>
            <a:endParaRPr lang="en-US" sz="1530" dirty="0"/>
          </a:p>
        </p:txBody>
      </p:sp>
      <p:sp>
        <p:nvSpPr>
          <p:cNvPr id="12" name="Text 10"/>
          <p:cNvSpPr/>
          <p:nvPr/>
        </p:nvSpPr>
        <p:spPr>
          <a:xfrm>
            <a:off x="859536" y="2093976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Anzahl der Schwingungen pro Zeit.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Hz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1600200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81344" y="1600200"/>
            <a:ext cx="68580" cy="193852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171907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Wellenlänge λ</a:t>
            </a:r>
            <a:endParaRPr lang="en-US" sz="1530" dirty="0"/>
          </a:p>
        </p:txBody>
      </p:sp>
      <p:sp>
        <p:nvSpPr>
          <p:cNvPr id="16" name="Text 14"/>
          <p:cNvSpPr/>
          <p:nvPr/>
        </p:nvSpPr>
        <p:spPr>
          <a:xfrm>
            <a:off x="6382512" y="2093976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Räumliche Periodenlänge einer Welle.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" y="3822192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0F4F7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822192"/>
            <a:ext cx="68580" cy="1938528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94106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 Feldstärke E</a:t>
            </a:r>
            <a:endParaRPr lang="en-US" sz="1530" dirty="0"/>
          </a:p>
        </p:txBody>
      </p:sp>
      <p:sp>
        <p:nvSpPr>
          <p:cNvPr id="20" name="Text 18"/>
          <p:cNvSpPr/>
          <p:nvPr/>
        </p:nvSpPr>
        <p:spPr>
          <a:xfrm>
            <a:off x="859536" y="4315968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Kraft pro positiver Probeladung.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N/C = V/m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Beziehung: F_el = q · 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822192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81344" y="3822192"/>
            <a:ext cx="68580" cy="1938528"/>
          </a:xfrm>
          <a:prstGeom prst="rect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394106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Magnetische Flussdichte B</a:t>
            </a:r>
            <a:endParaRPr lang="en-US" sz="1530" dirty="0"/>
          </a:p>
        </p:txBody>
      </p:sp>
      <p:sp>
        <p:nvSpPr>
          <p:cNvPr id="24" name="Text 22"/>
          <p:cNvSpPr/>
          <p:nvPr/>
        </p:nvSpPr>
        <p:spPr>
          <a:xfrm>
            <a:off x="6382512" y="4315968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Kenngröße der magnetischen Feldwirkung.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T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Beziehung: F_L = |q| · v · B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3 · ANWENDEN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Einfache Aufgaben und Rechenbeispiele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63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Rechne zunächst mit bewusst einfachen Zahlen und klaren Einzelschritten.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EAF3FB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1865376"/>
            <a:ext cx="68580" cy="112471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1984248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35915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Schall: v = 340 m/s, f = 170 Hz. Berechne λ.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49808" y="3227832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3227832"/>
            <a:ext cx="68580" cy="112471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3346704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7216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 q = 0,004 C wirkt F = 0,020 N. Bestimme 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49808" y="4590288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FFF4DE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49808" y="4590288"/>
            <a:ext cx="68580" cy="1124712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0976" y="4709160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50976" y="508406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= 2·10⁻⁶ C, v = 100 m/s, B = 0,50 T, v ⟂ B. Berechne F_L.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4 · TRANSFER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Jetzt verknüpfen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6304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Hier musst du mehr als einen Gedanken verbinden oder das Modell begründet anwenden.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938528"/>
            <a:ext cx="10607040" cy="1600200"/>
          </a:xfrm>
          <a:prstGeom prst="roundRect">
            <a:avLst>
              <a:gd name="adj" fmla="val 3429"/>
            </a:avLst>
          </a:prstGeom>
          <a:solidFill>
            <a:srgbClr val="F2EEF8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1938528"/>
            <a:ext cx="68580" cy="1600200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2057400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Anwendung / Transfer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432304"/>
            <a:ext cx="10241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Noise-Cancelling-Kopfhörer erzeugen Gegenschall. Erkläre mit dem Superpositionsprinzip, welche Phasenlage zur möglichst starken Abschwächung nötig ist.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49808" y="3840480"/>
            <a:ext cx="10607040" cy="1600200"/>
          </a:xfrm>
          <a:prstGeom prst="roundRect">
            <a:avLst>
              <a:gd name="adj" fmla="val 3429"/>
            </a:avLst>
          </a:prstGeom>
          <a:solidFill>
            <a:srgbClr val="EDF5E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3840480"/>
            <a:ext cx="68580" cy="1600200"/>
          </a:xfrm>
          <a:prstGeom prst="rect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3959352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Konzeptfrage · Warum?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4334256"/>
            <a:ext cx="10241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positiv geladenes Teilchen fliegt senkrecht in ein homogenes Magnetfeld. Begründe die Kreisbahn über die Richtung von Lorentzkraft und Geschwindigkeit.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926080" y="5833872"/>
            <a:ext cx="6336792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90672" y="592531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9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Strategie: Gegeben → Gesucht → Modell/Formel → Ergebnis → Plausibilität</a:t>
            </a:r>
            <a:endParaRPr lang="en-US" sz="10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5 · DARSTELLEN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Wellen – Frequenz und Wellenlänge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572768"/>
            <a:ext cx="7543800" cy="452628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78892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87552" y="416052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C7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53312" y="2898648"/>
            <a:ext cx="6473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53312" y="4270248"/>
            <a:ext cx="6473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53312" y="2898648"/>
            <a:ext cx="71933" cy="-6351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25245" y="2835134"/>
            <a:ext cx="71933" cy="-6158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97178" y="2773551"/>
            <a:ext cx="71933" cy="-57783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69110" y="2715768"/>
            <a:ext cx="71933" cy="-52226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41043" y="2663542"/>
            <a:ext cx="71933" cy="-45082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12976" y="2618460"/>
            <a:ext cx="71933" cy="-36569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84909" y="2581891"/>
            <a:ext cx="71933" cy="-26945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56842" y="2554946"/>
            <a:ext cx="71933" cy="-16501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28774" y="2538445"/>
            <a:ext cx="71933" cy="-5557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0707" y="2532888"/>
            <a:ext cx="71933" cy="5557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72640" y="2538445"/>
            <a:ext cx="71933" cy="16501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44573" y="2554946"/>
            <a:ext cx="71933" cy="26945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16506" y="2581891"/>
            <a:ext cx="71933" cy="36569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88438" y="2618460"/>
            <a:ext cx="71933" cy="45082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60371" y="2663542"/>
            <a:ext cx="71933" cy="52226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432304" y="2715768"/>
            <a:ext cx="71933" cy="57783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04237" y="2773551"/>
            <a:ext cx="71933" cy="6158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76170" y="2835134"/>
            <a:ext cx="71933" cy="6351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48102" y="2898648"/>
            <a:ext cx="71933" cy="6351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20035" y="2962162"/>
            <a:ext cx="71933" cy="6158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91968" y="3023745"/>
            <a:ext cx="71933" cy="57783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63901" y="3081528"/>
            <a:ext cx="71933" cy="52226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35834" y="3133754"/>
            <a:ext cx="71933" cy="45082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07766" y="3178836"/>
            <a:ext cx="71933" cy="36569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79699" y="3215405"/>
            <a:ext cx="71933" cy="26945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51632" y="3242350"/>
            <a:ext cx="71933" cy="16501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3565" y="3258851"/>
            <a:ext cx="71933" cy="5557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5498" y="3264408"/>
            <a:ext cx="71933" cy="-5557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67430" y="3258851"/>
            <a:ext cx="71933" cy="-16501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39363" y="3242350"/>
            <a:ext cx="71933" cy="-26945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11296" y="3215405"/>
            <a:ext cx="71933" cy="-36569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83229" y="3178836"/>
            <a:ext cx="71933" cy="-45082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55162" y="3133754"/>
            <a:ext cx="71933" cy="-52226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7094" y="3081528"/>
            <a:ext cx="71933" cy="-57783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799027" y="3023745"/>
            <a:ext cx="71933" cy="-6158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870960" y="2962162"/>
            <a:ext cx="71933" cy="-6351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942893" y="2898648"/>
            <a:ext cx="71933" cy="-6351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014826" y="2835134"/>
            <a:ext cx="71933" cy="-6158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86758" y="2773551"/>
            <a:ext cx="71933" cy="-57783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58691" y="2715768"/>
            <a:ext cx="71933" cy="-52226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230624" y="2663542"/>
            <a:ext cx="71933" cy="-45082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302557" y="2618460"/>
            <a:ext cx="71933" cy="-36569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374490" y="2581891"/>
            <a:ext cx="71933" cy="-26945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46422" y="2554946"/>
            <a:ext cx="71933" cy="-16501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518355" y="2538445"/>
            <a:ext cx="71933" cy="-5557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90288" y="2532888"/>
            <a:ext cx="71933" cy="5557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62221" y="2538445"/>
            <a:ext cx="71933" cy="16501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734154" y="2554946"/>
            <a:ext cx="71933" cy="26945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6086" y="2581891"/>
            <a:ext cx="71933" cy="36569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78019" y="2618460"/>
            <a:ext cx="71933" cy="45082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49952" y="2663542"/>
            <a:ext cx="71933" cy="52226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021885" y="2715768"/>
            <a:ext cx="71933" cy="57783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93818" y="2773551"/>
            <a:ext cx="71933" cy="6158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165750" y="2835134"/>
            <a:ext cx="71933" cy="6351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237683" y="2898648"/>
            <a:ext cx="71933" cy="6351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309616" y="2962162"/>
            <a:ext cx="71933" cy="6158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381549" y="3023745"/>
            <a:ext cx="71933" cy="57783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53482" y="3081528"/>
            <a:ext cx="71933" cy="52226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525414" y="3133754"/>
            <a:ext cx="71933" cy="45082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97347" y="3178836"/>
            <a:ext cx="71933" cy="36569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69280" y="3215405"/>
            <a:ext cx="71933" cy="26945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741213" y="3242350"/>
            <a:ext cx="71933" cy="16501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813146" y="3258851"/>
            <a:ext cx="71933" cy="5557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885078" y="3264408"/>
            <a:ext cx="71933" cy="-5557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957011" y="3258851"/>
            <a:ext cx="71933" cy="-16501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28944" y="3242350"/>
            <a:ext cx="71933" cy="-26945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100877" y="3215405"/>
            <a:ext cx="71933" cy="-36569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172810" y="3178836"/>
            <a:ext cx="71933" cy="-45082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244742" y="3133754"/>
            <a:ext cx="71933" cy="-52226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316675" y="3081528"/>
            <a:ext cx="71933" cy="-57783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388608" y="3023745"/>
            <a:ext cx="71933" cy="-6158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460541" y="2962162"/>
            <a:ext cx="71933" cy="-6351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532474" y="2898648"/>
            <a:ext cx="71933" cy="-6351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604406" y="2835134"/>
            <a:ext cx="71933" cy="-6158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676339" y="2773551"/>
            <a:ext cx="71933" cy="-57783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48272" y="2715768"/>
            <a:ext cx="71933" cy="-52226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820205" y="2663542"/>
            <a:ext cx="71933" cy="-45082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892138" y="2618460"/>
            <a:ext cx="71933" cy="-36569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964070" y="2581891"/>
            <a:ext cx="71933" cy="-26945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036003" y="2554946"/>
            <a:ext cx="71933" cy="-16501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107936" y="2538445"/>
            <a:ext cx="71933" cy="-5557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179869" y="2532888"/>
            <a:ext cx="71933" cy="5557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251802" y="2538445"/>
            <a:ext cx="71933" cy="16501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23734" y="2554946"/>
            <a:ext cx="71933" cy="26945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395667" y="2581891"/>
            <a:ext cx="71933" cy="36569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467600" y="2618460"/>
            <a:ext cx="71933" cy="45082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539533" y="2663542"/>
            <a:ext cx="71933" cy="52226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611466" y="2715768"/>
            <a:ext cx="71933" cy="57783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683398" y="2773551"/>
            <a:ext cx="71933" cy="6158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755331" y="2835134"/>
            <a:ext cx="71933" cy="63514"/>
          </a:xfrm>
          <a:prstGeom prst="line">
            <a:avLst/>
          </a:prstGeom>
          <a:noFill/>
          <a:ln w="25400">
            <a:solidFill>
              <a:srgbClr val="2F6FAD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353312" y="4270248"/>
            <a:ext cx="71933" cy="-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425245" y="4145151"/>
            <a:ext cx="71933" cy="-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497178" y="4035142"/>
            <a:ext cx="71933" cy="-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569110" y="3953491"/>
            <a:ext cx="71933" cy="-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641043" y="3910045"/>
            <a:ext cx="71933" cy="0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712976" y="3910045"/>
            <a:ext cx="71933" cy="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784909" y="3953491"/>
            <a:ext cx="71933" cy="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856842" y="4035142"/>
            <a:ext cx="71933" cy="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928774" y="4145151"/>
            <a:ext cx="71933" cy="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00707" y="4270248"/>
            <a:ext cx="71933" cy="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072640" y="4395345"/>
            <a:ext cx="71933" cy="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144573" y="4505354"/>
            <a:ext cx="71933" cy="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216506" y="4587005"/>
            <a:ext cx="71933" cy="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288438" y="4630451"/>
            <a:ext cx="71933" cy="0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60371" y="4630451"/>
            <a:ext cx="71933" cy="-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432304" y="4587005"/>
            <a:ext cx="71933" cy="-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4237" y="4505354"/>
            <a:ext cx="71933" cy="-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576170" y="4395345"/>
            <a:ext cx="71933" cy="-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648102" y="4270248"/>
            <a:ext cx="71933" cy="-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720035" y="4145151"/>
            <a:ext cx="71933" cy="-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91968" y="4035142"/>
            <a:ext cx="71933" cy="-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863901" y="3953491"/>
            <a:ext cx="71933" cy="-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935834" y="3910045"/>
            <a:ext cx="71933" cy="0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007766" y="3910045"/>
            <a:ext cx="71933" cy="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3079699" y="3953491"/>
            <a:ext cx="71933" cy="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151632" y="4035142"/>
            <a:ext cx="71933" cy="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223565" y="4145151"/>
            <a:ext cx="71933" cy="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3295498" y="4270248"/>
            <a:ext cx="71933" cy="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367430" y="4395345"/>
            <a:ext cx="71933" cy="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439363" y="4505354"/>
            <a:ext cx="71933" cy="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3511296" y="4587005"/>
            <a:ext cx="71933" cy="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3583229" y="4630451"/>
            <a:ext cx="71933" cy="0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3655162" y="4630451"/>
            <a:ext cx="71933" cy="-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3727094" y="4587005"/>
            <a:ext cx="71933" cy="-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3799027" y="4505354"/>
            <a:ext cx="71933" cy="-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3870960" y="4395345"/>
            <a:ext cx="71933" cy="-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3942893" y="4270248"/>
            <a:ext cx="71933" cy="-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014826" y="4145151"/>
            <a:ext cx="71933" cy="-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086758" y="4035142"/>
            <a:ext cx="71933" cy="-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158691" y="3953491"/>
            <a:ext cx="71933" cy="-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4230624" y="3910045"/>
            <a:ext cx="71933" cy="0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4302557" y="3910045"/>
            <a:ext cx="71933" cy="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4374490" y="3953491"/>
            <a:ext cx="71933" cy="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446422" y="4035142"/>
            <a:ext cx="71933" cy="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518355" y="4145151"/>
            <a:ext cx="71933" cy="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4590288" y="4270248"/>
            <a:ext cx="71933" cy="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4662221" y="4395345"/>
            <a:ext cx="71933" cy="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734154" y="4505354"/>
            <a:ext cx="71933" cy="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4806086" y="4587005"/>
            <a:ext cx="71933" cy="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878019" y="4630451"/>
            <a:ext cx="71933" cy="0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949952" y="4630451"/>
            <a:ext cx="71933" cy="-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021885" y="4587005"/>
            <a:ext cx="71933" cy="-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093818" y="4505354"/>
            <a:ext cx="71933" cy="-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165750" y="4395345"/>
            <a:ext cx="71933" cy="-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237683" y="4270248"/>
            <a:ext cx="71933" cy="-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309616" y="4145151"/>
            <a:ext cx="71933" cy="-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81549" y="4035142"/>
            <a:ext cx="71933" cy="-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3482" y="3953491"/>
            <a:ext cx="71933" cy="-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25414" y="3910045"/>
            <a:ext cx="71933" cy="0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97347" y="3910045"/>
            <a:ext cx="71933" cy="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669280" y="3953491"/>
            <a:ext cx="71933" cy="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41213" y="4035142"/>
            <a:ext cx="71933" cy="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13146" y="4145151"/>
            <a:ext cx="71933" cy="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885078" y="4270248"/>
            <a:ext cx="71933" cy="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5957011" y="4395345"/>
            <a:ext cx="71933" cy="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028944" y="4505354"/>
            <a:ext cx="71933" cy="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100877" y="4587005"/>
            <a:ext cx="71933" cy="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172810" y="4630451"/>
            <a:ext cx="71933" cy="0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244742" y="4630451"/>
            <a:ext cx="71933" cy="-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316675" y="4587005"/>
            <a:ext cx="71933" cy="-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388608" y="4505354"/>
            <a:ext cx="71933" cy="-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460541" y="4395345"/>
            <a:ext cx="71933" cy="-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6532474" y="4270248"/>
            <a:ext cx="71933" cy="-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6604406" y="4145151"/>
            <a:ext cx="71933" cy="-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676339" y="4035142"/>
            <a:ext cx="71933" cy="-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748272" y="3953491"/>
            <a:ext cx="71933" cy="-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820205" y="3910045"/>
            <a:ext cx="71933" cy="0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892138" y="3910045"/>
            <a:ext cx="71933" cy="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964070" y="3953491"/>
            <a:ext cx="71933" cy="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036003" y="4035142"/>
            <a:ext cx="71933" cy="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7107936" y="4145151"/>
            <a:ext cx="71933" cy="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7179869" y="4270248"/>
            <a:ext cx="71933" cy="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7251802" y="4395345"/>
            <a:ext cx="71933" cy="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7323734" y="4505354"/>
            <a:ext cx="71933" cy="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395667" y="4587005"/>
            <a:ext cx="71933" cy="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467600" y="4630451"/>
            <a:ext cx="71933" cy="0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539533" y="4630451"/>
            <a:ext cx="71933" cy="-43446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7611466" y="4587005"/>
            <a:ext cx="71933" cy="-81651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7683398" y="4505354"/>
            <a:ext cx="71933" cy="-110009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7755331" y="4395345"/>
            <a:ext cx="71933" cy="-125097"/>
          </a:xfrm>
          <a:prstGeom prst="line">
            <a:avLst/>
          </a:prstGeom>
          <a:noFill/>
          <a:ln w="25400">
            <a:solidFill>
              <a:srgbClr val="2C7A7B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2359152" y="4910328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gleiche Skala → Wellenlänge/Frequenz vergleichen</a:t>
            </a:r>
            <a:endParaRPr lang="en-US" sz="1000" dirty="0"/>
          </a:p>
        </p:txBody>
      </p:sp>
      <p:sp>
        <p:nvSpPr>
          <p:cNvPr id="195" name="Shape 193"/>
          <p:cNvSpPr/>
          <p:nvPr/>
        </p:nvSpPr>
        <p:spPr>
          <a:xfrm>
            <a:off x="8412480" y="1572768"/>
            <a:ext cx="3108960" cy="2011680"/>
          </a:xfrm>
          <a:prstGeom prst="roundRect">
            <a:avLst>
              <a:gd name="adj" fmla="val 2727"/>
            </a:avLst>
          </a:prstGeom>
          <a:solidFill>
            <a:srgbClr val="EAF3FB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96" name="Shape 194"/>
          <p:cNvSpPr/>
          <p:nvPr/>
        </p:nvSpPr>
        <p:spPr>
          <a:xfrm>
            <a:off x="8412480" y="1572768"/>
            <a:ext cx="68580" cy="201168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8613648" y="169164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Auswerten</a:t>
            </a:r>
            <a:endParaRPr lang="en-US" sz="1450" dirty="0"/>
          </a:p>
        </p:txBody>
      </p:sp>
      <p:sp>
        <p:nvSpPr>
          <p:cNvPr id="198" name="Text 196"/>
          <p:cNvSpPr/>
          <p:nvPr/>
        </p:nvSpPr>
        <p:spPr>
          <a:xfrm>
            <a:off x="8613648" y="2066544"/>
            <a:ext cx="2743200" cy="1389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Kurve besitzt die kürzere Wellenlänge?</a:t>
            </a:r>
            <a:endParaRPr lang="en-US" sz="1320" dirty="0"/>
          </a:p>
          <a:p>
            <a:pPr marL="165100" indent="-1651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ändert sich λ bei gleicher Ausbreitungsgeschwindigkeit, wenn f verdoppelt wird?</a:t>
            </a:r>
            <a:endParaRPr lang="en-US" sz="1320" dirty="0"/>
          </a:p>
        </p:txBody>
      </p:sp>
      <p:sp>
        <p:nvSpPr>
          <p:cNvPr id="199" name="Shape 197"/>
          <p:cNvSpPr/>
          <p:nvPr/>
        </p:nvSpPr>
        <p:spPr>
          <a:xfrm>
            <a:off x="8412480" y="3794760"/>
            <a:ext cx="3108960" cy="2304288"/>
          </a:xfrm>
          <a:prstGeom prst="roundRect">
            <a:avLst>
              <a:gd name="adj" fmla="val 2381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200" name="Shape 198"/>
          <p:cNvSpPr/>
          <p:nvPr/>
        </p:nvSpPr>
        <p:spPr>
          <a:xfrm>
            <a:off x="8412480" y="3794760"/>
            <a:ext cx="68580" cy="230428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8613648" y="3913632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Darstellungssprache</a:t>
            </a:r>
            <a:endParaRPr lang="en-US" sz="1430" dirty="0"/>
          </a:p>
        </p:txBody>
      </p:sp>
      <p:sp>
        <p:nvSpPr>
          <p:cNvPr id="202" name="Text 200"/>
          <p:cNvSpPr/>
          <p:nvPr/>
        </p:nvSpPr>
        <p:spPr>
          <a:xfrm>
            <a:off x="8613648" y="4288536"/>
            <a:ext cx="2743200" cy="16824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Achsen + Einheiten prüfen</a:t>
            </a:r>
            <a:endParaRPr lang="en-US" sz="1260" dirty="0"/>
          </a:p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 beschreiben</a:t>
            </a:r>
            <a:endParaRPr lang="en-US" sz="1260" dirty="0"/>
          </a:p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 Fachbegriff/Formel begründen</a:t>
            </a:r>
            <a:endParaRPr lang="en-US" sz="12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SICHERUNG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Lösungen und Exit-Ticket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4475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Erst nach eigener Bearbeitung einblenden.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1810512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810512"/>
            <a:ext cx="68580" cy="1060704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92938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Warm-up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859536" y="2304288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Warm-up: größer; die Amplitude; Hertz (Hz); v=λ·f; bei v parallel/antiparallel zu B oder bei v=0.</a:t>
            </a:r>
            <a:endParaRPr lang="en-US" sz="1160" dirty="0"/>
          </a:p>
        </p:txBody>
      </p:sp>
      <p:sp>
        <p:nvSpPr>
          <p:cNvPr id="14" name="Shape 12"/>
          <p:cNvSpPr/>
          <p:nvPr/>
        </p:nvSpPr>
        <p:spPr>
          <a:xfrm>
            <a:off x="6181344" y="1810512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1810512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92938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1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6382512" y="2304288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1: 2,0 m.</a:t>
            </a:r>
            <a:endParaRPr lang="en-US" sz="1160" dirty="0"/>
          </a:p>
        </p:txBody>
      </p:sp>
      <p:sp>
        <p:nvSpPr>
          <p:cNvPr id="18" name="Shape 16"/>
          <p:cNvSpPr/>
          <p:nvPr/>
        </p:nvSpPr>
        <p:spPr>
          <a:xfrm>
            <a:off x="658368" y="3063240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063240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1821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2</a:t>
            </a:r>
            <a:endParaRPr lang="en-US" sz="1180" dirty="0"/>
          </a:p>
        </p:txBody>
      </p:sp>
      <p:sp>
        <p:nvSpPr>
          <p:cNvPr id="21" name="Text 19"/>
          <p:cNvSpPr/>
          <p:nvPr/>
        </p:nvSpPr>
        <p:spPr>
          <a:xfrm>
            <a:off x="859536" y="355701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2: 5 N/C.</a:t>
            </a:r>
            <a:endParaRPr lang="en-US" sz="1160" dirty="0"/>
          </a:p>
        </p:txBody>
      </p:sp>
      <p:sp>
        <p:nvSpPr>
          <p:cNvPr id="22" name="Shape 20"/>
          <p:cNvSpPr/>
          <p:nvPr/>
        </p:nvSpPr>
        <p:spPr>
          <a:xfrm>
            <a:off x="6181344" y="3063240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81344" y="3063240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31821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3</a:t>
            </a:r>
            <a:endParaRPr lang="en-US" sz="1180" dirty="0"/>
          </a:p>
        </p:txBody>
      </p:sp>
      <p:sp>
        <p:nvSpPr>
          <p:cNvPr id="25" name="Text 23"/>
          <p:cNvSpPr/>
          <p:nvPr/>
        </p:nvSpPr>
        <p:spPr>
          <a:xfrm>
            <a:off x="6382512" y="355701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3: 1,0·10⁻⁴ N.</a:t>
            </a:r>
            <a:endParaRPr lang="en-US" sz="1160" dirty="0"/>
          </a:p>
        </p:txBody>
      </p:sp>
      <p:sp>
        <p:nvSpPr>
          <p:cNvPr id="26" name="Shape 24"/>
          <p:cNvSpPr/>
          <p:nvPr/>
        </p:nvSpPr>
        <p:spPr>
          <a:xfrm>
            <a:off x="658368" y="4315968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4315968"/>
            <a:ext cx="68580" cy="1060704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" y="44348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Anwendung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859536" y="4809744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Anwendung: Für ideale Auslöschung sind die beiden Schallwellen am Ohr näherungsweise gegenphasig (Phasenverschiebung π bzw. 180°), sodass sich ihre Druckschwankungen überlagern und abschwächen.</a:t>
            </a:r>
            <a:endParaRPr lang="en-US" sz="1160" dirty="0"/>
          </a:p>
        </p:txBody>
      </p:sp>
      <p:sp>
        <p:nvSpPr>
          <p:cNvPr id="30" name="Shape 28"/>
          <p:cNvSpPr/>
          <p:nvPr/>
        </p:nvSpPr>
        <p:spPr>
          <a:xfrm>
            <a:off x="6181344" y="4315968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81344" y="4315968"/>
            <a:ext cx="68580" cy="1060704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44348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Konzeptfrage</a:t>
            </a:r>
            <a:endParaRPr lang="en-US" sz="1180" dirty="0"/>
          </a:p>
        </p:txBody>
      </p:sp>
      <p:sp>
        <p:nvSpPr>
          <p:cNvPr id="33" name="Text 31"/>
          <p:cNvSpPr/>
          <p:nvPr/>
        </p:nvSpPr>
        <p:spPr>
          <a:xfrm>
            <a:off x="6382512" y="4809744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Konzeptfrage: Die Lorentzkraft steht bei v ⟂ B stets senkrecht auf der momentanen Geschwindigkeit. Sie ändert daher die Richtung, nicht den Betrag von v, und wirkt als Zentripetalkraft.</a:t>
            </a:r>
            <a:endParaRPr lang="en-US" sz="1160" dirty="0"/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607040" cy="612648"/>
          </a:xfrm>
          <a:prstGeom prst="roundRect">
            <a:avLst>
              <a:gd name="adj" fmla="val 8955"/>
            </a:avLst>
          </a:prstGeom>
          <a:solidFill>
            <a:srgbClr val="FFF4DE"/>
          </a:solidFill>
          <a:ln w="15240">
            <a:solidFill>
              <a:srgbClr val="D78C2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2688" y="581558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78C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664208" y="5733288"/>
            <a:ext cx="9418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Nenne einen experimentellen Unterschied zwischen Beugung und Polarisation.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Klassische Wellen und geladene Teilchen in Feldern – Wiederholung</dc:title>
  <dc:subject>KLP-basierte Wiederholung: Klassische Wellen und geladene Teilchen in Feldern</dc:subject>
  <dc:creator>Jonathan Hardenacke</dc:creator>
  <cp:lastModifiedBy>Jonathan Hardenacke</cp:lastModifiedBy>
  <cp:revision>1</cp:revision>
  <dcterms:created xsi:type="dcterms:W3CDTF">2026-09-12T09:38:45Z</dcterms:created>
  <dcterms:modified xsi:type="dcterms:W3CDTF">2026-09-12T09:38:45Z</dcterms:modified>
</cp:coreProperties>
</file>