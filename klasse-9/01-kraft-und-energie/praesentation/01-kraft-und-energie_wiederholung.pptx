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143000"/>
            <a:ext cx="5303520" cy="5303520"/>
          </a:xfrm>
          <a:prstGeom prst="ellipse">
            <a:avLst/>
          </a:prstGeom>
          <a:solidFill>
            <a:srgbClr val="4C88C2">
              <a:alpha val="88000"/>
            </a:srgbClr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29800" y="4251960"/>
            <a:ext cx="2514600" cy="2514600"/>
          </a:xfrm>
          <a:prstGeom prst="ellipse">
            <a:avLst/>
          </a:prstGeom>
          <a:solidFill>
            <a:srgbClr val="2C7A7B">
              <a:alpha val="80000"/>
            </a:srgbClr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261872"/>
            <a:ext cx="1051560" cy="0"/>
          </a:xfrm>
          <a:prstGeom prst="line">
            <a:avLst/>
          </a:prstGeom>
          <a:noFill/>
          <a:ln w="50800">
            <a:solidFill>
              <a:srgbClr val="6DB2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583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8D4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8641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und Energie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49808" y="3246120"/>
            <a:ext cx="6309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F0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KLP-basierte Wiederholung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76472"/>
            <a:ext cx="71323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BED2E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Vom sicheren Abruf über einfache Anwendungen bis zum Transfer.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49808" y="4892040"/>
            <a:ext cx="4617720" cy="658368"/>
          </a:xfrm>
          <a:prstGeom prst="roundRect">
            <a:avLst>
              <a:gd name="adj" fmla="val 8333"/>
            </a:avLst>
          </a:prstGeom>
          <a:solidFill>
            <a:srgbClr val="1E425F"/>
          </a:solidFill>
          <a:ln w="12700">
            <a:solidFill>
              <a:srgbClr val="315B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5074920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E2EE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Abrufen    2  Verstehen    3  Rechnen    4  Transfer</a:t>
            </a:r>
            <a:endParaRPr lang="en-US" sz="1170" dirty="0"/>
          </a:p>
        </p:txBody>
      </p:sp>
      <p:sp>
        <p:nvSpPr>
          <p:cNvPr id="11" name="Text 9"/>
          <p:cNvSpPr/>
          <p:nvPr/>
        </p:nvSpPr>
        <p:spPr>
          <a:xfrm>
            <a:off x="749808" y="62179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A9C2D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KLP-Recherche: 2026-09-12</a:t>
            </a:r>
            <a:endParaRPr lang="en-US" sz="97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KLP-KOMPASS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Inhaltsfeld 7: Bewegung, Kraft und Energie – Schwerpunkt Kraft/Energie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492240" cy="4297680"/>
          </a:xfrm>
          <a:prstGeom prst="roundRect">
            <a:avLst>
              <a:gd name="adj" fmla="val 1277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4297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6144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Verbindliche fachliche Schwerpunkte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6126480" cy="3675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Kraft: Bewegungsänderung, Verformung, Wechselwirkungsprinzip, Gewichtskraft/Masse, Kräfteaddition, Reibung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Goldene Regel der Mechanik: einfache Maschinen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Energieformen: Lage-, Bewegungs-, Spannenergie</a:t>
            </a:r>
            <a:endParaRPr lang="en-US" sz="1500" dirty="0"/>
          </a:p>
          <a:p>
            <a:pPr marL="165100" indent="-165100">
              <a:buSzPct val="100000"/>
              <a:buChar char="•"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Energieumwandlung: Energieerhaltung und Leistung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60920" y="1600200"/>
            <a:ext cx="4160520" cy="2029968"/>
          </a:xfrm>
          <a:prstGeom prst="roundRect">
            <a:avLst>
              <a:gd name="adj" fmla="val 2703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60920" y="1600200"/>
            <a:ext cx="68580" cy="202996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62088" y="171907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du am Ende können sollst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7562088" y="2093976"/>
            <a:ext cx="3794760" cy="1408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Kräfte als Wechselwirkungen und Vektoren beschreiben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und Gegenkraft sowie Kräftegleichgewicht unterscheiden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Gewichtskraft und Reibung analysieren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Energieformen und Energieumwandlungen bilanzieren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360920" y="3840480"/>
            <a:ext cx="4160520" cy="2057400"/>
          </a:xfrm>
          <a:prstGeom prst="roundRect">
            <a:avLst>
              <a:gd name="adj" fmla="val 2667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3840480"/>
            <a:ext cx="68580" cy="2057400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62088" y="395935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Lernweg dieser Präsentation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562088" y="4334256"/>
            <a:ext cx="3794760" cy="1435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sehr leichte Abruffragen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Begriffe und Formeln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</a:t>
            </a:r>
            <a:endParaRPr lang="en-US" sz="1250" dirty="0"/>
          </a:p>
          <a:p>
            <a:pPr marL="165100" indent="-165100">
              <a:buSzPct val="100000"/>
              <a:buChar char="•"/>
            </a:pPr>
            <a:r>
              <a:rPr lang="en-US" sz="125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und Grafik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713232" y="606247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KLP Physik NRW 2019 · S. 36–37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1 · ABRUFEN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Leichter Einstieg → sicherer Abruf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72184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Fragen 1–2 sind bewusst sehr leicht. Danach wird der Abruf schrittweise fachlicher.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56232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23544" y="1938528"/>
            <a:ext cx="493776" cy="493776"/>
          </a:xfrm>
          <a:prstGeom prst="ellipse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1947672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9344" y="1947672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Buch liegt ruhig auf dem Tisch. Wirken trotzdem Kräfte auf das Buch?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49808" y="2670048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3544" y="2752344"/>
            <a:ext cx="493776" cy="493776"/>
          </a:xfrm>
          <a:prstGeom prst="ellipse">
            <a:avLst/>
          </a:prstGeom>
          <a:solidFill>
            <a:srgbClr val="4C88C2"/>
          </a:solidFill>
          <a:ln w="12700">
            <a:solidFill>
              <a:srgbClr val="4C88C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3544" y="2761488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9344" y="2761488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welcher Einheit wird eine Kraft gemessen?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9808" y="3483864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" y="3566160"/>
            <a:ext cx="493776" cy="493776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3544" y="3575304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9344" y="3575304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ist der Unterschied zwischen Masse und Gewichtskraft?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49808" y="4297680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3544" y="4379976"/>
            <a:ext cx="493776" cy="493776"/>
          </a:xfrm>
          <a:prstGeom prst="ellipse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3544" y="4389120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609344" y="4389120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bedeutet Kräftegleichgewicht?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49808" y="5111496"/>
            <a:ext cx="1060704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23544" y="5193792"/>
            <a:ext cx="493776" cy="493776"/>
          </a:xfrm>
          <a:prstGeom prst="ellipse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3544" y="5202936"/>
            <a:ext cx="493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609344" y="5202936"/>
            <a:ext cx="9573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Warum spart eine ideale Rampe Kraft, aber keine Arbeit?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2 · VERSTEHEN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Fachbegriffe und Formeln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" y="1600200"/>
            <a:ext cx="68580" cy="1938528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Kraft F</a:t>
            </a:r>
            <a:endParaRPr lang="en-US" sz="1530" dirty="0"/>
          </a:p>
        </p:txBody>
      </p:sp>
      <p:sp>
        <p:nvSpPr>
          <p:cNvPr id="12" name="Text 10"/>
          <p:cNvSpPr/>
          <p:nvPr/>
        </p:nvSpPr>
        <p:spPr>
          <a:xfrm>
            <a:off x="859536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Wechselwirkung, die Bewegungszustand oder Form ändern kann.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N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F_G = m · 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1600200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81344" y="1600200"/>
            <a:ext cx="68580" cy="193852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82512" y="171907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Gewichtskraft F_G</a:t>
            </a:r>
            <a:endParaRPr lang="en-US" sz="1530" dirty="0"/>
          </a:p>
        </p:txBody>
      </p:sp>
      <p:sp>
        <p:nvSpPr>
          <p:cNvPr id="16" name="Text 14"/>
          <p:cNvSpPr/>
          <p:nvPr/>
        </p:nvSpPr>
        <p:spPr>
          <a:xfrm>
            <a:off x="6382512" y="2093976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Gravitationskraft auf einen Körper nahe der Erdoberfläche.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N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F_G = m · 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0F4F7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" y="3822192"/>
            <a:ext cx="68580" cy="1938528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 E</a:t>
            </a:r>
            <a:endParaRPr lang="en-US" sz="1530" dirty="0"/>
          </a:p>
        </p:txBody>
      </p:sp>
      <p:sp>
        <p:nvSpPr>
          <p:cNvPr id="20" name="Text 18"/>
          <p:cNvSpPr/>
          <p:nvPr/>
        </p:nvSpPr>
        <p:spPr>
          <a:xfrm>
            <a:off x="859536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Erhaltungsgröße; Fähigkeit eines Systems, Wirkungen hervorzurufen.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J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E_pot = m · g · 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181344" y="3822192"/>
            <a:ext cx="5340096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81344" y="3822192"/>
            <a:ext cx="68580" cy="1938528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394106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Leistung P</a:t>
            </a:r>
            <a:endParaRPr lang="en-US" sz="1530" dirty="0"/>
          </a:p>
        </p:txBody>
      </p:sp>
      <p:sp>
        <p:nvSpPr>
          <p:cNvPr id="24" name="Text 22"/>
          <p:cNvSpPr/>
          <p:nvPr/>
        </p:nvSpPr>
        <p:spPr>
          <a:xfrm>
            <a:off x="6382512" y="4315968"/>
            <a:ext cx="4974336" cy="1316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Umgesetzte Energie bzw. verrichtete Arbeit pro Zeit.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Einheit: W</a:t>
            </a:r>
            <a:endParaRPr lang="en-US" sz="1300" dirty="0"/>
          </a:p>
          <a:p>
            <a:pPr marL="165100" indent="-165100">
              <a:buSzPct val="100000"/>
              <a:buChar char="•"/>
            </a:pPr>
            <a:r>
              <a:rPr lang="en-US" sz="13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Beziehung: P = W / Δt bzw. P = ΔE / Δt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3 · ANWENDEN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Einfache Aufgaben und Rechenbeispiele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Rechne zunächst mit bewusst einfachen Zahlen und klaren Einzelschritten.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865376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865376"/>
            <a:ext cx="68580" cy="1124712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1984248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35915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Körper hat m = 2 kg. Berechne seine Gewichtskraft mit g ≈ 10 N/kg.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950976" y="2560320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F6FAD">
                <a:alpha val="2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60704" y="2596896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F_G = m·g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749808" y="3227832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49808" y="3227832"/>
            <a:ext cx="68580" cy="112471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0976" y="3346704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50976" y="37216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5-kg-Kiste wird 2 m angehoben. Berechne die Zunahme der Lageenergie.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50976" y="3922776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2C7A7B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60704" y="3959352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E_pot = m·g·h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749808" y="4590288"/>
            <a:ext cx="10607040" cy="1124712"/>
          </a:xfrm>
          <a:prstGeom prst="roundRect">
            <a:avLst>
              <a:gd name="adj" fmla="val 4878"/>
            </a:avLst>
          </a:prstGeom>
          <a:solidFill>
            <a:srgbClr val="FFF4DE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" y="4590288"/>
            <a:ext cx="68580" cy="1124712"/>
          </a:xfrm>
          <a:prstGeom prst="rect">
            <a:avLst/>
          </a:prstGeom>
          <a:solidFill>
            <a:srgbClr val="D78C24"/>
          </a:solidFill>
          <a:ln w="12700">
            <a:solidFill>
              <a:srgbClr val="D78C2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0976" y="470916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Aufgabe 3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50976" y="50840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Maschine setzt in 3 s 600 J Energie um. Berechne die Leistung.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50976" y="5285232"/>
            <a:ext cx="3566160" cy="246888"/>
          </a:xfrm>
          <a:prstGeom prst="roundRect">
            <a:avLst>
              <a:gd name="adj" fmla="val 14815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78C24">
                <a:alpha val="2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60704" y="5321808"/>
            <a:ext cx="3337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Tipp: P = E/t</a:t>
            </a:r>
            <a:endParaRPr lang="en-US" sz="10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4 · TRANSFER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verknüpfen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63040"/>
            <a:ext cx="10698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musst du mehr als einen Gedanken verbinden oder das Modell begründet anwenden.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1938528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F2EEF8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1938528"/>
            <a:ext cx="68580" cy="1600200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57400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 / Transfer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50976" y="2432304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Eine ideale Rampe ist viermal so lang wie die direkte Hubhöhe. Wie verändert sich die nötige Kraft gegenüber direktem Heben? Begründe mit der Goldenen Regel.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49808" y="3840480"/>
            <a:ext cx="10607040" cy="1600200"/>
          </a:xfrm>
          <a:prstGeom prst="roundRect">
            <a:avLst>
              <a:gd name="adj" fmla="val 3429"/>
            </a:avLst>
          </a:prstGeom>
          <a:solidFill>
            <a:srgbClr val="EDF5EF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3840480"/>
            <a:ext cx="68580" cy="1600200"/>
          </a:xfrm>
          <a:prstGeom prst="rect">
            <a:avLst/>
          </a:prstGeom>
          <a:solidFill>
            <a:srgbClr val="4E7A5A"/>
          </a:solidFill>
          <a:ln w="12700">
            <a:solidFill>
              <a:srgbClr val="4E7A5A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959352"/>
            <a:ext cx="102595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 · Warum?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50976" y="4334256"/>
            <a:ext cx="10241280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Wagen rollt einen Hügel hinab. Beschreibe die Energieumwandlung und erkläre, warum reale Wagen nicht wieder exakt dieselbe Höhe erreichen.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2926080" y="5833872"/>
            <a:ext cx="6336792" cy="402336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90672" y="5925312"/>
            <a:ext cx="5989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9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Strategie: Gegeben → Gesucht → Modell/Formel → Ergebnis → Plausibilität</a:t>
            </a:r>
            <a:endParaRPr lang="en-US" sz="109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STUFE 5 · DARSTELLEN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Energieumwandlung bei einer Abfahrt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58368" y="1572768"/>
            <a:ext cx="7543800" cy="4526280"/>
          </a:xfrm>
          <a:prstGeom prst="roundRect">
            <a:avLst>
              <a:gd name="adj" fmla="val 1010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53312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oben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1353312" y="2564892"/>
            <a:ext cx="283464" cy="1933956"/>
          </a:xfrm>
          <a:prstGeom prst="rect">
            <a:avLst/>
          </a:prstGeom>
          <a:solidFill>
            <a:srgbClr val="2F6FAD"/>
          </a:solidFill>
          <a:ln w="6350">
            <a:solidFill>
              <a:srgbClr val="2F6FA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37360" y="4283964"/>
            <a:ext cx="283464" cy="214884"/>
          </a:xfrm>
          <a:prstGeom prst="rect">
            <a:avLst/>
          </a:prstGeom>
          <a:solidFill>
            <a:srgbClr val="2C7A7B"/>
          </a:solidFill>
          <a:ln w="6350">
            <a:solidFill>
              <a:srgbClr val="2C7A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21408" y="4498848"/>
            <a:ext cx="283464" cy="0"/>
          </a:xfrm>
          <a:prstGeom prst="rect">
            <a:avLst/>
          </a:prstGeom>
          <a:solidFill>
            <a:srgbClr val="D78C24"/>
          </a:solidFill>
          <a:ln w="6350">
            <a:solidFill>
              <a:srgbClr val="D78C2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07592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E_lage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691640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E_kin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075688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E_th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64992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Mitte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64992" y="3467405"/>
            <a:ext cx="283464" cy="1031443"/>
          </a:xfrm>
          <a:prstGeom prst="rect">
            <a:avLst/>
          </a:prstGeom>
          <a:solidFill>
            <a:srgbClr val="2F6FAD"/>
          </a:solidFill>
          <a:ln w="6350">
            <a:solidFill>
              <a:srgbClr val="2F6FA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49040" y="3596335"/>
            <a:ext cx="283464" cy="902513"/>
          </a:xfrm>
          <a:prstGeom prst="rect">
            <a:avLst/>
          </a:prstGeom>
          <a:solidFill>
            <a:srgbClr val="2C7A7B"/>
          </a:solidFill>
          <a:ln w="6350">
            <a:solidFill>
              <a:srgbClr val="2C7A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33088" y="4283964"/>
            <a:ext cx="283464" cy="214884"/>
          </a:xfrm>
          <a:prstGeom prst="rect">
            <a:avLst/>
          </a:prstGeom>
          <a:solidFill>
            <a:srgbClr val="D78C24"/>
          </a:solidFill>
          <a:ln w="6350">
            <a:solidFill>
              <a:srgbClr val="D78C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9272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E_lage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703320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E_kin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87368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E_th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76672" y="1984248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unten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376672" y="4283964"/>
            <a:ext cx="283464" cy="214884"/>
          </a:xfrm>
          <a:prstGeom prst="rect">
            <a:avLst/>
          </a:prstGeom>
          <a:solidFill>
            <a:srgbClr val="2F6FAD"/>
          </a:solidFill>
          <a:ln w="6350">
            <a:solidFill>
              <a:srgbClr val="2F6F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760720" y="2951683"/>
            <a:ext cx="283464" cy="1547165"/>
          </a:xfrm>
          <a:prstGeom prst="rect">
            <a:avLst/>
          </a:prstGeom>
          <a:solidFill>
            <a:srgbClr val="2C7A7B"/>
          </a:solidFill>
          <a:ln w="6350">
            <a:solidFill>
              <a:srgbClr val="2C7A7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44768" y="4112057"/>
            <a:ext cx="283464" cy="386791"/>
          </a:xfrm>
          <a:prstGeom prst="rect">
            <a:avLst/>
          </a:prstGeom>
          <a:solidFill>
            <a:srgbClr val="D78C24"/>
          </a:solidFill>
          <a:ln w="6350">
            <a:solidFill>
              <a:srgbClr val="D78C2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330952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E_lage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5715000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2C7A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E_kin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099048" y="4590288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E_th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2084832" y="5001768"/>
            <a:ext cx="46908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Balkenhöhe = Energieanteil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412480" y="1572768"/>
            <a:ext cx="3108960" cy="2011680"/>
          </a:xfrm>
          <a:prstGeom prst="roundRect">
            <a:avLst>
              <a:gd name="adj" fmla="val 2727"/>
            </a:avLst>
          </a:prstGeom>
          <a:solidFill>
            <a:srgbClr val="EAF3FB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412480" y="1572768"/>
            <a:ext cx="68580" cy="201168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613648" y="1691640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Auswerten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8613648" y="2066544"/>
            <a:ext cx="2743200" cy="1389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Welche Energieform nimmt beim Abwärtsfahren ab?</a:t>
            </a:r>
            <a:endParaRPr lang="en-US" sz="1320" dirty="0"/>
          </a:p>
          <a:p>
            <a:pPr marL="165100" indent="-165100">
              <a:buSzPct val="100000"/>
              <a:buChar char="•"/>
            </a:pPr>
            <a:r>
              <a:rPr lang="en-US" sz="132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 taucht bei realer Reibung ein Teil der mechanischen Energie auf?</a:t>
            </a:r>
            <a:endParaRPr lang="en-US" sz="1320" dirty="0"/>
          </a:p>
        </p:txBody>
      </p:sp>
      <p:sp>
        <p:nvSpPr>
          <p:cNvPr id="36" name="Shape 34"/>
          <p:cNvSpPr/>
          <p:nvPr/>
        </p:nvSpPr>
        <p:spPr>
          <a:xfrm>
            <a:off x="8412480" y="3794760"/>
            <a:ext cx="3108960" cy="2304288"/>
          </a:xfrm>
          <a:prstGeom prst="roundRect">
            <a:avLst>
              <a:gd name="adj" fmla="val 2381"/>
            </a:avLst>
          </a:prstGeom>
          <a:solidFill>
            <a:srgbClr val="E8F4F2"/>
          </a:solidFill>
          <a:ln w="12700">
            <a:solidFill>
              <a:srgbClr val="CDD8E2"/>
            </a:solidFill>
            <a:prstDash val="solid"/>
          </a:ln>
          <a:effectLst>
            <a:outerShdw sx="100000" sy="100000" kx="0" ky="0" algn="bl" rotWithShape="0" blurRad="12700" dist="50800" dir="2700000">
              <a:srgbClr val="A8B8C7">
                <a:alpha val="11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412480" y="3794760"/>
            <a:ext cx="68580" cy="230428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613648" y="3913632"/>
            <a:ext cx="2761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3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Darstellungssprache</a:t>
            </a:r>
            <a:endParaRPr lang="en-US" sz="1430" dirty="0"/>
          </a:p>
        </p:txBody>
      </p:sp>
      <p:sp>
        <p:nvSpPr>
          <p:cNvPr id="39" name="Text 37"/>
          <p:cNvSpPr/>
          <p:nvPr/>
        </p:nvSpPr>
        <p:spPr>
          <a:xfrm>
            <a:off x="8613648" y="4288536"/>
            <a:ext cx="2743200" cy="16824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Achsen + Einheiten prüfen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Trend beschreiben</a:t>
            </a:r>
            <a:endParaRPr lang="en-US" sz="1260" dirty="0"/>
          </a:p>
          <a:p>
            <a:pPr marL="165100" indent="-165100">
              <a:buSzPct val="100000"/>
              <a:buChar char="•"/>
            </a:pPr>
            <a:r>
              <a:rPr lang="en-US" sz="12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 Fachbegriff/Formel begründen</a:t>
            </a:r>
            <a:endParaRPr lang="en-US" sz="126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0175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20" kern="0" dirty="0">
                <a:solidFill>
                  <a:srgbClr val="2F6FA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SICHERUNG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Lösungen und Exit-Ticket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9509760" y="310896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20" b="1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Klasse 9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66928" y="1280160"/>
            <a:ext cx="11045952" cy="0"/>
          </a:xfrm>
          <a:prstGeom prst="line">
            <a:avLst/>
          </a:prstGeom>
          <a:noFill/>
          <a:ln w="12700">
            <a:solidFill>
              <a:srgbClr val="CDD8E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" y="6519672"/>
            <a:ext cx="5212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Fortlaufende Wiederholung · Physik NRW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37392" y="651967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0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58368" y="144475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607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Erst nach eigener Bearbeitung einblenden.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58368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1810512"/>
            <a:ext cx="68580" cy="1060704"/>
          </a:xfrm>
          <a:prstGeom prst="rect">
            <a:avLst/>
          </a:prstGeom>
          <a:solidFill>
            <a:srgbClr val="2F6FAD"/>
          </a:solidFill>
          <a:ln w="12700">
            <a:solidFill>
              <a:srgbClr val="2F6FAD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</a:t>
            </a:r>
            <a:endParaRPr lang="en-US" sz="1180" dirty="0"/>
          </a:p>
        </p:txBody>
      </p:sp>
      <p:sp>
        <p:nvSpPr>
          <p:cNvPr id="13" name="Text 11"/>
          <p:cNvSpPr/>
          <p:nvPr/>
        </p:nvSpPr>
        <p:spPr>
          <a:xfrm>
            <a:off x="859536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Warm-up: ja, Gewichtskraft und Stützkraft wirken; Newton (N); Masse in kg ist ortsunabhängig, Gewichtskraft ist eine Kraft in N; bei Kräftegleichgewicht ist die resultierende Kraft 0; kleinere Kraft wird durch einen längeren Weg ausgeglichen.</a:t>
            </a:r>
            <a:endParaRPr lang="en-US" sz="1160" dirty="0"/>
          </a:p>
        </p:txBody>
      </p:sp>
      <p:sp>
        <p:nvSpPr>
          <p:cNvPr id="14" name="Shape 12"/>
          <p:cNvSpPr/>
          <p:nvPr/>
        </p:nvSpPr>
        <p:spPr>
          <a:xfrm>
            <a:off x="6181344" y="1810512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81344" y="1810512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82512" y="1929384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6382512" y="2304288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1: 20 N.</a:t>
            </a:r>
            <a:endParaRPr lang="en-US" sz="1160" dirty="0"/>
          </a:p>
        </p:txBody>
      </p:sp>
      <p:sp>
        <p:nvSpPr>
          <p:cNvPr id="18" name="Shape 16"/>
          <p:cNvSpPr/>
          <p:nvPr/>
        </p:nvSpPr>
        <p:spPr>
          <a:xfrm>
            <a:off x="658368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</a:t>
            </a:r>
            <a:endParaRPr lang="en-US" sz="1180" dirty="0"/>
          </a:p>
        </p:txBody>
      </p:sp>
      <p:sp>
        <p:nvSpPr>
          <p:cNvPr id="21" name="Text 19"/>
          <p:cNvSpPr/>
          <p:nvPr/>
        </p:nvSpPr>
        <p:spPr>
          <a:xfrm>
            <a:off x="859536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2: 100 J.</a:t>
            </a:r>
            <a:endParaRPr lang="en-US" sz="1160" dirty="0"/>
          </a:p>
        </p:txBody>
      </p:sp>
      <p:sp>
        <p:nvSpPr>
          <p:cNvPr id="22" name="Shape 20"/>
          <p:cNvSpPr/>
          <p:nvPr/>
        </p:nvSpPr>
        <p:spPr>
          <a:xfrm>
            <a:off x="6181344" y="3063240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81344" y="3063240"/>
            <a:ext cx="68580" cy="1060704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3182112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</a:t>
            </a:r>
            <a:endParaRPr lang="en-US" sz="1180" dirty="0"/>
          </a:p>
        </p:txBody>
      </p:sp>
      <p:sp>
        <p:nvSpPr>
          <p:cNvPr id="25" name="Text 23"/>
          <p:cNvSpPr/>
          <p:nvPr/>
        </p:nvSpPr>
        <p:spPr>
          <a:xfrm>
            <a:off x="6382512" y="3557016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 3: 200 W.</a:t>
            </a:r>
            <a:endParaRPr lang="en-US" sz="1160" dirty="0"/>
          </a:p>
        </p:txBody>
      </p:sp>
      <p:sp>
        <p:nvSpPr>
          <p:cNvPr id="26" name="Shape 24"/>
          <p:cNvSpPr/>
          <p:nvPr/>
        </p:nvSpPr>
        <p:spPr>
          <a:xfrm>
            <a:off x="658368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8368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9536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Anwendung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859536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1: ideal nur ein Viertel der Kraft, dafür vierfacher Weg.</a:t>
            </a:r>
            <a:endParaRPr lang="en-US" sz="1160" dirty="0"/>
          </a:p>
        </p:txBody>
      </p:sp>
      <p:sp>
        <p:nvSpPr>
          <p:cNvPr id="30" name="Shape 28"/>
          <p:cNvSpPr/>
          <p:nvPr/>
        </p:nvSpPr>
        <p:spPr>
          <a:xfrm>
            <a:off x="6181344" y="4315968"/>
            <a:ext cx="5340096" cy="1060704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CDD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81344" y="4315968"/>
            <a:ext cx="68580" cy="1060704"/>
          </a:xfrm>
          <a:prstGeom prst="rect">
            <a:avLst/>
          </a:prstGeom>
          <a:solidFill>
            <a:srgbClr val="735D9B"/>
          </a:solidFill>
          <a:ln w="12700">
            <a:solidFill>
              <a:srgbClr val="735D9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82512" y="4434840"/>
            <a:ext cx="49926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Konzeptfrage</a:t>
            </a:r>
            <a:endParaRPr lang="en-US" sz="1180" dirty="0"/>
          </a:p>
        </p:txBody>
      </p:sp>
      <p:sp>
        <p:nvSpPr>
          <p:cNvPr id="33" name="Text 31"/>
          <p:cNvSpPr/>
          <p:nvPr/>
        </p:nvSpPr>
        <p:spPr>
          <a:xfrm>
            <a:off x="6382512" y="4809744"/>
            <a:ext cx="49743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60" dirty="0">
                <a:solidFill>
                  <a:srgbClr val="2030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Transfer 2: Lage → Bewegung; durch Reibung wird mechanische Energie u. a. in thermische Energie umgewandelt.</a:t>
            </a:r>
            <a:endParaRPr lang="en-US" sz="1160" dirty="0"/>
          </a:p>
        </p:txBody>
      </p:sp>
      <p:sp>
        <p:nvSpPr>
          <p:cNvPr id="34" name="Shape 32"/>
          <p:cNvSpPr/>
          <p:nvPr/>
        </p:nvSpPr>
        <p:spPr>
          <a:xfrm>
            <a:off x="749808" y="5650992"/>
            <a:ext cx="10607040" cy="612648"/>
          </a:xfrm>
          <a:prstGeom prst="roundRect">
            <a:avLst>
              <a:gd name="adj" fmla="val 8955"/>
            </a:avLst>
          </a:prstGeom>
          <a:solidFill>
            <a:srgbClr val="FFF4DE"/>
          </a:solidFill>
          <a:ln w="15240">
            <a:solidFill>
              <a:srgbClr val="D78C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32688" y="5815584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78C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664208" y="5733288"/>
            <a:ext cx="9418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Erkläre, warum Energie „erhalten“ bleibt, aber dennoch „entwertet“ werden kann.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Rivius Gymnasium Attendorn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Kraft und Energie – Wiederholung</dc:title>
  <dc:subject>KLP-basierte Wiederholung: Kraft und Energie</dc:subject>
  <dc:creator>Jonathan Hardenacke</dc:creator>
  <cp:lastModifiedBy>Jonathan Hardenacke</cp:lastModifiedBy>
  <cp:revision>1</cp:revision>
  <dcterms:created xsi:type="dcterms:W3CDTF">2026-09-12T09:38:45Z</dcterms:created>
  <dcterms:modified xsi:type="dcterms:W3CDTF">2026-09-12T09:38:45Z</dcterms:modified>
</cp:coreProperties>
</file>