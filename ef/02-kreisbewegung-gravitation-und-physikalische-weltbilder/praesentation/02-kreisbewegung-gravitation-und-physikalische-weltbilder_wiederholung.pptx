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143000"/>
            <a:ext cx="5303520" cy="5303520"/>
          </a:xfrm>
          <a:prstGeom prst="ellipse">
            <a:avLst/>
          </a:prstGeom>
          <a:solidFill>
            <a:srgbClr val="4C88C2">
              <a:alpha val="88000"/>
            </a:srgbClr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251960"/>
            <a:ext cx="2514600" cy="2514600"/>
          </a:xfrm>
          <a:prstGeom prst="ellipse">
            <a:avLst/>
          </a:prstGeom>
          <a:solidFill>
            <a:srgbClr val="2C7A7B">
              <a:alpha val="80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61872"/>
            <a:ext cx="1051560" cy="0"/>
          </a:xfrm>
          <a:prstGeom prst="line">
            <a:avLst/>
          </a:prstGeom>
          <a:noFill/>
          <a:ln w="50800">
            <a:solidFill>
              <a:srgbClr val="6DB2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58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8D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8641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Kreisbewegung, Gravitation und physikalische Weltbilder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49808" y="3246120"/>
            <a:ext cx="6309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E5F0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KLP-basierte Wiederholung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3776472"/>
            <a:ext cx="7132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ED2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Vom sicheren Abruf über einfache Anwendungen bis zum Transfer.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49808" y="4892040"/>
            <a:ext cx="4617720" cy="658368"/>
          </a:xfrm>
          <a:prstGeom prst="roundRect">
            <a:avLst>
              <a:gd name="adj" fmla="val 8333"/>
            </a:avLst>
          </a:prstGeom>
          <a:solidFill>
            <a:srgbClr val="1E425F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50749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E2EE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Abrufen    2  Verstehen    3  Rechnen    4  Transfer</a:t>
            </a:r>
            <a:endParaRPr lang="en-US" sz="1170" dirty="0"/>
          </a:p>
        </p:txBody>
      </p:sp>
      <p:sp>
        <p:nvSpPr>
          <p:cNvPr id="11" name="Text 9"/>
          <p:cNvSpPr/>
          <p:nvPr/>
        </p:nvSpPr>
        <p:spPr>
          <a:xfrm>
            <a:off x="749808" y="62179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A9C2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KLP-Recherche: 2026-09-12</a:t>
            </a:r>
            <a:endParaRPr lang="en-US" sz="9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KLP-KOMPASS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Inhaltsfeld Kreisbewegung, Gravitation und physikalische Weltbilder (EF)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649224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4297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Verbindliche fachliche Schwerpunkte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6126480" cy="3675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Kreisbewegung: gleichförmige Kreisbewegung, Zentripetalkraft</a:t>
            </a:r>
            <a:endParaRPr lang="en-US" sz="1500" dirty="0"/>
          </a:p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Gravitation: Schwerkraft, Newtonsches Gravitationsgesetz, Keplersche Gesetze, Gravitationsfeld</a:t>
            </a:r>
            <a:endParaRPr lang="en-US" sz="1500" dirty="0"/>
          </a:p>
          <a:p>
            <a:pPr marL="165100" indent="-165100">
              <a:buSzPct val="100000"/>
              <a:buChar char="•"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Wandel physikalischer Weltbilder: geo-/heliozentrisch; Grundprinzipien SRT; Zeitdilatation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60920" y="1600200"/>
            <a:ext cx="4160520" cy="2029968"/>
          </a:xfrm>
          <a:prstGeom prst="roundRect">
            <a:avLst>
              <a:gd name="adj" fmla="val 2703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60920" y="1600200"/>
            <a:ext cx="68580" cy="202996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62088" y="171907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du am Ende können sollst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62088" y="2093976"/>
            <a:ext cx="3794760" cy="1408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Gleichförmige Kreisbewegungen mit Periodendauer, Frequenz und Winkelgeschwindigkeit beschreiben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Zentripetalbeschleunigung und Zentripetalkraft herleiten und anwenden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Gravitation auf Himmelskörper übertragen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Keplersche Gesetzmäßigkeiten zur Beschreibung von Bahnen nutzen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60920" y="3840480"/>
            <a:ext cx="4160520" cy="2057400"/>
          </a:xfrm>
          <a:prstGeom prst="roundRect">
            <a:avLst>
              <a:gd name="adj" fmla="val 2667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60920" y="3840480"/>
            <a:ext cx="68580" cy="2057400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62088" y="3959352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Lernweg dieser Präsentation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62088" y="4334256"/>
            <a:ext cx="3794760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sehr leichte Abruffragen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Formeln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und Grafik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606247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KLP Physik NRW 2022 · S. 28–30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1 · ABRUFEN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Leichter Einstieg → sicherer Abruf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7218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Fragen 1–2 sind bewusst sehr leicht. Danach wird der Abruf schrittweise fachlicher.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56232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1938528"/>
            <a:ext cx="493776" cy="493776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194767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9344" y="1947672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Beim Karussell: Zeigt die momentane Geschwindigkeit zum Mittelpunkt oder entlang der Kreisbahn?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9808" y="2670048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3544" y="2752344"/>
            <a:ext cx="493776" cy="493776"/>
          </a:xfrm>
          <a:prstGeom prst="ellipse">
            <a:avLst/>
          </a:prstGeom>
          <a:solidFill>
            <a:srgbClr val="4C88C2"/>
          </a:solidFill>
          <a:ln w="12700">
            <a:solidFill>
              <a:srgbClr val="4C88C2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2761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09344" y="2761488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Bleibt bei gleichförmiger Kreisbewegung die Richtung der Geschwindigkeit gleich?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49808" y="3483864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" y="3566160"/>
            <a:ext cx="493776" cy="493776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" y="35753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9344" y="3575304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Größe gibt die Zeit für eine vollständige Runde an?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9808" y="4297680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3544" y="4379976"/>
            <a:ext cx="493776" cy="493776"/>
          </a:xfrm>
          <a:prstGeom prst="ellipse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" y="4389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9344" y="4389120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hängen Frequenz f und Umlaufdauer T zusammen?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49808" y="5111496"/>
            <a:ext cx="10607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3544" y="5193792"/>
            <a:ext cx="493776" cy="493776"/>
          </a:xfrm>
          <a:prstGeom prst="ellipse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" y="520293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09344" y="5202936"/>
            <a:ext cx="9573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gibt es trotz konstantem Tempo eine Beschleunigung?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2 · VERSTEHEN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Fachbegriffe und Formeln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00200"/>
            <a:ext cx="68580" cy="1938528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Periodendauer T</a:t>
            </a:r>
            <a:endParaRPr lang="en-US" sz="1530" dirty="0"/>
          </a:p>
        </p:txBody>
      </p:sp>
      <p:sp>
        <p:nvSpPr>
          <p:cNvPr id="12" name="Text 10"/>
          <p:cNvSpPr/>
          <p:nvPr/>
        </p:nvSpPr>
        <p:spPr>
          <a:xfrm>
            <a:off x="859536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Zeit für einen vollständigen Umlauf.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1600200"/>
            <a:ext cx="68580" cy="193852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71907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Winkelgeschwindigkeit ω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6382512" y="2093976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Drehwinkel pro Zeit.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rad/s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ω = 2π/T = 2πf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0F4F7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822192"/>
            <a:ext cx="68580" cy="1938528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Zentripetalbeschleunigung a_z</a:t>
            </a:r>
            <a:endParaRPr lang="en-US" sz="1530" dirty="0"/>
          </a:p>
        </p:txBody>
      </p:sp>
      <p:sp>
        <p:nvSpPr>
          <p:cNvPr id="20" name="Text 18"/>
          <p:cNvSpPr/>
          <p:nvPr/>
        </p:nvSpPr>
        <p:spPr>
          <a:xfrm>
            <a:off x="859536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Zum Mittelpunkt gerichtete Beschleunigung bei Kreisbewegung.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m/s²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Beziehung: a_z = v²/r = ω²r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822192"/>
            <a:ext cx="5340096" cy="1938528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81344" y="3822192"/>
            <a:ext cx="68580" cy="1938528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394106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Gravitationskraft F_G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6382512" y="4315968"/>
            <a:ext cx="4974336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Anziehung zweier Massen nach Newton.</a:t>
            </a:r>
            <a:endParaRPr lang="en-US" sz="1300" dirty="0"/>
          </a:p>
          <a:p>
            <a:pPr marL="165100" indent="-165100">
              <a:buSzPct val="100000"/>
              <a:buChar char="•"/>
            </a:pPr>
            <a:r>
              <a:rPr lang="en-US" sz="13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Einheit: 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3 · ANWENDEN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Einfache Aufgaben und Rechenbeispiele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Rechne zunächst mit bewusst einfachen Zahlen und klaren Einzelschritten.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865376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865376"/>
            <a:ext cx="68580" cy="112471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84248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35915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 = 1,0 m, T = 2,0 s. Berechne die Bahngeschwindigkeit v.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0976" y="2560320"/>
            <a:ext cx="3566160" cy="246888"/>
          </a:xfrm>
          <a:prstGeom prst="roundRect">
            <a:avLst>
              <a:gd name="adj" fmla="val 1481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2F6FAD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25968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v = 2πr/T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749808" y="3227832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3227832"/>
            <a:ext cx="68580" cy="112471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346704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7216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Nutze das Ergebnis und berechne a_z = v²/r.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49808" y="4590288"/>
            <a:ext cx="10607040" cy="1124712"/>
          </a:xfrm>
          <a:prstGeom prst="roundRect">
            <a:avLst>
              <a:gd name="adj" fmla="val 4878"/>
            </a:avLst>
          </a:prstGeom>
          <a:solidFill>
            <a:srgbClr val="FFF4DE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590288"/>
            <a:ext cx="68580" cy="1124712"/>
          </a:xfrm>
          <a:prstGeom prst="rect">
            <a:avLst/>
          </a:prstGeom>
          <a:solidFill>
            <a:srgbClr val="D78C24"/>
          </a:solidFill>
          <a:ln w="12700">
            <a:solidFill>
              <a:srgbClr val="D78C2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70916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Aufgabe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0976" y="508406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 = 0,50 kg. Berechne die nötige Zentripetalkraft.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4 · TRANSFER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Jetzt verknüpfen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6304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Hier musst du mehr als einen Gedanken verbinden oder das Modell begründet anwenden.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" y="1938528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F2EEF8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1938528"/>
            <a:ext cx="68580" cy="1600200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2057400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 / Transfer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432304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Nach Kepler gilt T² ∝ r³. Ein Orbitradius wird vervierfacht. Um welchen Faktor wächst T?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49808" y="3840480"/>
            <a:ext cx="10607040" cy="1600200"/>
          </a:xfrm>
          <a:prstGeom prst="roundRect">
            <a:avLst>
              <a:gd name="adj" fmla="val 3429"/>
            </a:avLst>
          </a:prstGeom>
          <a:solidFill>
            <a:srgbClr val="EDF5EF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840480"/>
            <a:ext cx="68580" cy="1600200"/>
          </a:xfrm>
          <a:prstGeom prst="rect">
            <a:avLst/>
          </a:prstGeom>
          <a:solidFill>
            <a:srgbClr val="4E7A5A"/>
          </a:solidFill>
          <a:ln w="12700">
            <a:solidFill>
              <a:srgbClr val="4E7A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959352"/>
            <a:ext cx="10259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 · Warum?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4334256"/>
            <a:ext cx="10241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Uhr bewegt sich relativ zu einer Beobachterin sehr schnell. Welche Uhr zeigt nach der SRT weniger verstrichene Eigenzeit? Formuliere ohne Scheinkräfte oder „Uhrfehler“.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926080" y="5833872"/>
            <a:ext cx="6336792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90672" y="592531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9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Strategie: Gegeben → Gesucht → Modell/Formel → Ergebnis → Plausibilität</a:t>
            </a:r>
            <a:endParaRPr lang="en-US" sz="10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STUFE 5 · DARSTELLEN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Gleichförmige Kreisbewegung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1572768"/>
            <a:ext cx="7543800" cy="4526280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59152" y="2350008"/>
            <a:ext cx="2468880" cy="246888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2F6FA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38728" y="3529584"/>
            <a:ext cx="109728" cy="109728"/>
          </a:xfrm>
          <a:prstGeom prst="ellipse">
            <a:avLst/>
          </a:prstGeom>
          <a:solidFill>
            <a:srgbClr val="203040"/>
          </a:solidFill>
          <a:ln w="12700">
            <a:solidFill>
              <a:srgbClr val="20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18304" y="3474720"/>
            <a:ext cx="219456" cy="219456"/>
          </a:xfrm>
          <a:prstGeom prst="ellipse">
            <a:avLst/>
          </a:prstGeom>
          <a:solidFill>
            <a:srgbClr val="D78C24"/>
          </a:solidFill>
          <a:ln w="12700">
            <a:solidFill>
              <a:srgbClr val="D78C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28032" y="3584448"/>
            <a:ext cx="0" cy="-1097280"/>
          </a:xfrm>
          <a:prstGeom prst="line">
            <a:avLst/>
          </a:prstGeom>
          <a:noFill/>
          <a:ln w="27940">
            <a:solidFill>
              <a:srgbClr val="2C7A7B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937760" y="2505456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C7A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3584448"/>
            <a:ext cx="-1051560" cy="0"/>
          </a:xfrm>
          <a:prstGeom prst="line">
            <a:avLst/>
          </a:prstGeom>
          <a:noFill/>
          <a:ln w="27940">
            <a:solidFill>
              <a:srgbClr val="B55350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4050792" y="367588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B553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F_z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36192" y="5001768"/>
            <a:ext cx="5788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Tangentialgeschwindigkeit ⟂ Zentripetalkraft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12480" y="1572768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EAF3FB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0" y="1572768"/>
            <a:ext cx="68580" cy="201168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13648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Auswerten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613648" y="2066544"/>
            <a:ext cx="2743200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Zeige gedanklich v und F_z an einem Punkt.</a:t>
            </a:r>
            <a:endParaRPr lang="en-US" sz="1320" dirty="0"/>
          </a:p>
          <a:p>
            <a:pPr marL="165100" indent="-165100">
              <a:buSzPct val="100000"/>
              <a:buChar char="•"/>
            </a:pPr>
            <a:r>
              <a:rPr lang="en-US" sz="132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passiert mit F_z bei gleicher v, wenn r verdoppelt wird?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8412480" y="3794760"/>
            <a:ext cx="3108960" cy="2304288"/>
          </a:xfrm>
          <a:prstGeom prst="roundRect">
            <a:avLst>
              <a:gd name="adj" fmla="val 2381"/>
            </a:avLst>
          </a:prstGeom>
          <a:solidFill>
            <a:srgbClr val="E8F4F2"/>
          </a:solidFill>
          <a:ln w="12700">
            <a:solidFill>
              <a:srgbClr val="CDD8E2"/>
            </a:solidFill>
            <a:prstDash val="solid"/>
          </a:ln>
          <a:effectLst>
            <a:outerShdw sx="100000" sy="100000" kx="0" ky="0" algn="bl" rotWithShape="0" blurRad="12700" dist="50800" dir="2700000">
              <a:srgbClr val="A8B8C7">
                <a:alpha val="11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12480" y="3794760"/>
            <a:ext cx="68580" cy="2304288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13648" y="3913632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3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Darstellungssprache</a:t>
            </a:r>
            <a:endParaRPr lang="en-US" sz="1430" dirty="0"/>
          </a:p>
        </p:txBody>
      </p:sp>
      <p:sp>
        <p:nvSpPr>
          <p:cNvPr id="25" name="Text 23"/>
          <p:cNvSpPr/>
          <p:nvPr/>
        </p:nvSpPr>
        <p:spPr>
          <a:xfrm>
            <a:off x="8613648" y="4288536"/>
            <a:ext cx="2743200" cy="16824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Achsen + Einheiten prüfen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beschreiben</a:t>
            </a:r>
            <a:endParaRPr lang="en-US" sz="1260" dirty="0"/>
          </a:p>
          <a:p>
            <a:pPr marL="165100" indent="-165100">
              <a:buSzPct val="100000"/>
              <a:buChar char="•"/>
            </a:pPr>
            <a:r>
              <a:rPr lang="en-US" sz="12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 Fachbegriff/Formel begründen</a:t>
            </a:r>
            <a:endParaRPr lang="en-US" sz="12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017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SICHERUNG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6928" y="62179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Lösungen und Exit-Ticket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509760" y="31089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566928" y="1280160"/>
            <a:ext cx="11045952" cy="0"/>
          </a:xfrm>
          <a:prstGeom prst="line">
            <a:avLst/>
          </a:prstGeom>
          <a:noFill/>
          <a:ln w="12700">
            <a:solidFill>
              <a:srgbClr val="CDD8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37392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" y="14447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60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Erst nach eigener Bearbeitung einblenden.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810512"/>
            <a:ext cx="68580" cy="1060704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859536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Warm-up: tangential entlang der Bahn; nein, die Richtung ändert sich fortwährend; Umlaufdauer T; f=1/T; weil sich der Geschwindigkeitsvektor ändert und die Beschleunigung zum Mittelpunkt zeigt.</a:t>
            </a:r>
            <a:endParaRPr lang="en-US" sz="1160" dirty="0"/>
          </a:p>
        </p:txBody>
      </p:sp>
      <p:sp>
        <p:nvSpPr>
          <p:cNvPr id="14" name="Shape 12"/>
          <p:cNvSpPr/>
          <p:nvPr/>
        </p:nvSpPr>
        <p:spPr>
          <a:xfrm>
            <a:off x="6181344" y="1810512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1810512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929384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382512" y="2304288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1: v = π ≈ 3,14 m/s.</a:t>
            </a:r>
            <a:endParaRPr lang="en-US" sz="1160" dirty="0"/>
          </a:p>
        </p:txBody>
      </p:sp>
      <p:sp>
        <p:nvSpPr>
          <p:cNvPr id="18" name="Shape 16"/>
          <p:cNvSpPr/>
          <p:nvPr/>
        </p:nvSpPr>
        <p:spPr>
          <a:xfrm>
            <a:off x="658368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59536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2: a_z ≈ 9,87 m/s².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6181344" y="3063240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81344" y="3063240"/>
            <a:ext cx="68580" cy="1060704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82512" y="3182112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</a:t>
            </a:r>
            <a:endParaRPr lang="en-US" sz="1180" dirty="0"/>
          </a:p>
        </p:txBody>
      </p:sp>
      <p:sp>
        <p:nvSpPr>
          <p:cNvPr id="25" name="Text 23"/>
          <p:cNvSpPr/>
          <p:nvPr/>
        </p:nvSpPr>
        <p:spPr>
          <a:xfrm>
            <a:off x="6382512" y="355701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 3: F_z ≈ 4,94 N.</a:t>
            </a:r>
            <a:endParaRPr lang="en-US" sz="1160" dirty="0"/>
          </a:p>
        </p:txBody>
      </p:sp>
      <p:sp>
        <p:nvSpPr>
          <p:cNvPr id="26" name="Shape 24"/>
          <p:cNvSpPr/>
          <p:nvPr/>
        </p:nvSpPr>
        <p:spPr>
          <a:xfrm>
            <a:off x="658368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Anwendung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859536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1: Faktor 8.</a:t>
            </a:r>
            <a:endParaRPr lang="en-US" sz="1160" dirty="0"/>
          </a:p>
        </p:txBody>
      </p:sp>
      <p:sp>
        <p:nvSpPr>
          <p:cNvPr id="30" name="Shape 28"/>
          <p:cNvSpPr/>
          <p:nvPr/>
        </p:nvSpPr>
        <p:spPr>
          <a:xfrm>
            <a:off x="6181344" y="4315968"/>
            <a:ext cx="5340096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CDD8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81344" y="4315968"/>
            <a:ext cx="68580" cy="1060704"/>
          </a:xfrm>
          <a:prstGeom prst="rect">
            <a:avLst/>
          </a:prstGeom>
          <a:solidFill>
            <a:srgbClr val="735D9B"/>
          </a:solidFill>
          <a:ln w="12700">
            <a:solidFill>
              <a:srgbClr val="735D9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4434840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Konzeptfrage</a:t>
            </a:r>
            <a:endParaRPr lang="en-US" sz="1180" dirty="0"/>
          </a:p>
        </p:txBody>
      </p:sp>
      <p:sp>
        <p:nvSpPr>
          <p:cNvPr id="33" name="Text 31"/>
          <p:cNvSpPr/>
          <p:nvPr/>
        </p:nvSpPr>
        <p:spPr>
          <a:xfrm>
            <a:off x="6382512" y="4809744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6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2: Die mitbewegte Uhr hat zwischen denselben Vergleichsereignissen weniger Eigenzeit.</a:t>
            </a:r>
            <a:endParaRPr lang="en-US" sz="1160" dirty="0"/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607040" cy="612648"/>
          </a:xfrm>
          <a:prstGeom prst="roundRect">
            <a:avLst>
              <a:gd name="adj" fmla="val 8955"/>
            </a:avLst>
          </a:prstGeom>
          <a:solidFill>
            <a:srgbClr val="FFF4DE"/>
          </a:solidFill>
          <a:ln w="15240">
            <a:solidFill>
              <a:srgbClr val="D78C2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2688" y="58155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78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664208" y="5733288"/>
            <a:ext cx="9418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ist bei gleichförmiger Kreisbewegung trotz konstantem Betrag von v die Beschleunigung nicht null?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Kreisbewegung, Gravitation und physikalische Weltbilder – Wiederholung</dc:title>
  <dc:subject>KLP-basierte Wiederholung: Kreisbewegung, Gravitation und physikalische Weltbilder</dc:subject>
  <dc:creator>Jonathan Hardenacke</dc:creator>
  <cp:lastModifiedBy>Jonathan Hardenacke</cp:lastModifiedBy>
  <cp:revision>1</cp:revision>
  <dcterms:created xsi:type="dcterms:W3CDTF">2026-09-12T09:38:45Z</dcterms:created>
  <dcterms:modified xsi:type="dcterms:W3CDTF">2026-09-12T09:38:45Z</dcterms:modified>
</cp:coreProperties>
</file>