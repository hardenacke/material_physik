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500000">
            <a:off x="7498080" y="-914400"/>
            <a:ext cx="5943600" cy="5943600"/>
          </a:xfrm>
          <a:prstGeom prst="arc">
            <a:avLst/>
          </a:prstGeom>
          <a:solidFill>
            <a:srgbClr val="2F6FAD">
              <a:alpha val="84000"/>
            </a:srgbClr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46920" y="4434840"/>
            <a:ext cx="2468880" cy="2468880"/>
          </a:xfrm>
          <a:prstGeom prst="ellipse">
            <a:avLst/>
          </a:prstGeom>
          <a:solidFill>
            <a:srgbClr val="2C7A7B">
              <a:alpha val="75000"/>
            </a:srgbClr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243584"/>
            <a:ext cx="1051560" cy="0"/>
          </a:xfrm>
          <a:prstGeom prst="line">
            <a:avLst/>
          </a:prstGeom>
          <a:noFill/>
          <a:ln w="50800">
            <a:solidFill>
              <a:srgbClr val="6FB4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65836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A9CDE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8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13232" y="1444752"/>
            <a:ext cx="8686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Optische Instrumente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749808" y="3346704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DCEA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Wiederholungspräsentation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49808" y="384048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BFD3E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lebendes Dokument: Nach jeder Stunde wächst der Rückblick um eine neue Folie.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49808" y="5074920"/>
            <a:ext cx="4114800" cy="566928"/>
          </a:xfrm>
          <a:prstGeom prst="roundRect">
            <a:avLst>
              <a:gd name="adj" fmla="val 12903"/>
            </a:avLst>
          </a:prstGeom>
          <a:solidFill>
            <a:srgbClr val="1B405E"/>
          </a:solidFill>
          <a:ln w="12700">
            <a:solidFill>
              <a:srgbClr val="315B7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5212080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DEA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Kernideen · Begriffe · Beziehungen · Schnellcheck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49808" y="62362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9C1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Physik NRW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 bleibt hängen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8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45920"/>
            <a:ext cx="5413248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9536" y="1920240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929384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91056" y="1810512"/>
            <a:ext cx="42519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Reflexionsgesetz auf Spiegelbilder anwenden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5257800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73952" y="1920240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929384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205472" y="1810512"/>
            <a:ext cx="409651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Brechung und Totalreflexion qualitativ erklären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58368" y="2999232"/>
            <a:ext cx="5413248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9536" y="3273552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282696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591056" y="3163824"/>
            <a:ext cx="42519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Bildentstehung an Sammellinsen konstruieren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272784" y="2999232"/>
            <a:ext cx="5257800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73952" y="3273552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282696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205472" y="3163824"/>
            <a:ext cx="409651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Auge, Lupe, Kamera, Fernrohr und Mikroskop modellhaft beschreiben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58368" y="4352544"/>
            <a:ext cx="10872216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9536" y="4626864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4636008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91056" y="4517136"/>
            <a:ext cx="971092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Spektralzerlegung und Farbmischung einordnen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WERKZEUGKASTEN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Begriffe und Modelle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8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27632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27632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73936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Einfallswinkel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77824" y="2157984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Winkel zwischen einfallendem Strahl und Lot.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72784" y="1627632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72784" y="1627632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73936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Brechung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92240" y="2157984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Richtungsänderung von Licht beim Übergang zwischen optisch verschiedenen Medien.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58368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200400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346704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Totalreflexion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77824" y="3730752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Vollständige Reflexion beim Übergang vom optisch dichteren ins dünnere Medium ab einem Grenzwinkel.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272784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72784" y="3200400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346704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Brennpunkt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492240" y="3730752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Punkt, in dem achsenparallele Strahlen hinter einer Sammellinse idealisiert zusammentreffen.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58368" y="4773168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58368" y="4773168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4919472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Spektrum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877824" y="5303520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Aufspaltung von Licht nach Wellenlängen bzw. Farben.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272784" y="4773168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72784" y="4773168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73952" y="4919472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RGB / CMYK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6492240" y="5303520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Modelle additiver bzw. subtraktiver Farbmischung.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ZUSAMMENHÄNGE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Formeln, Beziehungen und zentrale Aussagen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8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18488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1746504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Reflexionsgesetz</a:t>
            </a:r>
            <a:endParaRPr lang="en-US" sz="1380" dirty="0"/>
          </a:p>
        </p:txBody>
      </p:sp>
      <p:sp>
        <p:nvSpPr>
          <p:cNvPr id="11" name="Text 9"/>
          <p:cNvSpPr/>
          <p:nvPr/>
        </p:nvSpPr>
        <p:spPr>
          <a:xfrm>
            <a:off x="859536" y="2093976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Einfallswinkel und Reflexionswinkel sind gleich groß.</a:t>
            </a:r>
            <a:endParaRPr lang="en-US" sz="1270" dirty="0"/>
          </a:p>
        </p:txBody>
      </p:sp>
      <p:sp>
        <p:nvSpPr>
          <p:cNvPr id="12" name="Shape 10"/>
          <p:cNvSpPr/>
          <p:nvPr/>
        </p:nvSpPr>
        <p:spPr>
          <a:xfrm>
            <a:off x="859536" y="2697480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0976" y="2715768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α = α′</a:t>
            </a:r>
            <a:endParaRPr lang="en-US" sz="1040" dirty="0"/>
          </a:p>
        </p:txBody>
      </p:sp>
      <p:sp>
        <p:nvSpPr>
          <p:cNvPr id="14" name="Shape 12"/>
          <p:cNvSpPr/>
          <p:nvPr/>
        </p:nvSpPr>
        <p:spPr>
          <a:xfrm>
            <a:off x="6272784" y="1618488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46504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Brechung</a:t>
            </a:r>
            <a:endParaRPr lang="en-US" sz="1380" dirty="0"/>
          </a:p>
        </p:txBody>
      </p:sp>
      <p:sp>
        <p:nvSpPr>
          <p:cNvPr id="16" name="Text 14"/>
          <p:cNvSpPr/>
          <p:nvPr/>
        </p:nvSpPr>
        <p:spPr>
          <a:xfrm>
            <a:off x="6473952" y="2093976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Beim Übergang in ein optisch dichteres Medium wird zum Lot hin gebrochen; umgekehrt vom Lot weg.</a:t>
            </a:r>
            <a:endParaRPr lang="en-US" sz="1270" dirty="0"/>
          </a:p>
        </p:txBody>
      </p:sp>
      <p:sp>
        <p:nvSpPr>
          <p:cNvPr id="17" name="Shape 15"/>
          <p:cNvSpPr/>
          <p:nvPr/>
        </p:nvSpPr>
        <p:spPr>
          <a:xfrm>
            <a:off x="6473952" y="2697480"/>
            <a:ext cx="205740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65392" y="2715768"/>
            <a:ext cx="19431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qualitativer Zusammenhang</a:t>
            </a:r>
            <a:endParaRPr lang="en-US" sz="1040" dirty="0"/>
          </a:p>
        </p:txBody>
      </p:sp>
      <p:sp>
        <p:nvSpPr>
          <p:cNvPr id="19" name="Shape 17"/>
          <p:cNvSpPr/>
          <p:nvPr/>
        </p:nvSpPr>
        <p:spPr>
          <a:xfrm>
            <a:off x="658368" y="3182112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3310128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Sammellinse</a:t>
            </a:r>
            <a:endParaRPr lang="en-US" sz="1380" dirty="0"/>
          </a:p>
        </p:txBody>
      </p:sp>
      <p:sp>
        <p:nvSpPr>
          <p:cNvPr id="21" name="Text 19"/>
          <p:cNvSpPr/>
          <p:nvPr/>
        </p:nvSpPr>
        <p:spPr>
          <a:xfrm>
            <a:off x="859536" y="3657600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Parallelstrahlen werden im Brennpunkt gebündelt.</a:t>
            </a:r>
            <a:endParaRPr lang="en-US" sz="1270" dirty="0"/>
          </a:p>
        </p:txBody>
      </p:sp>
      <p:sp>
        <p:nvSpPr>
          <p:cNvPr id="22" name="Shape 20"/>
          <p:cNvSpPr/>
          <p:nvPr/>
        </p:nvSpPr>
        <p:spPr>
          <a:xfrm>
            <a:off x="859536" y="4261104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0976" y="4279392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Brennweite f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6272784" y="3182112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3952" y="3310128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Totalreflexion</a:t>
            </a:r>
            <a:endParaRPr lang="en-US" sz="1380" dirty="0"/>
          </a:p>
        </p:txBody>
      </p:sp>
      <p:sp>
        <p:nvSpPr>
          <p:cNvPr id="26" name="Text 24"/>
          <p:cNvSpPr/>
          <p:nvPr/>
        </p:nvSpPr>
        <p:spPr>
          <a:xfrm>
            <a:off x="6473952" y="3657600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Grundprinzip von Lichtleitern und Glasfasern.</a:t>
            </a:r>
            <a:endParaRPr lang="en-US" sz="1270" dirty="0"/>
          </a:p>
        </p:txBody>
      </p:sp>
      <p:sp>
        <p:nvSpPr>
          <p:cNvPr id="27" name="Shape 25"/>
          <p:cNvSpPr/>
          <p:nvPr/>
        </p:nvSpPr>
        <p:spPr>
          <a:xfrm>
            <a:off x="6473952" y="4261104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65392" y="4279392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n₁ &gt; n₂ und α &gt; α_G</a:t>
            </a:r>
            <a:endParaRPr lang="en-US" sz="10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ABRUFÜBUNG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Schnellcheck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8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58368" y="158191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Ohne Unterlagen beantworten – erst danach gemeinsam prüfen.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49808" y="214884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2368296"/>
            <a:ext cx="548640" cy="548640"/>
          </a:xfrm>
          <a:prstGeom prst="ellipse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238658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755648" y="228600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 werden Einfalls- und Reflexionswinkel gemessen?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49808" y="338328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602736"/>
            <a:ext cx="548640" cy="548640"/>
          </a:xfrm>
          <a:prstGeom prst="ellipse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62102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755648" y="352044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Warum kann Licht in einer Glasfaser geführt werden?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49808" y="461772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9264" y="4837176"/>
            <a:ext cx="548640" cy="548640"/>
          </a:xfrm>
          <a:prstGeom prst="ellipse">
            <a:avLst/>
          </a:prstGeom>
          <a:solidFill>
            <a:srgbClr val="D9902F"/>
          </a:solidFill>
          <a:ln w="12700">
            <a:solidFill>
              <a:srgbClr val="D9902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9264" y="485546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755648" y="475488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Welche Strahlen nutzt du für eine Bildkonstruktion an der Sammellinse?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4096512" y="5943600"/>
            <a:ext cx="3977640" cy="384048"/>
          </a:xfrm>
          <a:prstGeom prst="roundRect">
            <a:avLst>
              <a:gd name="adj" fmla="val 1190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51960" y="601675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Tipp: Erklären ist stärker als nur nennen.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FORTSCHREIBEN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Stundenrückblick – Vorlage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8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45920"/>
            <a:ext cx="5413248" cy="1627632"/>
          </a:xfrm>
          <a:prstGeom prst="roundRect">
            <a:avLst>
              <a:gd name="adj" fmla="val 4494"/>
            </a:avLst>
          </a:prstGeom>
          <a:solidFill>
            <a:srgbClr val="EAF3FB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45920"/>
            <a:ext cx="73152" cy="162763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9222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Heute neu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77824" y="2176272"/>
            <a:ext cx="4992624" cy="9509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max. 3 zentrale Erkenntnisse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eigenen Worten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Bezug zum Vorwissen herstellen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5257800" cy="1627632"/>
          </a:xfrm>
          <a:prstGeom prst="roundRect">
            <a:avLst>
              <a:gd name="adj" fmla="val 4494"/>
            </a:avLst>
          </a:prstGeom>
          <a:solidFill>
            <a:srgbClr val="E6F4F1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72784" y="1645920"/>
            <a:ext cx="73152" cy="1627632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92224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 / Beobachtung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2176272"/>
            <a:ext cx="483717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prägnanter Versuch, Messwert, Graph oder Alltagsbezug als Anker für die Stunde.</a:t>
            </a:r>
            <a:endParaRPr lang="en-US" sz="1340" dirty="0"/>
          </a:p>
        </p:txBody>
      </p:sp>
      <p:sp>
        <p:nvSpPr>
          <p:cNvPr id="17" name="Shape 15"/>
          <p:cNvSpPr/>
          <p:nvPr/>
        </p:nvSpPr>
        <p:spPr>
          <a:xfrm>
            <a:off x="658368" y="3520440"/>
            <a:ext cx="5413248" cy="1627632"/>
          </a:xfrm>
          <a:prstGeom prst="roundRect">
            <a:avLst>
              <a:gd name="adj" fmla="val 4494"/>
            </a:avLst>
          </a:prstGeom>
          <a:solidFill>
            <a:srgbClr val="FFF3DE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520440"/>
            <a:ext cx="73152" cy="1627632"/>
          </a:xfrm>
          <a:prstGeom prst="rect">
            <a:avLst/>
          </a:prstGeom>
          <a:solidFill>
            <a:srgbClr val="D9902F"/>
          </a:solidFill>
          <a:ln w="12700">
            <a:solidFill>
              <a:srgbClr val="D9902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66674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Merksatz / Formel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77824" y="4050792"/>
            <a:ext cx="499262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Genau eine zentrale Aussage oder Beziehung festhalten – möglichst mit Bedeutung der Größen.</a:t>
            </a:r>
            <a:endParaRPr lang="en-US" sz="1340" dirty="0"/>
          </a:p>
        </p:txBody>
      </p:sp>
      <p:sp>
        <p:nvSpPr>
          <p:cNvPr id="21" name="Shape 19"/>
          <p:cNvSpPr/>
          <p:nvPr/>
        </p:nvSpPr>
        <p:spPr>
          <a:xfrm>
            <a:off x="6272784" y="3520440"/>
            <a:ext cx="5257800" cy="1627632"/>
          </a:xfrm>
          <a:prstGeom prst="roundRect">
            <a:avLst>
              <a:gd name="adj" fmla="val 4494"/>
            </a:avLst>
          </a:prstGeom>
          <a:solidFill>
            <a:srgbClr val="EBF4ED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72784" y="3520440"/>
            <a:ext cx="73152" cy="1627632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666744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2-Minuten-Check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92240" y="4050792"/>
            <a:ext cx="4837176" cy="9509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2–3 kurze Abruffragen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möglichst ohne Unterlagen lösbar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eine Anwendung oder Erklärung einbauen</a:t>
            </a:r>
            <a:endParaRPr lang="en-US" sz="1340" dirty="0"/>
          </a:p>
        </p:txBody>
      </p:sp>
      <p:sp>
        <p:nvSpPr>
          <p:cNvPr id="25" name="Shape 23"/>
          <p:cNvSpPr/>
          <p:nvPr/>
        </p:nvSpPr>
        <p:spPr>
          <a:xfrm>
            <a:off x="1691640" y="5541264"/>
            <a:ext cx="8796528" cy="585216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01952" y="5687568"/>
            <a:ext cx="83759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Codex-Workflow: neue Stunde in praesentation.json → lessons ergänzen → npm run build:pptx</a:t>
            </a:r>
            <a:endParaRPr lang="en-US" sz="11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Rivius Gymnasium Attendorn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Optische Instrumente – Wiederholung</dc:title>
  <dc:subject>Fortlaufende Wiederholung: Optische Instrumente</dc:subject>
  <dc:creator>Jonathan Hardenacke</dc:creator>
  <cp:lastModifiedBy>Jonathan Hardenacke</cp:lastModifiedBy>
  <cp:revision>1</cp:revision>
  <dcterms:created xsi:type="dcterms:W3CDTF">2026-09-11T17:58:40Z</dcterms:created>
  <dcterms:modified xsi:type="dcterms:W3CDTF">2026-09-11T17:58:40Z</dcterms:modified>
</cp:coreProperties>
</file>