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32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-1143000"/>
            <a:ext cx="5303520" cy="5303520"/>
          </a:xfrm>
          <a:prstGeom prst="ellipse">
            <a:avLst/>
          </a:prstGeom>
          <a:solidFill>
            <a:srgbClr val="4C88C2">
              <a:alpha val="88000"/>
            </a:srgbClr>
          </a:solidFill>
          <a:ln w="12700">
            <a:solidFill>
              <a:srgbClr val="4C88C2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829800" y="4251960"/>
            <a:ext cx="2514600" cy="2514600"/>
          </a:xfrm>
          <a:prstGeom prst="ellipse">
            <a:avLst/>
          </a:prstGeom>
          <a:solidFill>
            <a:srgbClr val="2C7A7B">
              <a:alpha val="80000"/>
            </a:srgbClr>
          </a:solidFill>
          <a:ln w="12700">
            <a:solidFill>
              <a:srgbClr val="2C7A7B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261872"/>
            <a:ext cx="1051560" cy="0"/>
          </a:xfrm>
          <a:prstGeom prst="line">
            <a:avLst/>
          </a:prstGeom>
          <a:noFill/>
          <a:ln w="50800">
            <a:solidFill>
              <a:srgbClr val="6DB2E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65836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spc="140" kern="0" dirty="0">
                <a:solidFill>
                  <a:srgbClr val="B8D4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KLASSE 8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1508760"/>
            <a:ext cx="86410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Sterne und Weltall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749808" y="3246120"/>
            <a:ext cx="63093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E5F0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KLP-basierte Wiederholung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49808" y="3776472"/>
            <a:ext cx="71323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BED2E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Vom sicheren Abruf über einfache Anwendungen bis zum Transfer.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49808" y="4892040"/>
            <a:ext cx="4617720" cy="658368"/>
          </a:xfrm>
          <a:prstGeom prst="roundRect">
            <a:avLst>
              <a:gd name="adj" fmla="val 8333"/>
            </a:avLst>
          </a:prstGeom>
          <a:solidFill>
            <a:srgbClr val="1E425F"/>
          </a:solidFill>
          <a:ln w="12700">
            <a:solidFill>
              <a:srgbClr val="315B7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50976" y="507492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E2EE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 Abrufen    2  Verstehen    3  Rechnen    4  Transfer</a:t>
            </a:r>
            <a:endParaRPr lang="en-US" sz="1170" dirty="0"/>
          </a:p>
        </p:txBody>
      </p:sp>
      <p:sp>
        <p:nvSpPr>
          <p:cNvPr id="11" name="Text 9"/>
          <p:cNvSpPr/>
          <p:nvPr/>
        </p:nvSpPr>
        <p:spPr>
          <a:xfrm>
            <a:off x="749808" y="6217920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A9C2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KLP-Recherche: 2026-09-12</a:t>
            </a:r>
            <a:endParaRPr lang="en-US" sz="97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F6FAD"/>
          </a:solidFill>
          <a:ln w="12700">
            <a:solidFill>
              <a:srgbClr val="2F6FAD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01752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2F6FA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KLP-KOMPASS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Inhaltsfeld 6: Sterne und Weltall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9509760" y="310896"/>
            <a:ext cx="2057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20" b="1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Klasse 8</a:t>
            </a:r>
            <a:endParaRPr lang="en-US" sz="1020" dirty="0"/>
          </a:p>
        </p:txBody>
      </p:sp>
      <p:sp>
        <p:nvSpPr>
          <p:cNvPr id="6" name="Shape 4"/>
          <p:cNvSpPr/>
          <p:nvPr/>
        </p:nvSpPr>
        <p:spPr>
          <a:xfrm>
            <a:off x="566928" y="1280160"/>
            <a:ext cx="11045952" cy="0"/>
          </a:xfrm>
          <a:prstGeom prst="line">
            <a:avLst/>
          </a:prstGeom>
          <a:noFill/>
          <a:ln w="12700">
            <a:solidFill>
              <a:srgbClr val="CDD8E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519672"/>
            <a:ext cx="5212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Fortlaufende Wiederholung · Physik NRW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137392" y="651967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58368" y="1600200"/>
            <a:ext cx="6492240" cy="4297680"/>
          </a:xfrm>
          <a:prstGeom prst="roundRect">
            <a:avLst>
              <a:gd name="adj" fmla="val 1277"/>
            </a:avLst>
          </a:prstGeom>
          <a:solidFill>
            <a:srgbClr val="FFFFFF"/>
          </a:solidFill>
          <a:ln w="12700">
            <a:solidFill>
              <a:srgbClr val="CDD8E2"/>
            </a:solidFill>
            <a:prstDash val="solid"/>
          </a:ln>
          <a:effectLst>
            <a:outerShdw sx="100000" sy="100000" kx="0" ky="0" algn="bl" rotWithShape="0" blurRad="12700" dist="50800" dir="2700000">
              <a:srgbClr val="A8B8C7">
                <a:alpha val="11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8368" y="1600200"/>
            <a:ext cx="68580" cy="4297680"/>
          </a:xfrm>
          <a:prstGeom prst="rect">
            <a:avLst/>
          </a:prstGeom>
          <a:solidFill>
            <a:srgbClr val="2F6FAD"/>
          </a:solidFill>
          <a:ln w="12700">
            <a:solidFill>
              <a:srgbClr val="2F6FAD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9536" y="1719072"/>
            <a:ext cx="6144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Verbindliche fachliche Schwerpunkte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859536" y="2093976"/>
            <a:ext cx="6126480" cy="3675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65100" indent="-165100">
              <a:buSzPct val="100000"/>
              <a:buChar char="•"/>
            </a:pPr>
            <a:r>
              <a:rPr lang="en-US" sz="15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Sonnensystem: Mondphasen, Mond- und Sonnenfinsternisse, Jahreszeiten, Planeten</a:t>
            </a:r>
            <a:endParaRPr lang="en-US" sz="1500" dirty="0"/>
          </a:p>
          <a:p>
            <a:pPr marL="165100" indent="-165100">
              <a:buSzPct val="100000"/>
              <a:buChar char="•"/>
            </a:pPr>
            <a:r>
              <a:rPr lang="en-US" sz="15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Universum: Himmelsobjekte, Sternentwicklung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360920" y="1600200"/>
            <a:ext cx="4160520" cy="2029968"/>
          </a:xfrm>
          <a:prstGeom prst="roundRect">
            <a:avLst>
              <a:gd name="adj" fmla="val 2703"/>
            </a:avLst>
          </a:prstGeom>
          <a:solidFill>
            <a:srgbClr val="E8F4F2"/>
          </a:solidFill>
          <a:ln w="12700">
            <a:solidFill>
              <a:srgbClr val="CDD8E2"/>
            </a:solidFill>
            <a:prstDash val="solid"/>
          </a:ln>
          <a:effectLst>
            <a:outerShdw sx="100000" sy="100000" kx="0" ky="0" algn="bl" rotWithShape="0" blurRad="12700" dist="50800" dir="2700000">
              <a:srgbClr val="A8B8C7">
                <a:alpha val="11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360920" y="1600200"/>
            <a:ext cx="68580" cy="2029968"/>
          </a:xfrm>
          <a:prstGeom prst="rect">
            <a:avLst/>
          </a:prstGeom>
          <a:solidFill>
            <a:srgbClr val="2C7A7B"/>
          </a:solidFill>
          <a:ln w="12700">
            <a:solidFill>
              <a:srgbClr val="2C7A7B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562088" y="1719072"/>
            <a:ext cx="3813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Was du am Ende können sollst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7562088" y="2093976"/>
            <a:ext cx="3794760" cy="14081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65100" indent="-165100">
              <a:buSzPct val="100000"/>
              <a:buChar char="•"/>
            </a:pPr>
            <a:r>
              <a:rPr lang="en-US" sz="125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Aufbau des Sonnensystems und wichtige Himmelsobjekte beschreiben</a:t>
            </a:r>
            <a:endParaRPr lang="en-US" sz="1250" dirty="0"/>
          </a:p>
          <a:p>
            <a:pPr marL="165100" indent="-165100">
              <a:buSzPct val="100000"/>
              <a:buChar char="•"/>
            </a:pPr>
            <a:r>
              <a:rPr lang="en-US" sz="125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Mondphasen, Finsternisse und Jahreszeiten modellhaft erklären</a:t>
            </a:r>
            <a:endParaRPr lang="en-US" sz="1250" dirty="0"/>
          </a:p>
          <a:p>
            <a:pPr marL="165100" indent="-165100">
              <a:buSzPct val="100000"/>
              <a:buChar char="•"/>
            </a:pPr>
            <a:r>
              <a:rPr lang="en-US" sz="125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Entfernungen mit dem Lichtjahr vergleichen</a:t>
            </a:r>
            <a:endParaRPr lang="en-US" sz="1250" dirty="0"/>
          </a:p>
          <a:p>
            <a:pPr marL="165100" indent="-165100">
              <a:buSzPct val="100000"/>
              <a:buChar char="•"/>
            </a:pPr>
            <a:r>
              <a:rPr lang="en-US" sz="125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Grundzüge der Sternentwicklung darstellen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7360920" y="3840480"/>
            <a:ext cx="4160520" cy="2057400"/>
          </a:xfrm>
          <a:prstGeom prst="roundRect">
            <a:avLst>
              <a:gd name="adj" fmla="val 2667"/>
            </a:avLst>
          </a:prstGeom>
          <a:solidFill>
            <a:srgbClr val="FFF4DE"/>
          </a:solidFill>
          <a:ln w="12700">
            <a:solidFill>
              <a:srgbClr val="CDD8E2"/>
            </a:solidFill>
            <a:prstDash val="solid"/>
          </a:ln>
          <a:effectLst>
            <a:outerShdw sx="100000" sy="100000" kx="0" ky="0" algn="bl" rotWithShape="0" blurRad="12700" dist="50800" dir="2700000">
              <a:srgbClr val="A8B8C7">
                <a:alpha val="11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360920" y="3840480"/>
            <a:ext cx="68580" cy="2057400"/>
          </a:xfrm>
          <a:prstGeom prst="rect">
            <a:avLst/>
          </a:prstGeom>
          <a:solidFill>
            <a:srgbClr val="D78C24"/>
          </a:solidFill>
          <a:ln w="12700">
            <a:solidFill>
              <a:srgbClr val="D78C24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562088" y="3959352"/>
            <a:ext cx="3813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Lernweg dieser Präsentation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7562088" y="4334256"/>
            <a:ext cx="3794760" cy="1435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65100" indent="-165100">
              <a:buSzPct val="100000"/>
              <a:buChar char="•"/>
            </a:pPr>
            <a:r>
              <a:rPr lang="en-US" sz="125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sehr leichte Abruffragen</a:t>
            </a:r>
            <a:endParaRPr lang="en-US" sz="1250" dirty="0"/>
          </a:p>
          <a:p>
            <a:pPr marL="165100" indent="-165100">
              <a:buSzPct val="100000"/>
              <a:buChar char="•"/>
            </a:pPr>
            <a:r>
              <a:rPr lang="en-US" sz="125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Begriffe und Formeln</a:t>
            </a:r>
            <a:endParaRPr lang="en-US" sz="1250" dirty="0"/>
          </a:p>
          <a:p>
            <a:pPr marL="165100" indent="-165100">
              <a:buSzPct val="100000"/>
              <a:buChar char="•"/>
            </a:pPr>
            <a:r>
              <a:rPr lang="en-US" sz="125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einfache Aufgaben</a:t>
            </a:r>
            <a:endParaRPr lang="en-US" sz="1250" dirty="0"/>
          </a:p>
          <a:p>
            <a:pPr marL="165100" indent="-165100">
              <a:buSzPct val="100000"/>
              <a:buChar char="•"/>
            </a:pPr>
            <a:r>
              <a:rPr lang="en-US" sz="125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Transfer und Grafik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713232" y="6062472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KLP Physik NRW 2019 · S. 34–35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F6FAD"/>
          </a:solidFill>
          <a:ln w="12700">
            <a:solidFill>
              <a:srgbClr val="2F6FAD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01752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2F6FA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STUFE 1 · ABRUFEN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Leichter Einstieg → sicherer Abruf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9509760" y="310896"/>
            <a:ext cx="2057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20" b="1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Klasse 8</a:t>
            </a:r>
            <a:endParaRPr lang="en-US" sz="1020" dirty="0"/>
          </a:p>
        </p:txBody>
      </p:sp>
      <p:sp>
        <p:nvSpPr>
          <p:cNvPr id="6" name="Shape 4"/>
          <p:cNvSpPr/>
          <p:nvPr/>
        </p:nvSpPr>
        <p:spPr>
          <a:xfrm>
            <a:off x="566928" y="1280160"/>
            <a:ext cx="11045952" cy="0"/>
          </a:xfrm>
          <a:prstGeom prst="line">
            <a:avLst/>
          </a:prstGeom>
          <a:noFill/>
          <a:ln w="12700">
            <a:solidFill>
              <a:srgbClr val="CDD8E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519672"/>
            <a:ext cx="5212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Fortlaufende Wiederholung · Physik NRW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137392" y="651967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58368" y="1472184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Fragen 1–2 sind bewusst sehr leicht. Danach wird der Abruf schrittweise fachlicher.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49808" y="1856232"/>
            <a:ext cx="1060704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2700">
            <a:solidFill>
              <a:srgbClr val="CDD8E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23544" y="1938528"/>
            <a:ext cx="493776" cy="493776"/>
          </a:xfrm>
          <a:prstGeom prst="ellipse">
            <a:avLst/>
          </a:prstGeom>
          <a:solidFill>
            <a:srgbClr val="2F6FAD"/>
          </a:solidFill>
          <a:ln w="12700">
            <a:solidFill>
              <a:srgbClr val="2F6FAD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23544" y="1947672"/>
            <a:ext cx="493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609344" y="1947672"/>
            <a:ext cx="95737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Warum leuchtet der Mond?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49808" y="2670048"/>
            <a:ext cx="1060704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2700">
            <a:solidFill>
              <a:srgbClr val="CDD8E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23544" y="2752344"/>
            <a:ext cx="493776" cy="493776"/>
          </a:xfrm>
          <a:prstGeom prst="ellipse">
            <a:avLst/>
          </a:prstGeom>
          <a:solidFill>
            <a:srgbClr val="4C88C2"/>
          </a:solidFill>
          <a:ln w="12700">
            <a:solidFill>
              <a:srgbClr val="4C88C2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23544" y="2761488"/>
            <a:ext cx="493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609344" y="2761488"/>
            <a:ext cx="95737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Entstehen Mondphasen durch den Erdschatten?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49808" y="3483864"/>
            <a:ext cx="1060704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2700">
            <a:solidFill>
              <a:srgbClr val="CDD8E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23544" y="3566160"/>
            <a:ext cx="493776" cy="493776"/>
          </a:xfrm>
          <a:prstGeom prst="ellipse">
            <a:avLst/>
          </a:prstGeom>
          <a:solidFill>
            <a:srgbClr val="2C7A7B"/>
          </a:solidFill>
          <a:ln w="12700">
            <a:solidFill>
              <a:srgbClr val="2C7A7B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23544" y="3575304"/>
            <a:ext cx="493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609344" y="3575304"/>
            <a:ext cx="95737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Was beschreibt ein Lichtjahr?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49808" y="4297680"/>
            <a:ext cx="1060704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2700">
            <a:solidFill>
              <a:srgbClr val="CDD8E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23544" y="4379976"/>
            <a:ext cx="493776" cy="493776"/>
          </a:xfrm>
          <a:prstGeom prst="ellipse">
            <a:avLst/>
          </a:prstGeom>
          <a:solidFill>
            <a:srgbClr val="4E7A5A"/>
          </a:solidFill>
          <a:ln w="12700">
            <a:solidFill>
              <a:srgbClr val="4E7A5A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23544" y="4389120"/>
            <a:ext cx="493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609344" y="4389120"/>
            <a:ext cx="95737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Warum gibt es auf der Erde Jahreszeiten?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749808" y="5111496"/>
            <a:ext cx="1060704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2700">
            <a:solidFill>
              <a:srgbClr val="CDD8E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23544" y="5193792"/>
            <a:ext cx="493776" cy="493776"/>
          </a:xfrm>
          <a:prstGeom prst="ellipse">
            <a:avLst/>
          </a:prstGeom>
          <a:solidFill>
            <a:srgbClr val="D78C24"/>
          </a:solidFill>
          <a:ln w="12700">
            <a:solidFill>
              <a:srgbClr val="D78C24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23544" y="5202936"/>
            <a:ext cx="493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609344" y="5202936"/>
            <a:ext cx="95737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Was unterscheidet einen Stern grundlegend von einem Planeten?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F6FAD"/>
          </a:solidFill>
          <a:ln w="12700">
            <a:solidFill>
              <a:srgbClr val="2F6FAD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01752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2F6FA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STUFE 2 · VERSTEHEN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Fachbegriffe und Formeln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9509760" y="310896"/>
            <a:ext cx="2057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20" b="1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Klasse 8</a:t>
            </a:r>
            <a:endParaRPr lang="en-US" sz="1020" dirty="0"/>
          </a:p>
        </p:txBody>
      </p:sp>
      <p:sp>
        <p:nvSpPr>
          <p:cNvPr id="6" name="Shape 4"/>
          <p:cNvSpPr/>
          <p:nvPr/>
        </p:nvSpPr>
        <p:spPr>
          <a:xfrm>
            <a:off x="566928" y="1280160"/>
            <a:ext cx="11045952" cy="0"/>
          </a:xfrm>
          <a:prstGeom prst="line">
            <a:avLst/>
          </a:prstGeom>
          <a:noFill/>
          <a:ln w="12700">
            <a:solidFill>
              <a:srgbClr val="CDD8E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519672"/>
            <a:ext cx="5212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Fortlaufende Wiederholung · Physik NRW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137392" y="651967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58368" y="1600200"/>
            <a:ext cx="5340096" cy="1938528"/>
          </a:xfrm>
          <a:prstGeom prst="roundRect">
            <a:avLst>
              <a:gd name="adj" fmla="val 2830"/>
            </a:avLst>
          </a:prstGeom>
          <a:solidFill>
            <a:srgbClr val="F0F4F7"/>
          </a:solidFill>
          <a:ln w="12700">
            <a:solidFill>
              <a:srgbClr val="CDD8E2"/>
            </a:solidFill>
            <a:prstDash val="solid"/>
          </a:ln>
          <a:effectLst>
            <a:outerShdw sx="100000" sy="100000" kx="0" ky="0" algn="bl" rotWithShape="0" blurRad="12700" dist="50800" dir="2700000">
              <a:srgbClr val="A8B8C7">
                <a:alpha val="11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8368" y="1600200"/>
            <a:ext cx="68580" cy="1938528"/>
          </a:xfrm>
          <a:prstGeom prst="rect">
            <a:avLst/>
          </a:prstGeom>
          <a:solidFill>
            <a:srgbClr val="2F6FAD"/>
          </a:solidFill>
          <a:ln w="12700">
            <a:solidFill>
              <a:srgbClr val="2F6FAD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9536" y="1719072"/>
            <a:ext cx="4992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3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Lichtjahr</a:t>
            </a:r>
            <a:endParaRPr lang="en-US" sz="1530" dirty="0"/>
          </a:p>
        </p:txBody>
      </p:sp>
      <p:sp>
        <p:nvSpPr>
          <p:cNvPr id="12" name="Text 10"/>
          <p:cNvSpPr/>
          <p:nvPr/>
        </p:nvSpPr>
        <p:spPr>
          <a:xfrm>
            <a:off x="859536" y="2093976"/>
            <a:ext cx="4974336" cy="13167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65100" indent="-165100">
              <a:buSzPct val="100000"/>
              <a:buChar char="•"/>
            </a:pPr>
            <a:r>
              <a:rPr lang="en-US" sz="13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Strecke, die Licht im Vakuum in einem Jahr zurücklegt.</a:t>
            </a:r>
            <a:endParaRPr lang="en-US" sz="1300" dirty="0"/>
          </a:p>
          <a:p>
            <a:pPr marL="165100" indent="-165100">
              <a:buSzPct val="100000"/>
              <a:buChar char="•"/>
            </a:pPr>
            <a:r>
              <a:rPr lang="en-US" sz="13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Einheit: ly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181344" y="1600200"/>
            <a:ext cx="5340096" cy="1938528"/>
          </a:xfrm>
          <a:prstGeom prst="roundRect">
            <a:avLst>
              <a:gd name="adj" fmla="val 2830"/>
            </a:avLst>
          </a:prstGeom>
          <a:solidFill>
            <a:srgbClr val="FFFFFF"/>
          </a:solidFill>
          <a:ln w="12700">
            <a:solidFill>
              <a:srgbClr val="CDD8E2"/>
            </a:solidFill>
            <a:prstDash val="solid"/>
          </a:ln>
          <a:effectLst>
            <a:outerShdw sx="100000" sy="100000" kx="0" ky="0" algn="bl" rotWithShape="0" blurRad="12700" dist="50800" dir="2700000">
              <a:srgbClr val="A8B8C7">
                <a:alpha val="11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81344" y="1600200"/>
            <a:ext cx="68580" cy="1938528"/>
          </a:xfrm>
          <a:prstGeom prst="rect">
            <a:avLst/>
          </a:prstGeom>
          <a:solidFill>
            <a:srgbClr val="2C7A7B"/>
          </a:solidFill>
          <a:ln w="12700">
            <a:solidFill>
              <a:srgbClr val="2C7A7B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82512" y="1719072"/>
            <a:ext cx="4992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3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Mondphase</a:t>
            </a:r>
            <a:endParaRPr lang="en-US" sz="1530" dirty="0"/>
          </a:p>
        </p:txBody>
      </p:sp>
      <p:sp>
        <p:nvSpPr>
          <p:cNvPr id="16" name="Text 14"/>
          <p:cNvSpPr/>
          <p:nvPr/>
        </p:nvSpPr>
        <p:spPr>
          <a:xfrm>
            <a:off x="6382512" y="2093976"/>
            <a:ext cx="4974336" cy="13167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65100" indent="-165100">
              <a:buSzPct val="100000"/>
              <a:buChar char="•"/>
            </a:pPr>
            <a:r>
              <a:rPr lang="en-US" sz="13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Von der Erde sichtbarer beleuchteter Anteil der Mondhälfte.</a:t>
            </a:r>
            <a:endParaRPr lang="en-US" sz="1300" dirty="0"/>
          </a:p>
          <a:p>
            <a:pPr marL="165100" indent="-165100">
              <a:buSzPct val="100000"/>
              <a:buChar char="•"/>
            </a:pPr>
            <a:r>
              <a:rPr lang="en-US" sz="13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Einheit: –</a:t>
            </a:r>
            <a:endParaRPr lang="en-US" sz="1300" dirty="0"/>
          </a:p>
          <a:p>
            <a:pPr marL="165100" indent="-165100">
              <a:buSzPct val="100000"/>
              <a:buChar char="•"/>
            </a:pPr>
            <a:r>
              <a:rPr lang="en-US" sz="13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Beziehung: Sonne – Erde – Mond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58368" y="3822192"/>
            <a:ext cx="5340096" cy="1938528"/>
          </a:xfrm>
          <a:prstGeom prst="roundRect">
            <a:avLst>
              <a:gd name="adj" fmla="val 2830"/>
            </a:avLst>
          </a:prstGeom>
          <a:solidFill>
            <a:srgbClr val="F0F4F7"/>
          </a:solidFill>
          <a:ln w="12700">
            <a:solidFill>
              <a:srgbClr val="CDD8E2"/>
            </a:solidFill>
            <a:prstDash val="solid"/>
          </a:ln>
          <a:effectLst>
            <a:outerShdw sx="100000" sy="100000" kx="0" ky="0" algn="bl" rotWithShape="0" blurRad="12700" dist="50800" dir="2700000">
              <a:srgbClr val="A8B8C7">
                <a:alpha val="11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58368" y="3822192"/>
            <a:ext cx="68580" cy="1938528"/>
          </a:xfrm>
          <a:prstGeom prst="rect">
            <a:avLst/>
          </a:prstGeom>
          <a:solidFill>
            <a:srgbClr val="D78C24"/>
          </a:solidFill>
          <a:ln w="12700">
            <a:solidFill>
              <a:srgbClr val="D78C24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59536" y="3941064"/>
            <a:ext cx="4992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3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Gravitation</a:t>
            </a:r>
            <a:endParaRPr lang="en-US" sz="1530" dirty="0"/>
          </a:p>
        </p:txBody>
      </p:sp>
      <p:sp>
        <p:nvSpPr>
          <p:cNvPr id="20" name="Text 18"/>
          <p:cNvSpPr/>
          <p:nvPr/>
        </p:nvSpPr>
        <p:spPr>
          <a:xfrm>
            <a:off x="859536" y="4315968"/>
            <a:ext cx="4974336" cy="13167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65100" indent="-165100">
              <a:buSzPct val="100000"/>
              <a:buChar char="•"/>
            </a:pPr>
            <a:r>
              <a:rPr lang="en-US" sz="13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Anziehende Wechselwirkung zwischen Körpern mit Masse.</a:t>
            </a:r>
            <a:endParaRPr lang="en-US" sz="1300" dirty="0"/>
          </a:p>
          <a:p>
            <a:pPr marL="165100" indent="-165100">
              <a:buSzPct val="100000"/>
              <a:buChar char="•"/>
            </a:pPr>
            <a:r>
              <a:rPr lang="en-US" sz="13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Einheit: N als Kraft</a:t>
            </a:r>
            <a:endParaRPr lang="en-US" sz="1300" dirty="0"/>
          </a:p>
          <a:p>
            <a:pPr marL="165100" indent="-165100">
              <a:buSzPct val="100000"/>
              <a:buChar char="•"/>
            </a:pPr>
            <a:r>
              <a:rPr lang="en-US" sz="13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Beziehung: anziehende Wechselwirkung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181344" y="3822192"/>
            <a:ext cx="5340096" cy="1938528"/>
          </a:xfrm>
          <a:prstGeom prst="roundRect">
            <a:avLst>
              <a:gd name="adj" fmla="val 2830"/>
            </a:avLst>
          </a:prstGeom>
          <a:solidFill>
            <a:srgbClr val="FFFFFF"/>
          </a:solidFill>
          <a:ln w="12700">
            <a:solidFill>
              <a:srgbClr val="CDD8E2"/>
            </a:solidFill>
            <a:prstDash val="solid"/>
          </a:ln>
          <a:effectLst>
            <a:outerShdw sx="100000" sy="100000" kx="0" ky="0" algn="bl" rotWithShape="0" blurRad="12700" dist="50800" dir="2700000">
              <a:srgbClr val="A8B8C7">
                <a:alpha val="11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181344" y="3822192"/>
            <a:ext cx="68580" cy="1938528"/>
          </a:xfrm>
          <a:prstGeom prst="rect">
            <a:avLst/>
          </a:prstGeom>
          <a:solidFill>
            <a:srgbClr val="4E7A5A"/>
          </a:solidFill>
          <a:ln w="12700">
            <a:solidFill>
              <a:srgbClr val="4E7A5A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82512" y="3941064"/>
            <a:ext cx="4992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3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Sternentwicklung</a:t>
            </a:r>
            <a:endParaRPr lang="en-US" sz="1530" dirty="0"/>
          </a:p>
        </p:txBody>
      </p:sp>
      <p:sp>
        <p:nvSpPr>
          <p:cNvPr id="24" name="Text 22"/>
          <p:cNvSpPr/>
          <p:nvPr/>
        </p:nvSpPr>
        <p:spPr>
          <a:xfrm>
            <a:off x="6382512" y="4315968"/>
            <a:ext cx="4974336" cy="13167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65100" indent="-165100">
              <a:buSzPct val="100000"/>
              <a:buChar char="•"/>
            </a:pPr>
            <a:r>
              <a:rPr lang="en-US" sz="13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Entwicklung eines Sterns abhängig vor allem von seiner Masse.</a:t>
            </a:r>
            <a:endParaRPr lang="en-US" sz="1300" dirty="0"/>
          </a:p>
          <a:p>
            <a:pPr marL="165100" indent="-165100">
              <a:buSzPct val="100000"/>
              <a:buChar char="•"/>
            </a:pPr>
            <a:r>
              <a:rPr lang="en-US" sz="13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Einheit: –</a:t>
            </a:r>
            <a:endParaRPr lang="en-US" sz="1300" dirty="0"/>
          </a:p>
          <a:p>
            <a:pPr marL="165100" indent="-165100">
              <a:buSzPct val="100000"/>
              <a:buChar char="•"/>
            </a:pPr>
            <a:r>
              <a:rPr lang="en-US" sz="13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Beziehung: Gaswolke → Stern → Endstadium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F6FAD"/>
          </a:solidFill>
          <a:ln w="12700">
            <a:solidFill>
              <a:srgbClr val="2F6FAD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01752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2F6FA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STUFE 3 · ANWENDEN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Einfache Aufgaben und Rechenbeispiele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9509760" y="310896"/>
            <a:ext cx="2057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20" b="1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Klasse 8</a:t>
            </a:r>
            <a:endParaRPr lang="en-US" sz="1020" dirty="0"/>
          </a:p>
        </p:txBody>
      </p:sp>
      <p:sp>
        <p:nvSpPr>
          <p:cNvPr id="6" name="Shape 4"/>
          <p:cNvSpPr/>
          <p:nvPr/>
        </p:nvSpPr>
        <p:spPr>
          <a:xfrm>
            <a:off x="566928" y="1280160"/>
            <a:ext cx="11045952" cy="0"/>
          </a:xfrm>
          <a:prstGeom prst="line">
            <a:avLst/>
          </a:prstGeom>
          <a:noFill/>
          <a:ln w="12700">
            <a:solidFill>
              <a:srgbClr val="CDD8E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519672"/>
            <a:ext cx="5212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Fortlaufende Wiederholung · Physik NRW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137392" y="651967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58368" y="1463040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Rechne zunächst mit bewusst einfachen Zahlen und klaren Einzelschritten.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49808" y="1865376"/>
            <a:ext cx="10607040" cy="1124712"/>
          </a:xfrm>
          <a:prstGeom prst="roundRect">
            <a:avLst>
              <a:gd name="adj" fmla="val 4878"/>
            </a:avLst>
          </a:prstGeom>
          <a:solidFill>
            <a:srgbClr val="EAF3FB"/>
          </a:solidFill>
          <a:ln w="12700">
            <a:solidFill>
              <a:srgbClr val="CDD8E2"/>
            </a:solidFill>
            <a:prstDash val="solid"/>
          </a:ln>
          <a:effectLst>
            <a:outerShdw sx="100000" sy="100000" kx="0" ky="0" algn="bl" rotWithShape="0" blurRad="12700" dist="50800" dir="2700000">
              <a:srgbClr val="A8B8C7">
                <a:alpha val="11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49808" y="1865376"/>
            <a:ext cx="68580" cy="1124712"/>
          </a:xfrm>
          <a:prstGeom prst="rect">
            <a:avLst/>
          </a:prstGeom>
          <a:solidFill>
            <a:srgbClr val="2F6FAD"/>
          </a:solidFill>
          <a:ln w="12700">
            <a:solidFill>
              <a:srgbClr val="2F6FAD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50976" y="1984248"/>
            <a:ext cx="10259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Aufgabe 1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50976" y="2359152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Ein Lichtsignal bewegt sich mit c ≈ 300 000 km/s. Welche Strecke legt es in 2,0 s zurück?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749808" y="3227832"/>
            <a:ext cx="10607040" cy="1124712"/>
          </a:xfrm>
          <a:prstGeom prst="roundRect">
            <a:avLst>
              <a:gd name="adj" fmla="val 4878"/>
            </a:avLst>
          </a:prstGeom>
          <a:solidFill>
            <a:srgbClr val="E8F4F2"/>
          </a:solidFill>
          <a:ln w="12700">
            <a:solidFill>
              <a:srgbClr val="CDD8E2"/>
            </a:solidFill>
            <a:prstDash val="solid"/>
          </a:ln>
          <a:effectLst>
            <a:outerShdw sx="100000" sy="100000" kx="0" ky="0" algn="bl" rotWithShape="0" blurRad="12700" dist="50800" dir="2700000">
              <a:srgbClr val="A8B8C7">
                <a:alpha val="11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49808" y="3227832"/>
            <a:ext cx="68580" cy="1124712"/>
          </a:xfrm>
          <a:prstGeom prst="rect">
            <a:avLst/>
          </a:prstGeom>
          <a:solidFill>
            <a:srgbClr val="2C7A7B"/>
          </a:solidFill>
          <a:ln w="12700">
            <a:solidFill>
              <a:srgbClr val="2C7A7B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50976" y="3346704"/>
            <a:ext cx="10259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Aufgabe 2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50976" y="3721608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Ordne: Sonne, Erde, Mond – welcher Körper ist Stern, Planet bzw. Mond?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749808" y="4590288"/>
            <a:ext cx="10607040" cy="1124712"/>
          </a:xfrm>
          <a:prstGeom prst="roundRect">
            <a:avLst>
              <a:gd name="adj" fmla="val 4878"/>
            </a:avLst>
          </a:prstGeom>
          <a:solidFill>
            <a:srgbClr val="FFF4DE"/>
          </a:solidFill>
          <a:ln w="12700">
            <a:solidFill>
              <a:srgbClr val="CDD8E2"/>
            </a:solidFill>
            <a:prstDash val="solid"/>
          </a:ln>
          <a:effectLst>
            <a:outerShdw sx="100000" sy="100000" kx="0" ky="0" algn="bl" rotWithShape="0" blurRad="12700" dist="50800" dir="2700000">
              <a:srgbClr val="A8B8C7">
                <a:alpha val="11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49808" y="4590288"/>
            <a:ext cx="68580" cy="1124712"/>
          </a:xfrm>
          <a:prstGeom prst="rect">
            <a:avLst/>
          </a:prstGeom>
          <a:solidFill>
            <a:srgbClr val="D78C24"/>
          </a:solidFill>
          <a:ln w="12700">
            <a:solidFill>
              <a:srgbClr val="D78C24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50976" y="4709160"/>
            <a:ext cx="10259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Aufgabe 3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50976" y="5084064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Warum sieht man bei Vollmond die erdzugewandte Mondhälfte fast vollständig beleuchtet?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F6FAD"/>
          </a:solidFill>
          <a:ln w="12700">
            <a:solidFill>
              <a:srgbClr val="2F6FAD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01752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2F6FA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STUFE 4 · TRANSFER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Jetzt verknüpfen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9509760" y="310896"/>
            <a:ext cx="2057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20" b="1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Klasse 8</a:t>
            </a:r>
            <a:endParaRPr lang="en-US" sz="1020" dirty="0"/>
          </a:p>
        </p:txBody>
      </p:sp>
      <p:sp>
        <p:nvSpPr>
          <p:cNvPr id="6" name="Shape 4"/>
          <p:cNvSpPr/>
          <p:nvPr/>
        </p:nvSpPr>
        <p:spPr>
          <a:xfrm>
            <a:off x="566928" y="1280160"/>
            <a:ext cx="11045952" cy="0"/>
          </a:xfrm>
          <a:prstGeom prst="line">
            <a:avLst/>
          </a:prstGeom>
          <a:noFill/>
          <a:ln w="12700">
            <a:solidFill>
              <a:srgbClr val="CDD8E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519672"/>
            <a:ext cx="5212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Fortlaufende Wiederholung · Physik NRW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137392" y="651967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58368" y="1463040"/>
            <a:ext cx="10698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Hier musst du mehr als einen Gedanken verbinden oder das Modell begründet anwenden.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49808" y="1938528"/>
            <a:ext cx="10607040" cy="1600200"/>
          </a:xfrm>
          <a:prstGeom prst="roundRect">
            <a:avLst>
              <a:gd name="adj" fmla="val 3429"/>
            </a:avLst>
          </a:prstGeom>
          <a:solidFill>
            <a:srgbClr val="F2EEF8"/>
          </a:solidFill>
          <a:ln w="12700">
            <a:solidFill>
              <a:srgbClr val="CDD8E2"/>
            </a:solidFill>
            <a:prstDash val="solid"/>
          </a:ln>
          <a:effectLst>
            <a:outerShdw sx="100000" sy="100000" kx="0" ky="0" algn="bl" rotWithShape="0" blurRad="12700" dist="50800" dir="2700000">
              <a:srgbClr val="A8B8C7">
                <a:alpha val="11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49808" y="1938528"/>
            <a:ext cx="68580" cy="1600200"/>
          </a:xfrm>
          <a:prstGeom prst="rect">
            <a:avLst/>
          </a:prstGeom>
          <a:solidFill>
            <a:srgbClr val="735D9B"/>
          </a:solidFill>
          <a:ln w="12700">
            <a:solidFill>
              <a:srgbClr val="735D9B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50976" y="2057400"/>
            <a:ext cx="10259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Anwendung / Transfer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50976" y="2432304"/>
            <a:ext cx="1024128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Erkläre mit Sonne–Erde–Mond-Anordnung den Unterschied zwischen Sonnen- und Mondfinsternis.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749808" y="3840480"/>
            <a:ext cx="10607040" cy="1600200"/>
          </a:xfrm>
          <a:prstGeom prst="roundRect">
            <a:avLst>
              <a:gd name="adj" fmla="val 3429"/>
            </a:avLst>
          </a:prstGeom>
          <a:solidFill>
            <a:srgbClr val="EDF5EF"/>
          </a:solidFill>
          <a:ln w="12700">
            <a:solidFill>
              <a:srgbClr val="CDD8E2"/>
            </a:solidFill>
            <a:prstDash val="solid"/>
          </a:ln>
          <a:effectLst>
            <a:outerShdw sx="100000" sy="100000" kx="0" ky="0" algn="bl" rotWithShape="0" blurRad="12700" dist="50800" dir="2700000">
              <a:srgbClr val="A8B8C7">
                <a:alpha val="11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49808" y="3840480"/>
            <a:ext cx="68580" cy="1600200"/>
          </a:xfrm>
          <a:prstGeom prst="rect">
            <a:avLst/>
          </a:prstGeom>
          <a:solidFill>
            <a:srgbClr val="4E7A5A"/>
          </a:solidFill>
          <a:ln w="12700">
            <a:solidFill>
              <a:srgbClr val="4E7A5A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50976" y="3959352"/>
            <a:ext cx="10259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Konzeptfrage · Warum?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50976" y="4334256"/>
            <a:ext cx="1024128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Warum kann ein Spektrum Informationen über die chemische Zusammensetzung eines Sterns liefern, obwohl wir keine Probe entnehmen können?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2926080" y="5833872"/>
            <a:ext cx="6336792" cy="402336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12700">
            <a:solidFill>
              <a:srgbClr val="CDD8E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090672" y="5925312"/>
            <a:ext cx="5989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9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Strategie: Gegeben → Gesucht → Modell/Formel → Ergebnis → Plausibilität</a:t>
            </a:r>
            <a:endParaRPr lang="en-US" sz="109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F6FAD"/>
          </a:solidFill>
          <a:ln w="12700">
            <a:solidFill>
              <a:srgbClr val="2F6FAD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01752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2F6FA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STUFE 5 · DARSTELLEN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Sonne, Erde und Mond – Modell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9509760" y="310896"/>
            <a:ext cx="2057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20" b="1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Klasse 8</a:t>
            </a:r>
            <a:endParaRPr lang="en-US" sz="1020" dirty="0"/>
          </a:p>
        </p:txBody>
      </p:sp>
      <p:sp>
        <p:nvSpPr>
          <p:cNvPr id="6" name="Shape 4"/>
          <p:cNvSpPr/>
          <p:nvPr/>
        </p:nvSpPr>
        <p:spPr>
          <a:xfrm>
            <a:off x="566928" y="1280160"/>
            <a:ext cx="11045952" cy="0"/>
          </a:xfrm>
          <a:prstGeom prst="line">
            <a:avLst/>
          </a:prstGeom>
          <a:noFill/>
          <a:ln w="12700">
            <a:solidFill>
              <a:srgbClr val="CDD8E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519672"/>
            <a:ext cx="5212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Fortlaufende Wiederholung · Physik NRW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137392" y="651967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58368" y="1572768"/>
            <a:ext cx="7543800" cy="4526280"/>
          </a:xfrm>
          <a:prstGeom prst="roundRect">
            <a:avLst>
              <a:gd name="adj" fmla="val 1010"/>
            </a:avLst>
          </a:prstGeom>
          <a:solidFill>
            <a:srgbClr val="FFFFFF"/>
          </a:solidFill>
          <a:ln w="12700">
            <a:solidFill>
              <a:srgbClr val="CDD8E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660904" y="3200400"/>
            <a:ext cx="768096" cy="768096"/>
          </a:xfrm>
          <a:prstGeom prst="ellipse">
            <a:avLst/>
          </a:prstGeom>
          <a:solidFill>
            <a:srgbClr val="F6C34A"/>
          </a:solidFill>
          <a:ln w="12700">
            <a:solidFill>
              <a:srgbClr val="D78C2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33472" y="4087368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78C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Sonne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216152" y="2395728"/>
            <a:ext cx="3657600" cy="2377440"/>
          </a:xfrm>
          <a:prstGeom prst="ellipse">
            <a:avLst/>
          </a:prstGeom>
          <a:solidFill>
            <a:srgbClr val="FFFFFF">
              <a:alpha val="0"/>
            </a:srgbClr>
          </a:solidFill>
          <a:ln w="12700">
            <a:solidFill>
              <a:srgbClr val="8FA1B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462272" y="3401568"/>
            <a:ext cx="365760" cy="365760"/>
          </a:xfrm>
          <a:prstGeom prst="ellipse">
            <a:avLst/>
          </a:prstGeom>
          <a:solidFill>
            <a:srgbClr val="2F6FAD"/>
          </a:solidFill>
          <a:ln w="12700">
            <a:solidFill>
              <a:srgbClr val="2F6FA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79392" y="3858768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6FA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Erde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931920" y="3108960"/>
            <a:ext cx="1426464" cy="950976"/>
          </a:xfrm>
          <a:prstGeom prst="ellipse">
            <a:avLst/>
          </a:prstGeom>
          <a:solidFill>
            <a:srgbClr val="FFFFFF">
              <a:alpha val="0"/>
            </a:srgbClr>
          </a:solidFill>
          <a:ln w="12700">
            <a:solidFill>
              <a:srgbClr val="CDD8E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166360" y="3493008"/>
            <a:ext cx="182880" cy="182880"/>
          </a:xfrm>
          <a:prstGeom prst="ellipse">
            <a:avLst/>
          </a:prstGeom>
          <a:solidFill>
            <a:srgbClr val="607080"/>
          </a:solidFill>
          <a:ln w="12700">
            <a:solidFill>
              <a:srgbClr val="60708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56048" y="3767328"/>
            <a:ext cx="6035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Mond</a:t>
            </a:r>
            <a:endParaRPr lang="en-US" sz="930" dirty="0"/>
          </a:p>
        </p:txBody>
      </p:sp>
      <p:sp>
        <p:nvSpPr>
          <p:cNvPr id="18" name="Shape 16"/>
          <p:cNvSpPr/>
          <p:nvPr/>
        </p:nvSpPr>
        <p:spPr>
          <a:xfrm>
            <a:off x="3456432" y="3584448"/>
            <a:ext cx="1005840" cy="0"/>
          </a:xfrm>
          <a:prstGeom prst="line">
            <a:avLst/>
          </a:prstGeom>
          <a:noFill/>
          <a:ln w="17780">
            <a:solidFill>
              <a:srgbClr val="D78C24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8412480" y="1572768"/>
            <a:ext cx="3108960" cy="2011680"/>
          </a:xfrm>
          <a:prstGeom prst="roundRect">
            <a:avLst>
              <a:gd name="adj" fmla="val 2727"/>
            </a:avLst>
          </a:prstGeom>
          <a:solidFill>
            <a:srgbClr val="EAF3FB"/>
          </a:solidFill>
          <a:ln w="12700">
            <a:solidFill>
              <a:srgbClr val="CDD8E2"/>
            </a:solidFill>
            <a:prstDash val="solid"/>
          </a:ln>
          <a:effectLst>
            <a:outerShdw sx="100000" sy="100000" kx="0" ky="0" algn="bl" rotWithShape="0" blurRad="12700" dist="50800" dir="2700000">
              <a:srgbClr val="A8B8C7">
                <a:alpha val="11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412480" y="1572768"/>
            <a:ext cx="68580" cy="2011680"/>
          </a:xfrm>
          <a:prstGeom prst="rect">
            <a:avLst/>
          </a:prstGeom>
          <a:solidFill>
            <a:srgbClr val="2F6FAD"/>
          </a:solidFill>
          <a:ln w="12700">
            <a:solidFill>
              <a:srgbClr val="2F6FAD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613648" y="1691640"/>
            <a:ext cx="2761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Auswerten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8613648" y="2066544"/>
            <a:ext cx="2743200" cy="1389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65100" indent="-165100">
              <a:buSzPct val="100000"/>
              <a:buChar char="•"/>
            </a:pPr>
            <a:r>
              <a:rPr lang="en-US" sz="132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Welche Anordnung führt zu einer Sonnenfinsternis?</a:t>
            </a:r>
            <a:endParaRPr lang="en-US" sz="1320" dirty="0"/>
          </a:p>
          <a:p>
            <a:pPr marL="165100" indent="-165100">
              <a:buSzPct val="100000"/>
              <a:buChar char="•"/>
            </a:pPr>
            <a:r>
              <a:rPr lang="en-US" sz="132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Warum tritt nicht bei jedem Neumond eine Sonnenfinsternis auf?</a:t>
            </a:r>
            <a:endParaRPr lang="en-US" sz="1320" dirty="0"/>
          </a:p>
        </p:txBody>
      </p:sp>
      <p:sp>
        <p:nvSpPr>
          <p:cNvPr id="23" name="Shape 21"/>
          <p:cNvSpPr/>
          <p:nvPr/>
        </p:nvSpPr>
        <p:spPr>
          <a:xfrm>
            <a:off x="8412480" y="3794760"/>
            <a:ext cx="3108960" cy="2304288"/>
          </a:xfrm>
          <a:prstGeom prst="roundRect">
            <a:avLst>
              <a:gd name="adj" fmla="val 2381"/>
            </a:avLst>
          </a:prstGeom>
          <a:solidFill>
            <a:srgbClr val="E8F4F2"/>
          </a:solidFill>
          <a:ln w="12700">
            <a:solidFill>
              <a:srgbClr val="CDD8E2"/>
            </a:solidFill>
            <a:prstDash val="solid"/>
          </a:ln>
          <a:effectLst>
            <a:outerShdw sx="100000" sy="100000" kx="0" ky="0" algn="bl" rotWithShape="0" blurRad="12700" dist="50800" dir="2700000">
              <a:srgbClr val="A8B8C7">
                <a:alpha val="11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8412480" y="3794760"/>
            <a:ext cx="68580" cy="2304288"/>
          </a:xfrm>
          <a:prstGeom prst="rect">
            <a:avLst/>
          </a:prstGeom>
          <a:solidFill>
            <a:srgbClr val="2C7A7B"/>
          </a:solidFill>
          <a:ln w="12700">
            <a:solidFill>
              <a:srgbClr val="2C7A7B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613648" y="3913632"/>
            <a:ext cx="2761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3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Darstellungssprache</a:t>
            </a:r>
            <a:endParaRPr lang="en-US" sz="1430" dirty="0"/>
          </a:p>
        </p:txBody>
      </p:sp>
      <p:sp>
        <p:nvSpPr>
          <p:cNvPr id="26" name="Text 24"/>
          <p:cNvSpPr/>
          <p:nvPr/>
        </p:nvSpPr>
        <p:spPr>
          <a:xfrm>
            <a:off x="8613648" y="4288536"/>
            <a:ext cx="2743200" cy="16824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65100" indent="-165100">
              <a:buSzPct val="100000"/>
              <a:buChar char="•"/>
            </a:pPr>
            <a:r>
              <a:rPr lang="en-US" sz="126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Achsen + Einheiten prüfen</a:t>
            </a:r>
            <a:endParaRPr lang="en-US" sz="1260" dirty="0"/>
          </a:p>
          <a:p>
            <a:pPr marL="165100" indent="-165100">
              <a:buSzPct val="100000"/>
              <a:buChar char="•"/>
            </a:pPr>
            <a:r>
              <a:rPr lang="en-US" sz="126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Trend beschreiben</a:t>
            </a:r>
            <a:endParaRPr lang="en-US" sz="1260" dirty="0"/>
          </a:p>
          <a:p>
            <a:pPr marL="165100" indent="-165100">
              <a:buSzPct val="100000"/>
              <a:buChar char="•"/>
            </a:pPr>
            <a:r>
              <a:rPr lang="en-US" sz="126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mit Fachbegriff/Formel begründen</a:t>
            </a:r>
            <a:endParaRPr lang="en-US" sz="126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F6FAD"/>
          </a:solidFill>
          <a:ln w="12700">
            <a:solidFill>
              <a:srgbClr val="2F6FAD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01752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2F6FA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SICHERUNG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Lösungen und Exit-Ticket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9509760" y="310896"/>
            <a:ext cx="2057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20" b="1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Klasse 8</a:t>
            </a:r>
            <a:endParaRPr lang="en-US" sz="1020" dirty="0"/>
          </a:p>
        </p:txBody>
      </p:sp>
      <p:sp>
        <p:nvSpPr>
          <p:cNvPr id="6" name="Shape 4"/>
          <p:cNvSpPr/>
          <p:nvPr/>
        </p:nvSpPr>
        <p:spPr>
          <a:xfrm>
            <a:off x="566928" y="1280160"/>
            <a:ext cx="11045952" cy="0"/>
          </a:xfrm>
          <a:prstGeom prst="line">
            <a:avLst/>
          </a:prstGeom>
          <a:noFill/>
          <a:ln w="12700">
            <a:solidFill>
              <a:srgbClr val="CDD8E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519672"/>
            <a:ext cx="5212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Fortlaufende Wiederholung · Physik NRW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137392" y="651967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58368" y="1444752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Erst nach eigener Bearbeitung einblenden.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58368" y="1810512"/>
            <a:ext cx="5340096" cy="1060704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12700">
            <a:solidFill>
              <a:srgbClr val="CDD8E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8368" y="1810512"/>
            <a:ext cx="68580" cy="1060704"/>
          </a:xfrm>
          <a:prstGeom prst="rect">
            <a:avLst/>
          </a:prstGeom>
          <a:solidFill>
            <a:srgbClr val="2F6FAD"/>
          </a:solidFill>
          <a:ln w="12700">
            <a:solidFill>
              <a:srgbClr val="2F6FAD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9536" y="1929384"/>
            <a:ext cx="4992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8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Warm-up</a:t>
            </a:r>
            <a:endParaRPr lang="en-US" sz="1180" dirty="0"/>
          </a:p>
        </p:txBody>
      </p:sp>
      <p:sp>
        <p:nvSpPr>
          <p:cNvPr id="13" name="Text 11"/>
          <p:cNvSpPr/>
          <p:nvPr/>
        </p:nvSpPr>
        <p:spPr>
          <a:xfrm>
            <a:off x="859536" y="2304288"/>
            <a:ext cx="49743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6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Warm-up: reflektiertes Sonnenlicht; nein; Entfernung; Neigung der Erdachse; Sterne erzeugen selbst Strahlungsenergie.</a:t>
            </a:r>
            <a:endParaRPr lang="en-US" sz="1160" dirty="0"/>
          </a:p>
        </p:txBody>
      </p:sp>
      <p:sp>
        <p:nvSpPr>
          <p:cNvPr id="14" name="Shape 12"/>
          <p:cNvSpPr/>
          <p:nvPr/>
        </p:nvSpPr>
        <p:spPr>
          <a:xfrm>
            <a:off x="6181344" y="1810512"/>
            <a:ext cx="5340096" cy="1060704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12700">
            <a:solidFill>
              <a:srgbClr val="CDD8E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81344" y="1810512"/>
            <a:ext cx="68580" cy="1060704"/>
          </a:xfrm>
          <a:prstGeom prst="rect">
            <a:avLst/>
          </a:prstGeom>
          <a:solidFill>
            <a:srgbClr val="2C7A7B"/>
          </a:solidFill>
          <a:ln w="12700">
            <a:solidFill>
              <a:srgbClr val="2C7A7B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82512" y="1929384"/>
            <a:ext cx="4992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8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Basis 1</a:t>
            </a:r>
            <a:endParaRPr lang="en-US" sz="1180" dirty="0"/>
          </a:p>
        </p:txBody>
      </p:sp>
      <p:sp>
        <p:nvSpPr>
          <p:cNvPr id="17" name="Text 15"/>
          <p:cNvSpPr/>
          <p:nvPr/>
        </p:nvSpPr>
        <p:spPr>
          <a:xfrm>
            <a:off x="6382512" y="2304288"/>
            <a:ext cx="49743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6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Basis 1: 600 000 km.</a:t>
            </a:r>
            <a:endParaRPr lang="en-US" sz="1160" dirty="0"/>
          </a:p>
        </p:txBody>
      </p:sp>
      <p:sp>
        <p:nvSpPr>
          <p:cNvPr id="18" name="Shape 16"/>
          <p:cNvSpPr/>
          <p:nvPr/>
        </p:nvSpPr>
        <p:spPr>
          <a:xfrm>
            <a:off x="658368" y="3063240"/>
            <a:ext cx="5340096" cy="1060704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12700">
            <a:solidFill>
              <a:srgbClr val="CDD8E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" y="3063240"/>
            <a:ext cx="68580" cy="1060704"/>
          </a:xfrm>
          <a:prstGeom prst="rect">
            <a:avLst/>
          </a:prstGeom>
          <a:solidFill>
            <a:srgbClr val="2C7A7B"/>
          </a:solidFill>
          <a:ln w="12700">
            <a:solidFill>
              <a:srgbClr val="2C7A7B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59536" y="3182112"/>
            <a:ext cx="4992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8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Basis 2</a:t>
            </a:r>
            <a:endParaRPr lang="en-US" sz="1180" dirty="0"/>
          </a:p>
        </p:txBody>
      </p:sp>
      <p:sp>
        <p:nvSpPr>
          <p:cNvPr id="21" name="Text 19"/>
          <p:cNvSpPr/>
          <p:nvPr/>
        </p:nvSpPr>
        <p:spPr>
          <a:xfrm>
            <a:off x="859536" y="3557016"/>
            <a:ext cx="49743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6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Basis 2: Sonne Stern, Erde Planet, Mond natürlicher Satellit.</a:t>
            </a:r>
            <a:endParaRPr lang="en-US" sz="1160" dirty="0"/>
          </a:p>
        </p:txBody>
      </p:sp>
      <p:sp>
        <p:nvSpPr>
          <p:cNvPr id="22" name="Shape 20"/>
          <p:cNvSpPr/>
          <p:nvPr/>
        </p:nvSpPr>
        <p:spPr>
          <a:xfrm>
            <a:off x="6181344" y="3063240"/>
            <a:ext cx="5340096" cy="1060704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12700">
            <a:solidFill>
              <a:srgbClr val="CDD8E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181344" y="3063240"/>
            <a:ext cx="68580" cy="1060704"/>
          </a:xfrm>
          <a:prstGeom prst="rect">
            <a:avLst/>
          </a:prstGeom>
          <a:solidFill>
            <a:srgbClr val="2C7A7B"/>
          </a:solidFill>
          <a:ln w="12700">
            <a:solidFill>
              <a:srgbClr val="2C7A7B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82512" y="3182112"/>
            <a:ext cx="4992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8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Basis 3</a:t>
            </a:r>
            <a:endParaRPr lang="en-US" sz="1180" dirty="0"/>
          </a:p>
        </p:txBody>
      </p:sp>
      <p:sp>
        <p:nvSpPr>
          <p:cNvPr id="25" name="Text 23"/>
          <p:cNvSpPr/>
          <p:nvPr/>
        </p:nvSpPr>
        <p:spPr>
          <a:xfrm>
            <a:off x="6382512" y="3557016"/>
            <a:ext cx="49743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6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Basis 3: Die beleuchtete Mondhälfte zeigt dann weitgehend zur Erde.</a:t>
            </a:r>
            <a:endParaRPr lang="en-US" sz="1160" dirty="0"/>
          </a:p>
        </p:txBody>
      </p:sp>
      <p:sp>
        <p:nvSpPr>
          <p:cNvPr id="26" name="Shape 24"/>
          <p:cNvSpPr/>
          <p:nvPr/>
        </p:nvSpPr>
        <p:spPr>
          <a:xfrm>
            <a:off x="658368" y="4315968"/>
            <a:ext cx="5340096" cy="1060704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12700">
            <a:solidFill>
              <a:srgbClr val="CDD8E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58368" y="4315968"/>
            <a:ext cx="68580" cy="1060704"/>
          </a:xfrm>
          <a:prstGeom prst="rect">
            <a:avLst/>
          </a:prstGeom>
          <a:solidFill>
            <a:srgbClr val="735D9B"/>
          </a:solidFill>
          <a:ln w="12700">
            <a:solidFill>
              <a:srgbClr val="735D9B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59536" y="4434840"/>
            <a:ext cx="4992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8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Anwendung</a:t>
            </a:r>
            <a:endParaRPr lang="en-US" sz="1180" dirty="0"/>
          </a:p>
        </p:txBody>
      </p:sp>
      <p:sp>
        <p:nvSpPr>
          <p:cNvPr id="29" name="Text 27"/>
          <p:cNvSpPr/>
          <p:nvPr/>
        </p:nvSpPr>
        <p:spPr>
          <a:xfrm>
            <a:off x="859536" y="4809744"/>
            <a:ext cx="49743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6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Transfer 1: Sonnenfinsternis: Mond zwischen Sonne/Erde; Mondfinsternis: Erde zwischen Sonne/Mond.</a:t>
            </a:r>
            <a:endParaRPr lang="en-US" sz="1160" dirty="0"/>
          </a:p>
        </p:txBody>
      </p:sp>
      <p:sp>
        <p:nvSpPr>
          <p:cNvPr id="30" name="Shape 28"/>
          <p:cNvSpPr/>
          <p:nvPr/>
        </p:nvSpPr>
        <p:spPr>
          <a:xfrm>
            <a:off x="6181344" y="4315968"/>
            <a:ext cx="5340096" cy="1060704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12700">
            <a:solidFill>
              <a:srgbClr val="CDD8E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181344" y="4315968"/>
            <a:ext cx="68580" cy="1060704"/>
          </a:xfrm>
          <a:prstGeom prst="rect">
            <a:avLst/>
          </a:prstGeom>
          <a:solidFill>
            <a:srgbClr val="735D9B"/>
          </a:solidFill>
          <a:ln w="12700">
            <a:solidFill>
              <a:srgbClr val="735D9B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82512" y="4434840"/>
            <a:ext cx="4992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8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Konzeptfrage</a:t>
            </a:r>
            <a:endParaRPr lang="en-US" sz="1180" dirty="0"/>
          </a:p>
        </p:txBody>
      </p:sp>
      <p:sp>
        <p:nvSpPr>
          <p:cNvPr id="33" name="Text 31"/>
          <p:cNvSpPr/>
          <p:nvPr/>
        </p:nvSpPr>
        <p:spPr>
          <a:xfrm>
            <a:off x="6382512" y="4809744"/>
            <a:ext cx="49743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6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Transfer 2: Elemente besitzen charakteristische Spektrallinien.</a:t>
            </a:r>
            <a:endParaRPr lang="en-US" sz="1160" dirty="0"/>
          </a:p>
        </p:txBody>
      </p:sp>
      <p:sp>
        <p:nvSpPr>
          <p:cNvPr id="34" name="Shape 32"/>
          <p:cNvSpPr/>
          <p:nvPr/>
        </p:nvSpPr>
        <p:spPr>
          <a:xfrm>
            <a:off x="749808" y="5650992"/>
            <a:ext cx="10607040" cy="612648"/>
          </a:xfrm>
          <a:prstGeom prst="roundRect">
            <a:avLst>
              <a:gd name="adj" fmla="val 8955"/>
            </a:avLst>
          </a:prstGeom>
          <a:solidFill>
            <a:srgbClr val="FFF4DE"/>
          </a:solidFill>
          <a:ln w="15240">
            <a:solidFill>
              <a:srgbClr val="D78C2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32688" y="5815584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78C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EXIT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1664208" y="5733288"/>
            <a:ext cx="94183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Erkläre in einem Satz, warum „Lichtjahr“ keine Zeiteinheit ist.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Rivius Gymnasium Attendorn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Sterne und Weltall – Wiederholung</dc:title>
  <dc:subject>KLP-basierte Wiederholung: Sterne und Weltall</dc:subject>
  <dc:creator>Jonathan Hardenacke</dc:creator>
  <cp:lastModifiedBy>Jonathan Hardenacke</cp:lastModifiedBy>
  <cp:revision>1</cp:revision>
  <dcterms:created xsi:type="dcterms:W3CDTF">2026-09-12T09:38:45Z</dcterms:created>
  <dcterms:modified xsi:type="dcterms:W3CDTF">2026-09-12T09:38:45Z</dcterms:modified>
</cp:coreProperties>
</file>