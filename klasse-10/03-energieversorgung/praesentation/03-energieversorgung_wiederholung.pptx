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143000"/>
            <a:ext cx="5303520" cy="5303520"/>
          </a:xfrm>
          <a:prstGeom prst="ellipse">
            <a:avLst/>
          </a:prstGeom>
          <a:solidFill>
            <a:srgbClr val="4C88C2">
              <a:alpha val="88000"/>
            </a:srgbClr>
          </a:solidFill>
          <a:ln w="12700">
            <a:solidFill>
              <a:srgbClr val="4C88C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4251960"/>
            <a:ext cx="2514600" cy="2514600"/>
          </a:xfrm>
          <a:prstGeom prst="ellipse">
            <a:avLst/>
          </a:prstGeom>
          <a:solidFill>
            <a:srgbClr val="2C7A7B">
              <a:alpha val="80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61872"/>
            <a:ext cx="1051560" cy="0"/>
          </a:xfrm>
          <a:prstGeom prst="line">
            <a:avLst/>
          </a:prstGeom>
          <a:noFill/>
          <a:ln w="50800">
            <a:solidFill>
              <a:srgbClr val="6DB2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583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8D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8641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Energieversorgung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49808" y="3246120"/>
            <a:ext cx="6309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E5F0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KLP-basierte Wiederholung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9808" y="3776472"/>
            <a:ext cx="7132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ED2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Vom sicheren Abruf über einfache Anwendungen bis zum Transfer.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49808" y="4892040"/>
            <a:ext cx="4617720" cy="658368"/>
          </a:xfrm>
          <a:prstGeom prst="roundRect">
            <a:avLst>
              <a:gd name="adj" fmla="val 8333"/>
            </a:avLst>
          </a:prstGeom>
          <a:solidFill>
            <a:srgbClr val="1E425F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50749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E2EE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Abrufen    2  Verstehen    3  Rechnen    4  Transfer</a:t>
            </a:r>
            <a:endParaRPr lang="en-US" sz="1170" dirty="0"/>
          </a:p>
        </p:txBody>
      </p:sp>
      <p:sp>
        <p:nvSpPr>
          <p:cNvPr id="11" name="Text 9"/>
          <p:cNvSpPr/>
          <p:nvPr/>
        </p:nvSpPr>
        <p:spPr>
          <a:xfrm>
            <a:off x="749808" y="621792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A9C2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KLP-Recherche: 2026-09-12</a:t>
            </a:r>
            <a:endParaRPr lang="en-US" sz="9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KLP-KOMPASS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Inhaltsfeld 11: Energieversorgung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649224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00200"/>
            <a:ext cx="68580" cy="429768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19072"/>
            <a:ext cx="6144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Verbindliche fachliche Schwerpunkte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59536" y="2093976"/>
            <a:ext cx="6126480" cy="3675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Induktion und Elektromagnetismus: Elektromotor, Generator, Wechselspannung, Transformator</a:t>
            </a:r>
            <a:endParaRPr lang="en-US" sz="1500" dirty="0"/>
          </a:p>
          <a:p>
            <a:pPr marL="165100" indent="-165100">
              <a:buSzPct val="100000"/>
              <a:buChar char="•"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Bereitstellung und Nutzung: Kraftwerke, regenerative Anlagen, Energieübertragung, Energieentwertung, Wirkungsgrad, Nachhaltigkeit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60920" y="1600200"/>
            <a:ext cx="4160520" cy="2029968"/>
          </a:xfrm>
          <a:prstGeom prst="roundRect">
            <a:avLst>
              <a:gd name="adj" fmla="val 2703"/>
            </a:avLst>
          </a:prstGeom>
          <a:solidFill>
            <a:srgbClr val="E8F4F2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60920" y="1600200"/>
            <a:ext cx="68580" cy="2029968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62088" y="1719072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du am Ende können sollst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562088" y="2093976"/>
            <a:ext cx="3794760" cy="1408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Elektromagnetische Induktion als Grundlage der Spannungserzeugung erklären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Generator, Elektromotor und Transformator funktional beschreiben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Energieübertragung im Stromnetz begründen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Wirkungsgrad und Energieentwertung einordnen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360920" y="3840480"/>
            <a:ext cx="4160520" cy="2057400"/>
          </a:xfrm>
          <a:prstGeom prst="roundRect">
            <a:avLst>
              <a:gd name="adj" fmla="val 2667"/>
            </a:avLst>
          </a:prstGeom>
          <a:solidFill>
            <a:srgbClr val="FFF4DE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60920" y="3840480"/>
            <a:ext cx="68580" cy="2057400"/>
          </a:xfrm>
          <a:prstGeom prst="rect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62088" y="3959352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Lernweg dieser Präsentation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562088" y="4334256"/>
            <a:ext cx="3794760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sehr leichte Abruffragen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Formeln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einfache Aufgaben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und Grafik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13232" y="606247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 Physik NRW 2019 · S. 43–45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1 · ABRUFEN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Leichter Einstieg → sicherer Abruf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7218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Fragen 1–2 sind bewusst sehr leicht. Danach wird der Abruf schrittweise fachlicher.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856232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" y="1938528"/>
            <a:ext cx="493776" cy="493776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544" y="1947672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9344" y="1947672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Energieumwandlung findet im Generator statt?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9808" y="2670048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3544" y="2752344"/>
            <a:ext cx="493776" cy="493776"/>
          </a:xfrm>
          <a:prstGeom prst="ellipse">
            <a:avLst/>
          </a:prstGeom>
          <a:solidFill>
            <a:srgbClr val="4C88C2"/>
          </a:solidFill>
          <a:ln w="12700">
            <a:solidFill>
              <a:srgbClr val="4C88C2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" y="2761488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9344" y="2761488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grundlegende Erscheinung nutzt ein Generator?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49808" y="3483864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3544" y="3566160"/>
            <a:ext cx="493776" cy="493776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" y="3575304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09344" y="3575304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benötigt ein Transformator Wechselspannung?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49808" y="4297680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3544" y="4379976"/>
            <a:ext cx="493776" cy="493776"/>
          </a:xfrm>
          <a:prstGeom prst="ellipse">
            <a:avLst/>
          </a:prstGeom>
          <a:solidFill>
            <a:srgbClr val="4E7A5A"/>
          </a:solidFill>
          <a:ln w="12700">
            <a:solidFill>
              <a:srgbClr val="4E7A5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" y="4389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9344" y="4389120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ist der Wirkungsgrad definiert?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49808" y="5111496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3544" y="5193792"/>
            <a:ext cx="493776" cy="493776"/>
          </a:xfrm>
          <a:prstGeom prst="ellipse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3544" y="5202936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609344" y="5202936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wird elektrische Energie über weite Strecken mit hoher Spannung übertragen?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2 · VERSTEHEN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Fachbegriffe und Formeln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0F4F7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00200"/>
            <a:ext cx="68580" cy="1938528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1907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Induktion</a:t>
            </a:r>
            <a:endParaRPr lang="en-US" sz="1530" dirty="0"/>
          </a:p>
        </p:txBody>
      </p:sp>
      <p:sp>
        <p:nvSpPr>
          <p:cNvPr id="12" name="Text 10"/>
          <p:cNvSpPr/>
          <p:nvPr/>
        </p:nvSpPr>
        <p:spPr>
          <a:xfrm>
            <a:off x="859536" y="2093976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Spannungsentstehung durch Änderung des magnetischen Flusses.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–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Beziehung: Änderung des magnetischen Flusses → U_ind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1600200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81344" y="1600200"/>
            <a:ext cx="68580" cy="1938528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171907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Wechselspannung U</a:t>
            </a:r>
            <a:endParaRPr lang="en-US" sz="1530" dirty="0"/>
          </a:p>
        </p:txBody>
      </p:sp>
      <p:sp>
        <p:nvSpPr>
          <p:cNvPr id="16" name="Text 14"/>
          <p:cNvSpPr/>
          <p:nvPr/>
        </p:nvSpPr>
        <p:spPr>
          <a:xfrm>
            <a:off x="6382512" y="2093976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Spannung, deren Richtung und Betrag sich periodisch ändern.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V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" y="3822192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0F4F7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822192"/>
            <a:ext cx="68580" cy="1938528"/>
          </a:xfrm>
          <a:prstGeom prst="rect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94106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Leistung P</a:t>
            </a:r>
            <a:endParaRPr lang="en-US" sz="1530" dirty="0"/>
          </a:p>
        </p:txBody>
      </p:sp>
      <p:sp>
        <p:nvSpPr>
          <p:cNvPr id="20" name="Text 18"/>
          <p:cNvSpPr/>
          <p:nvPr/>
        </p:nvSpPr>
        <p:spPr>
          <a:xfrm>
            <a:off x="859536" y="4315968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Energieübertragung pro Zeit.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822192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81344" y="3822192"/>
            <a:ext cx="68580" cy="1938528"/>
          </a:xfrm>
          <a:prstGeom prst="rect">
            <a:avLst/>
          </a:prstGeom>
          <a:solidFill>
            <a:srgbClr val="4E7A5A"/>
          </a:solidFill>
          <a:ln w="12700">
            <a:solidFill>
              <a:srgbClr val="4E7A5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394106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Wirkungsgrad η</a:t>
            </a:r>
            <a:endParaRPr lang="en-US" sz="1530" dirty="0"/>
          </a:p>
        </p:txBody>
      </p:sp>
      <p:sp>
        <p:nvSpPr>
          <p:cNvPr id="24" name="Text 22"/>
          <p:cNvSpPr/>
          <p:nvPr/>
        </p:nvSpPr>
        <p:spPr>
          <a:xfrm>
            <a:off x="6382512" y="4315968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Anteil der zugeführten Energie/Leistung, der nutzbar wird.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1 bzw. %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Beziehung: η = E_nutz/E_zu = P_nutz/P_zu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3 · ANWENDEN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Einfache Aufgaben und Rechenbeispiele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6304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Rechne zunächst mit bewusst einfachen Zahlen und klaren Einzelschritten.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10607040" cy="1124712"/>
          </a:xfrm>
          <a:prstGeom prst="roundRect">
            <a:avLst>
              <a:gd name="adj" fmla="val 4878"/>
            </a:avLst>
          </a:prstGeom>
          <a:solidFill>
            <a:srgbClr val="EAF3FB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1865376"/>
            <a:ext cx="68580" cy="112471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1984248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Aufgabe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35915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idealer Trafo hat N₁ = 1000, N₂ = 100 und U₁ = 230 V. Berechne U₂.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50976" y="2560320"/>
            <a:ext cx="3566160" cy="246888"/>
          </a:xfrm>
          <a:prstGeom prst="roundRect">
            <a:avLst>
              <a:gd name="adj" fmla="val 1481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2F6FAD">
                <a:alpha val="2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2596896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U₁/U₂ = N₁/N₂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749808" y="3227832"/>
            <a:ext cx="10607040" cy="1124712"/>
          </a:xfrm>
          <a:prstGeom prst="roundRect">
            <a:avLst>
              <a:gd name="adj" fmla="val 4878"/>
            </a:avLst>
          </a:prstGeom>
          <a:solidFill>
            <a:srgbClr val="E8F4F2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3227832"/>
            <a:ext cx="68580" cy="112471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3346704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Aufgabe 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7216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Energiewandler erhält 500 J und gibt 400 J nutzbar ab. Berechne η.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49808" y="4590288"/>
            <a:ext cx="10607040" cy="1124712"/>
          </a:xfrm>
          <a:prstGeom prst="roundRect">
            <a:avLst>
              <a:gd name="adj" fmla="val 4878"/>
            </a:avLst>
          </a:prstGeom>
          <a:solidFill>
            <a:srgbClr val="FFF4DE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4590288"/>
            <a:ext cx="68580" cy="1124712"/>
          </a:xfrm>
          <a:prstGeom prst="rect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" y="4709160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Aufgabe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0976" y="508406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 kW werden bei 100 V übertragen. Wie groß ist der Strom? Vergleiche mit 10 V.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50976" y="5285232"/>
            <a:ext cx="3566160" cy="246888"/>
          </a:xfrm>
          <a:prstGeom prst="roundRect">
            <a:avLst>
              <a:gd name="adj" fmla="val 1481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78C24">
                <a:alpha val="2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0704" y="532180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D78C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P = U·I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4 · TRANSFER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Jetzt verknüpfen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6304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Hier musst du mehr als einen Gedanken verbinden oder das Modell begründet anwenden.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938528"/>
            <a:ext cx="10607040" cy="1600200"/>
          </a:xfrm>
          <a:prstGeom prst="roundRect">
            <a:avLst>
              <a:gd name="adj" fmla="val 3429"/>
            </a:avLst>
          </a:prstGeom>
          <a:solidFill>
            <a:srgbClr val="F2EEF8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1938528"/>
            <a:ext cx="68580" cy="1600200"/>
          </a:xfrm>
          <a:prstGeom prst="rect">
            <a:avLst/>
          </a:prstGeom>
          <a:solidFill>
            <a:srgbClr val="735D9B"/>
          </a:solidFill>
          <a:ln w="12700">
            <a:solidFill>
              <a:srgbClr val="735D9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2057400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Anwendung / Transfer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432304"/>
            <a:ext cx="102412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Begründe mit P_Verlust = I²R, warum Hochspannung Leitungsverluste verringert.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49808" y="3840480"/>
            <a:ext cx="10607040" cy="1600200"/>
          </a:xfrm>
          <a:prstGeom prst="roundRect">
            <a:avLst>
              <a:gd name="adj" fmla="val 3429"/>
            </a:avLst>
          </a:prstGeom>
          <a:solidFill>
            <a:srgbClr val="EDF5E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3840480"/>
            <a:ext cx="68580" cy="1600200"/>
          </a:xfrm>
          <a:prstGeom prst="rect">
            <a:avLst/>
          </a:prstGeom>
          <a:solidFill>
            <a:srgbClr val="4E7A5A"/>
          </a:solidFill>
          <a:ln w="12700">
            <a:solidFill>
              <a:srgbClr val="4E7A5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3959352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Konzeptfrage · Warum?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4334256"/>
            <a:ext cx="102412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Vergleiche Windkraft und Gaskraftwerk anhand von mindestens drei Kriterien (Verfügbarkeit, Emissionen, Speicher/Regelbarkeit, Flächenbedarf …).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926080" y="5833872"/>
            <a:ext cx="6336792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90672" y="5925312"/>
            <a:ext cx="5989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9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Strategie: Gegeben → Gesucht → Modell/Formel → Ergebnis → Plausibilität</a:t>
            </a:r>
            <a:endParaRPr lang="en-US" sz="10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5 · DARSTELLEN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Vom Kraftwerk bis zum Haushalt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572768"/>
            <a:ext cx="7543800" cy="452628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2990088"/>
            <a:ext cx="10515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2C7A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323697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C7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Generator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30552" y="3511296"/>
            <a:ext cx="361188" cy="0"/>
          </a:xfrm>
          <a:prstGeom prst="line">
            <a:avLst/>
          </a:prstGeom>
          <a:noFill/>
          <a:ln w="21590">
            <a:solidFill>
              <a:srgbClr val="20304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91740" y="2990088"/>
            <a:ext cx="10515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2F6FA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83180" y="323697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Trafo ↑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43300" y="3511296"/>
            <a:ext cx="361188" cy="0"/>
          </a:xfrm>
          <a:prstGeom prst="line">
            <a:avLst/>
          </a:prstGeom>
          <a:noFill/>
          <a:ln w="21590">
            <a:solidFill>
              <a:srgbClr val="20304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904488" y="2990088"/>
            <a:ext cx="10515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8FA1B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95928" y="323697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A1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Hochspannungsnetz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956048" y="3511296"/>
            <a:ext cx="361188" cy="0"/>
          </a:xfrm>
          <a:prstGeom prst="line">
            <a:avLst/>
          </a:prstGeom>
          <a:noFill/>
          <a:ln w="21590">
            <a:solidFill>
              <a:srgbClr val="20304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17236" y="2990088"/>
            <a:ext cx="10515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2F6FA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08676" y="323697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Trafo ↓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68796" y="3511296"/>
            <a:ext cx="361188" cy="0"/>
          </a:xfrm>
          <a:prstGeom prst="line">
            <a:avLst/>
          </a:prstGeom>
          <a:noFill/>
          <a:ln w="21590">
            <a:solidFill>
              <a:srgbClr val="20304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29984" y="2990088"/>
            <a:ext cx="10515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D78C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21424" y="323697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78C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Haushalt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41832" y="42702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C7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mechanisch → elektrisch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862072" y="4590288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Spannung hoch: kleinere Stromstärke → geringere Leitungsverluste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8412480" y="1572768"/>
            <a:ext cx="3108960" cy="2011680"/>
          </a:xfrm>
          <a:prstGeom prst="roundRect">
            <a:avLst>
              <a:gd name="adj" fmla="val 2727"/>
            </a:avLst>
          </a:prstGeom>
          <a:solidFill>
            <a:srgbClr val="EAF3FB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412480" y="1572768"/>
            <a:ext cx="68580" cy="201168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3648" y="169164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Auswerten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8613648" y="2066544"/>
            <a:ext cx="2743200" cy="1389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welchen Stationen wird die Spannung verändert?</a:t>
            </a:r>
            <a:endParaRPr lang="en-US" sz="1320" dirty="0"/>
          </a:p>
          <a:p>
            <a:pPr marL="165100" indent="-1651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Energieumwandlung findet im Generator statt?</a:t>
            </a:r>
            <a:endParaRPr lang="en-US" sz="1320" dirty="0"/>
          </a:p>
        </p:txBody>
      </p:sp>
      <p:sp>
        <p:nvSpPr>
          <p:cNvPr id="30" name="Shape 28"/>
          <p:cNvSpPr/>
          <p:nvPr/>
        </p:nvSpPr>
        <p:spPr>
          <a:xfrm>
            <a:off x="8412480" y="3794760"/>
            <a:ext cx="3108960" cy="2304288"/>
          </a:xfrm>
          <a:prstGeom prst="roundRect">
            <a:avLst>
              <a:gd name="adj" fmla="val 2381"/>
            </a:avLst>
          </a:prstGeom>
          <a:solidFill>
            <a:srgbClr val="E8F4F2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12480" y="3794760"/>
            <a:ext cx="68580" cy="2304288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13648" y="3913632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Darstellungssprache</a:t>
            </a:r>
            <a:endParaRPr lang="en-US" sz="1430" dirty="0"/>
          </a:p>
        </p:txBody>
      </p:sp>
      <p:sp>
        <p:nvSpPr>
          <p:cNvPr id="33" name="Text 31"/>
          <p:cNvSpPr/>
          <p:nvPr/>
        </p:nvSpPr>
        <p:spPr>
          <a:xfrm>
            <a:off x="8613648" y="4288536"/>
            <a:ext cx="2743200" cy="16824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Achsen + Einheiten prüfen</a:t>
            </a:r>
            <a:endParaRPr lang="en-US" sz="1260" dirty="0"/>
          </a:p>
          <a:p>
            <a:pPr marL="165100" indent="-165100">
              <a:buSzPct val="100000"/>
              <a:buChar char="•"/>
            </a:pPr>
            <a:r>
              <a:rPr lang="en-US" sz="12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 beschreiben</a:t>
            </a:r>
            <a:endParaRPr lang="en-US" sz="1260" dirty="0"/>
          </a:p>
          <a:p>
            <a:pPr marL="165100" indent="-165100">
              <a:buSzPct val="100000"/>
              <a:buChar char="•"/>
            </a:pPr>
            <a:r>
              <a:rPr lang="en-US" sz="12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 Fachbegriff/Formel begründen</a:t>
            </a:r>
            <a:endParaRPr lang="en-US" sz="12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SICHERUNG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Lösungen und Exit-Ticket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4475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Erst nach eigener Bearbeitung einblenden.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1810512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810512"/>
            <a:ext cx="68580" cy="1060704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92938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Warm-up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859536" y="2304288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Warm-up: mechanisch → elektrisch; elektromagnetische Induktion; nur zeitlich veränderlicher Fluss koppelt dauerhaft; η = E_nutz/E_zu; kleinerer Strom reduziert Leitungsverluste.</a:t>
            </a:r>
            <a:endParaRPr lang="en-US" sz="1160" dirty="0"/>
          </a:p>
        </p:txBody>
      </p:sp>
      <p:sp>
        <p:nvSpPr>
          <p:cNvPr id="14" name="Shape 12"/>
          <p:cNvSpPr/>
          <p:nvPr/>
        </p:nvSpPr>
        <p:spPr>
          <a:xfrm>
            <a:off x="6181344" y="1810512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1810512"/>
            <a:ext cx="68580" cy="1060704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92938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1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6382512" y="2304288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1: 23 V.</a:t>
            </a:r>
            <a:endParaRPr lang="en-US" sz="1160" dirty="0"/>
          </a:p>
        </p:txBody>
      </p:sp>
      <p:sp>
        <p:nvSpPr>
          <p:cNvPr id="18" name="Shape 16"/>
          <p:cNvSpPr/>
          <p:nvPr/>
        </p:nvSpPr>
        <p:spPr>
          <a:xfrm>
            <a:off x="658368" y="3063240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063240"/>
            <a:ext cx="68580" cy="1060704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1821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2</a:t>
            </a:r>
            <a:endParaRPr lang="en-US" sz="1180" dirty="0"/>
          </a:p>
        </p:txBody>
      </p:sp>
      <p:sp>
        <p:nvSpPr>
          <p:cNvPr id="21" name="Text 19"/>
          <p:cNvSpPr/>
          <p:nvPr/>
        </p:nvSpPr>
        <p:spPr>
          <a:xfrm>
            <a:off x="859536" y="355701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2: η = 0,80 = 80 %.</a:t>
            </a:r>
            <a:endParaRPr lang="en-US" sz="1160" dirty="0"/>
          </a:p>
        </p:txBody>
      </p:sp>
      <p:sp>
        <p:nvSpPr>
          <p:cNvPr id="22" name="Shape 20"/>
          <p:cNvSpPr/>
          <p:nvPr/>
        </p:nvSpPr>
        <p:spPr>
          <a:xfrm>
            <a:off x="6181344" y="3063240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81344" y="3063240"/>
            <a:ext cx="68580" cy="1060704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31821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3</a:t>
            </a:r>
            <a:endParaRPr lang="en-US" sz="1180" dirty="0"/>
          </a:p>
        </p:txBody>
      </p:sp>
      <p:sp>
        <p:nvSpPr>
          <p:cNvPr id="25" name="Text 23"/>
          <p:cNvSpPr/>
          <p:nvPr/>
        </p:nvSpPr>
        <p:spPr>
          <a:xfrm>
            <a:off x="6382512" y="355701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3: 10 A bei 100 V; 100 A bei 10 V.</a:t>
            </a:r>
            <a:endParaRPr lang="en-US" sz="1160" dirty="0"/>
          </a:p>
        </p:txBody>
      </p:sp>
      <p:sp>
        <p:nvSpPr>
          <p:cNvPr id="26" name="Shape 24"/>
          <p:cNvSpPr/>
          <p:nvPr/>
        </p:nvSpPr>
        <p:spPr>
          <a:xfrm>
            <a:off x="658368" y="4315968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4315968"/>
            <a:ext cx="68580" cy="1060704"/>
          </a:xfrm>
          <a:prstGeom prst="rect">
            <a:avLst/>
          </a:prstGeom>
          <a:solidFill>
            <a:srgbClr val="735D9B"/>
          </a:solidFill>
          <a:ln w="12700">
            <a:solidFill>
              <a:srgbClr val="735D9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" y="44348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Anwendung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859536" y="4809744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1: bei gleicher Leistung senkt hohe U den Strom I; Verluste fallen quadratisch mit I.</a:t>
            </a:r>
            <a:endParaRPr lang="en-US" sz="1160" dirty="0"/>
          </a:p>
        </p:txBody>
      </p:sp>
      <p:sp>
        <p:nvSpPr>
          <p:cNvPr id="30" name="Shape 28"/>
          <p:cNvSpPr/>
          <p:nvPr/>
        </p:nvSpPr>
        <p:spPr>
          <a:xfrm>
            <a:off x="6181344" y="4315968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81344" y="4315968"/>
            <a:ext cx="68580" cy="1060704"/>
          </a:xfrm>
          <a:prstGeom prst="rect">
            <a:avLst/>
          </a:prstGeom>
          <a:solidFill>
            <a:srgbClr val="735D9B"/>
          </a:solidFill>
          <a:ln w="12700">
            <a:solidFill>
              <a:srgbClr val="735D9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44348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Konzeptfrage</a:t>
            </a:r>
            <a:endParaRPr lang="en-US" sz="1180" dirty="0"/>
          </a:p>
        </p:txBody>
      </p:sp>
      <p:sp>
        <p:nvSpPr>
          <p:cNvPr id="33" name="Text 31"/>
          <p:cNvSpPr/>
          <p:nvPr/>
        </p:nvSpPr>
        <p:spPr>
          <a:xfrm>
            <a:off x="6382512" y="4809744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2: Bewertung muss mehrere Kriterien transparent gewichten.</a:t>
            </a:r>
            <a:endParaRPr lang="en-US" sz="1160" dirty="0"/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607040" cy="612648"/>
          </a:xfrm>
          <a:prstGeom prst="roundRect">
            <a:avLst>
              <a:gd name="adj" fmla="val 8955"/>
            </a:avLst>
          </a:prstGeom>
          <a:solidFill>
            <a:srgbClr val="FFF4DE"/>
          </a:solidFill>
          <a:ln w="15240">
            <a:solidFill>
              <a:srgbClr val="D78C2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2688" y="581558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78C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664208" y="5733288"/>
            <a:ext cx="94183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Beschreibe die Kette Generator → Transformator → Leitung → Transformator → Haushalt mit je einer Funktion.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Energieversorgung – Wiederholung</dc:title>
  <dc:subject>KLP-basierte Wiederholung: Energieversorgung</dc:subject>
  <dc:creator>Jonathan Hardenacke</dc:creator>
  <cp:lastModifiedBy>Jonathan Hardenacke</cp:lastModifiedBy>
  <cp:revision>1</cp:revision>
  <dcterms:created xsi:type="dcterms:W3CDTF">2026-09-12T09:38:45Z</dcterms:created>
  <dcterms:modified xsi:type="dcterms:W3CDTF">2026-09-12T09:38:45Z</dcterms:modified>
</cp:coreProperties>
</file>