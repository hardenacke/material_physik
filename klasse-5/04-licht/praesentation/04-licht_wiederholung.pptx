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1500000">
            <a:off x="7498080" y="-914400"/>
            <a:ext cx="5943600" cy="5943600"/>
          </a:xfrm>
          <a:prstGeom prst="arc">
            <a:avLst/>
          </a:prstGeom>
          <a:solidFill>
            <a:srgbClr val="2F6FAD">
              <a:alpha val="84000"/>
            </a:srgbClr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46920" y="4434840"/>
            <a:ext cx="2468880" cy="2468880"/>
          </a:xfrm>
          <a:prstGeom prst="ellipse">
            <a:avLst/>
          </a:prstGeom>
          <a:solidFill>
            <a:srgbClr val="2C7A7B">
              <a:alpha val="75000"/>
            </a:srgbClr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1243584"/>
            <a:ext cx="1051560" cy="0"/>
          </a:xfrm>
          <a:prstGeom prst="line">
            <a:avLst/>
          </a:prstGeom>
          <a:noFill/>
          <a:ln w="50800">
            <a:solidFill>
              <a:srgbClr val="6FB4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658368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A9CDE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KLASSE 5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13232" y="1444752"/>
            <a:ext cx="8686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Licht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749808" y="3346704"/>
            <a:ext cx="713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DCEA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Fortlaufende Wiederholungspräsentation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749808" y="3840480"/>
            <a:ext cx="6949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BFD3E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Ein lebendes Dokument: Nach jeder Stunde wächst der Rückblick um eine neue Folie.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49808" y="5074920"/>
            <a:ext cx="4114800" cy="566928"/>
          </a:xfrm>
          <a:prstGeom prst="roundRect">
            <a:avLst>
              <a:gd name="adj" fmla="val 12903"/>
            </a:avLst>
          </a:prstGeom>
          <a:solidFill>
            <a:srgbClr val="1B405E"/>
          </a:solidFill>
          <a:ln w="12700">
            <a:solidFill>
              <a:srgbClr val="315B7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5212080"/>
            <a:ext cx="3703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DEA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Kernideen · Begriffe · Beziehungen · Schnellcheck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749808" y="623620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A9C1D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Physik NRW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ORIENTIERUNG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Das bleibt hängen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784080" y="338328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Klasse 5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66928" y="1353312"/>
            <a:ext cx="11045952" cy="0"/>
          </a:xfrm>
          <a:prstGeom prst="line">
            <a:avLst/>
          </a:prstGeom>
          <a:noFill/>
          <a:ln w="12700">
            <a:solidFill>
              <a:srgbClr val="C8D5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28816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Fortlaufende Wiederholung · Physik NRW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109960" y="6528816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58368" y="1645920"/>
            <a:ext cx="5413248" cy="1161288"/>
          </a:xfrm>
          <a:prstGeom prst="roundRect">
            <a:avLst>
              <a:gd name="adj" fmla="val 5512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59536" y="1920240"/>
            <a:ext cx="576072" cy="576072"/>
          </a:xfrm>
          <a:prstGeom prst="ellipse">
            <a:avLst/>
          </a:prstGeom>
          <a:solidFill>
            <a:srgbClr val="EAF3FB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9536" y="1929384"/>
            <a:ext cx="5760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591056" y="1810512"/>
            <a:ext cx="425196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Lichtquellen und Lichtempfänger unterscheiden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272784" y="1645920"/>
            <a:ext cx="5257800" cy="1161288"/>
          </a:xfrm>
          <a:prstGeom prst="roundRect">
            <a:avLst>
              <a:gd name="adj" fmla="val 5512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73952" y="1920240"/>
            <a:ext cx="576072" cy="576072"/>
          </a:xfrm>
          <a:prstGeom prst="ellipse">
            <a:avLst/>
          </a:prstGeom>
          <a:solidFill>
            <a:srgbClr val="EAF3FB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73952" y="1929384"/>
            <a:ext cx="5760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7205472" y="1810512"/>
            <a:ext cx="409651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Geradlinige Lichtausbreitung mit dem Strahlenmodell beschreiben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58368" y="2999232"/>
            <a:ext cx="5413248" cy="1161288"/>
          </a:xfrm>
          <a:prstGeom prst="roundRect">
            <a:avLst>
              <a:gd name="adj" fmla="val 5512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59536" y="3273552"/>
            <a:ext cx="576072" cy="576072"/>
          </a:xfrm>
          <a:prstGeom prst="ellipse">
            <a:avLst/>
          </a:prstGeom>
          <a:solidFill>
            <a:srgbClr val="EAF3FB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9536" y="3282696"/>
            <a:ext cx="5760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591056" y="3163824"/>
            <a:ext cx="425196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Sehen mit dem Sender-Empfänger-Modell erklären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272784" y="2999232"/>
            <a:ext cx="5257800" cy="1161288"/>
          </a:xfrm>
          <a:prstGeom prst="roundRect">
            <a:avLst>
              <a:gd name="adj" fmla="val 5512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73952" y="3273552"/>
            <a:ext cx="576072" cy="576072"/>
          </a:xfrm>
          <a:prstGeom prst="ellipse">
            <a:avLst/>
          </a:prstGeom>
          <a:solidFill>
            <a:srgbClr val="EAF3FB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73952" y="3282696"/>
            <a:ext cx="5760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7205472" y="3163824"/>
            <a:ext cx="409651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Schatten und Abbildungen an der Lochkamera konstruieren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658368" y="4352544"/>
            <a:ext cx="10872216" cy="1161288"/>
          </a:xfrm>
          <a:prstGeom prst="roundRect">
            <a:avLst>
              <a:gd name="adj" fmla="val 5512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59536" y="4626864"/>
            <a:ext cx="576072" cy="576072"/>
          </a:xfrm>
          <a:prstGeom prst="ellipse">
            <a:avLst/>
          </a:prstGeom>
          <a:solidFill>
            <a:srgbClr val="EAF3FB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59536" y="4636008"/>
            <a:ext cx="5760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591056" y="4517136"/>
            <a:ext cx="9710928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Reflexion, Streuung, Transmission und Absorption unterscheiden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WERKZEUGKASTEN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Begriffe und Modelle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784080" y="338328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Klasse 5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66928" y="1353312"/>
            <a:ext cx="11045952" cy="0"/>
          </a:xfrm>
          <a:prstGeom prst="line">
            <a:avLst/>
          </a:prstGeom>
          <a:noFill/>
          <a:ln w="12700">
            <a:solidFill>
              <a:srgbClr val="C8D5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28816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Fortlaufende Wiederholung · Physik NRW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109960" y="6528816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58368" y="1627632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8368" y="1627632"/>
            <a:ext cx="73152" cy="1417320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9536" y="1773936"/>
            <a:ext cx="5010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Lichtquelle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877824" y="2157984"/>
            <a:ext cx="4974336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Körper oder Gerät, das selbst Licht aussendet.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272784" y="1627632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272784" y="1627632"/>
            <a:ext cx="73152" cy="1417320"/>
          </a:xfrm>
          <a:prstGeom prst="rect">
            <a:avLst/>
          </a:prstGeom>
          <a:solidFill>
            <a:srgbClr val="2C7A7B"/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73952" y="1773936"/>
            <a:ext cx="5010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Lichtempfänger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6492240" y="2157984"/>
            <a:ext cx="4974336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System, das Licht registriert, z. B. Auge oder Sensor.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58368" y="3200400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58368" y="3200400"/>
            <a:ext cx="73152" cy="1417320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9536" y="3346704"/>
            <a:ext cx="5010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Lichtstrahl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877824" y="3730752"/>
            <a:ext cx="4974336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Idealisierte Linie zur Darstellung der Ausbreitungsrichtung von Licht.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6272784" y="3200400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272784" y="3200400"/>
            <a:ext cx="73152" cy="1417320"/>
          </a:xfrm>
          <a:prstGeom prst="rect">
            <a:avLst/>
          </a:prstGeom>
          <a:solidFill>
            <a:srgbClr val="2C7A7B"/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73952" y="3346704"/>
            <a:ext cx="5010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Reflexion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6492240" y="3730752"/>
            <a:ext cx="4974336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Licht wird an einer Oberfläche zurückgeworfen.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658368" y="4773168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58368" y="4773168"/>
            <a:ext cx="73152" cy="1417320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59536" y="4919472"/>
            <a:ext cx="5010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Absorption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877824" y="5303520"/>
            <a:ext cx="4974336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Lichtenergie wird von Materie aufgenommen.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6272784" y="4773168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272784" y="4773168"/>
            <a:ext cx="73152" cy="1417320"/>
          </a:xfrm>
          <a:prstGeom prst="rect">
            <a:avLst/>
          </a:prstGeom>
          <a:solidFill>
            <a:srgbClr val="2C7A7B"/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73952" y="4919472"/>
            <a:ext cx="5010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Transmission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6492240" y="5303520"/>
            <a:ext cx="4974336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Licht durchdringt einen Stoff ganz oder teilweise.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ZUSAMMENHÄNGE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Formeln, Beziehungen und zentrale Aussagen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784080" y="338328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Klasse 5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66928" y="1353312"/>
            <a:ext cx="11045952" cy="0"/>
          </a:xfrm>
          <a:prstGeom prst="line">
            <a:avLst/>
          </a:prstGeom>
          <a:noFill/>
          <a:ln w="12700">
            <a:solidFill>
              <a:srgbClr val="C8D5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28816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Fortlaufende Wiederholung · Physik NRW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109960" y="6528816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58368" y="1618488"/>
            <a:ext cx="5394960" cy="1389888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59536" y="1746504"/>
            <a:ext cx="4992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8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Geradlinige Ausbreitung</a:t>
            </a:r>
            <a:endParaRPr lang="en-US" sz="1380" dirty="0"/>
          </a:p>
        </p:txBody>
      </p:sp>
      <p:sp>
        <p:nvSpPr>
          <p:cNvPr id="11" name="Text 9"/>
          <p:cNvSpPr/>
          <p:nvPr/>
        </p:nvSpPr>
        <p:spPr>
          <a:xfrm>
            <a:off x="859536" y="2093976"/>
            <a:ext cx="499262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7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 einem homogenen Medium wird Licht im Strahlenmodell geradlinig beschrieben.</a:t>
            </a:r>
            <a:endParaRPr lang="en-US" sz="1270" dirty="0"/>
          </a:p>
        </p:txBody>
      </p:sp>
      <p:sp>
        <p:nvSpPr>
          <p:cNvPr id="12" name="Shape 10"/>
          <p:cNvSpPr/>
          <p:nvPr/>
        </p:nvSpPr>
        <p:spPr>
          <a:xfrm>
            <a:off x="859536" y="2697480"/>
            <a:ext cx="2011680" cy="237744"/>
          </a:xfrm>
          <a:prstGeom prst="roundRect">
            <a:avLst>
              <a:gd name="adj" fmla="val 15385"/>
            </a:avLst>
          </a:prstGeom>
          <a:solidFill>
            <a:srgbClr val="EAF3FB"/>
          </a:solidFill>
          <a:ln w="12700">
            <a:solidFill>
              <a:srgbClr val="D9EBF8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50976" y="2715768"/>
            <a:ext cx="18288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Strahlenmodell</a:t>
            </a:r>
            <a:endParaRPr lang="en-US" sz="1040" dirty="0"/>
          </a:p>
        </p:txBody>
      </p:sp>
      <p:sp>
        <p:nvSpPr>
          <p:cNvPr id="14" name="Shape 12"/>
          <p:cNvSpPr/>
          <p:nvPr/>
        </p:nvSpPr>
        <p:spPr>
          <a:xfrm>
            <a:off x="6272784" y="1618488"/>
            <a:ext cx="5394960" cy="1389888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73952" y="1746504"/>
            <a:ext cx="4992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8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Sehen</a:t>
            </a:r>
            <a:endParaRPr lang="en-US" sz="1380" dirty="0"/>
          </a:p>
        </p:txBody>
      </p:sp>
      <p:sp>
        <p:nvSpPr>
          <p:cNvPr id="16" name="Text 14"/>
          <p:cNvSpPr/>
          <p:nvPr/>
        </p:nvSpPr>
        <p:spPr>
          <a:xfrm>
            <a:off x="6473952" y="2093976"/>
            <a:ext cx="499262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7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Ein Gegenstand wird gesehen, wenn Licht von ihm in das Auge gelangt.</a:t>
            </a:r>
            <a:endParaRPr lang="en-US" sz="1270" dirty="0"/>
          </a:p>
        </p:txBody>
      </p:sp>
      <p:sp>
        <p:nvSpPr>
          <p:cNvPr id="17" name="Shape 15"/>
          <p:cNvSpPr/>
          <p:nvPr/>
        </p:nvSpPr>
        <p:spPr>
          <a:xfrm>
            <a:off x="6473952" y="2697480"/>
            <a:ext cx="2551176" cy="237744"/>
          </a:xfrm>
          <a:prstGeom prst="roundRect">
            <a:avLst>
              <a:gd name="adj" fmla="val 15385"/>
            </a:avLst>
          </a:prstGeom>
          <a:solidFill>
            <a:srgbClr val="EAF3FB"/>
          </a:solidFill>
          <a:ln w="12700">
            <a:solidFill>
              <a:srgbClr val="D9EBF8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65392" y="2715768"/>
            <a:ext cx="24094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Lichtquelle → Gegenstand → Auge</a:t>
            </a:r>
            <a:endParaRPr lang="en-US" sz="1040" dirty="0"/>
          </a:p>
        </p:txBody>
      </p:sp>
      <p:sp>
        <p:nvSpPr>
          <p:cNvPr id="19" name="Shape 17"/>
          <p:cNvSpPr/>
          <p:nvPr/>
        </p:nvSpPr>
        <p:spPr>
          <a:xfrm>
            <a:off x="658368" y="3182112"/>
            <a:ext cx="5394960" cy="1389888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59536" y="3310128"/>
            <a:ext cx="4992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8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Schatten</a:t>
            </a:r>
            <a:endParaRPr lang="en-US" sz="1380" dirty="0"/>
          </a:p>
        </p:txBody>
      </p:sp>
      <p:sp>
        <p:nvSpPr>
          <p:cNvPr id="21" name="Text 19"/>
          <p:cNvSpPr/>
          <p:nvPr/>
        </p:nvSpPr>
        <p:spPr>
          <a:xfrm>
            <a:off x="859536" y="3657600"/>
            <a:ext cx="499262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7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Ein lichtundurchlässiger Körper verhindert, dass Licht in bestimmte Bereiche gelangt.</a:t>
            </a:r>
            <a:endParaRPr lang="en-US" sz="1270" dirty="0"/>
          </a:p>
        </p:txBody>
      </p:sp>
      <p:sp>
        <p:nvSpPr>
          <p:cNvPr id="22" name="Shape 20"/>
          <p:cNvSpPr/>
          <p:nvPr/>
        </p:nvSpPr>
        <p:spPr>
          <a:xfrm>
            <a:off x="859536" y="4261104"/>
            <a:ext cx="3044952" cy="237744"/>
          </a:xfrm>
          <a:prstGeom prst="roundRect">
            <a:avLst>
              <a:gd name="adj" fmla="val 15385"/>
            </a:avLst>
          </a:prstGeom>
          <a:solidFill>
            <a:srgbClr val="EAF3FB"/>
          </a:solidFill>
          <a:ln w="12700">
            <a:solidFill>
              <a:srgbClr val="D9EBF8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50976" y="4279392"/>
            <a:ext cx="28757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Kern- und Halbschatten je nach Quelle</a:t>
            </a:r>
            <a:endParaRPr lang="en-US" sz="1040" dirty="0"/>
          </a:p>
        </p:txBody>
      </p:sp>
      <p:sp>
        <p:nvSpPr>
          <p:cNvPr id="24" name="Shape 22"/>
          <p:cNvSpPr/>
          <p:nvPr/>
        </p:nvSpPr>
        <p:spPr>
          <a:xfrm>
            <a:off x="6272784" y="3182112"/>
            <a:ext cx="5394960" cy="1389888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73952" y="3310128"/>
            <a:ext cx="4992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8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Lochkamera</a:t>
            </a:r>
            <a:endParaRPr lang="en-US" sz="1380" dirty="0"/>
          </a:p>
        </p:txBody>
      </p:sp>
      <p:sp>
        <p:nvSpPr>
          <p:cNvPr id="26" name="Text 24"/>
          <p:cNvSpPr/>
          <p:nvPr/>
        </p:nvSpPr>
        <p:spPr>
          <a:xfrm>
            <a:off x="6473952" y="3657600"/>
            <a:ext cx="499262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7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Jeder Objektpunkt sendet Licht in viele Richtungen; durch die Öffnung gelangt nur ein kleiner Strahlenanteil.</a:t>
            </a:r>
            <a:endParaRPr lang="en-US" sz="1270" dirty="0"/>
          </a:p>
        </p:txBody>
      </p:sp>
      <p:sp>
        <p:nvSpPr>
          <p:cNvPr id="27" name="Shape 25"/>
          <p:cNvSpPr/>
          <p:nvPr/>
        </p:nvSpPr>
        <p:spPr>
          <a:xfrm>
            <a:off x="6473952" y="4261104"/>
            <a:ext cx="2962656" cy="237744"/>
          </a:xfrm>
          <a:prstGeom prst="roundRect">
            <a:avLst>
              <a:gd name="adj" fmla="val 15385"/>
            </a:avLst>
          </a:prstGeom>
          <a:solidFill>
            <a:srgbClr val="EAF3FB"/>
          </a:solidFill>
          <a:ln w="12700">
            <a:solidFill>
              <a:srgbClr val="D9EBF8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565392" y="4279392"/>
            <a:ext cx="279806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reelles, auf dem Kopf stehendes Bild</a:t>
            </a:r>
            <a:endParaRPr lang="en-US" sz="104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ABRUFÜBUNG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Schnellcheck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784080" y="338328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Klasse 5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66928" y="1353312"/>
            <a:ext cx="11045952" cy="0"/>
          </a:xfrm>
          <a:prstGeom prst="line">
            <a:avLst/>
          </a:prstGeom>
          <a:noFill/>
          <a:ln w="12700">
            <a:solidFill>
              <a:srgbClr val="C8D5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28816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Fortlaufende Wiederholung · Physik NRW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109960" y="6528816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58368" y="158191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Ohne Unterlagen beantworten – erst danach gemeinsam prüfen.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49808" y="2148840"/>
            <a:ext cx="10561320" cy="987552"/>
          </a:xfrm>
          <a:prstGeom prst="roundRect">
            <a:avLst>
              <a:gd name="adj" fmla="val 648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9264" y="2368296"/>
            <a:ext cx="548640" cy="548640"/>
          </a:xfrm>
          <a:prstGeom prst="ellipse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9264" y="2386584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755648" y="2286000"/>
            <a:ext cx="9098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Warum kann man einen nicht selbstleuchtenden Gegenstand sehen?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749808" y="3383280"/>
            <a:ext cx="10561320" cy="987552"/>
          </a:xfrm>
          <a:prstGeom prst="roundRect">
            <a:avLst>
              <a:gd name="adj" fmla="val 648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602736"/>
            <a:ext cx="548640" cy="548640"/>
          </a:xfrm>
          <a:prstGeom prst="ellipse">
            <a:avLst/>
          </a:prstGeom>
          <a:solidFill>
            <a:srgbClr val="2C7A7B"/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621024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755648" y="3520440"/>
            <a:ext cx="9098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Wie entsteht ein Schatten?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749808" y="4617720"/>
            <a:ext cx="10561320" cy="987552"/>
          </a:xfrm>
          <a:prstGeom prst="roundRect">
            <a:avLst>
              <a:gd name="adj" fmla="val 648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9264" y="4837176"/>
            <a:ext cx="548640" cy="548640"/>
          </a:xfrm>
          <a:prstGeom prst="ellipse">
            <a:avLst/>
          </a:prstGeom>
          <a:solidFill>
            <a:srgbClr val="D9902F"/>
          </a:solidFill>
          <a:ln w="12700">
            <a:solidFill>
              <a:srgbClr val="D9902F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69264" y="4855464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755648" y="4754880"/>
            <a:ext cx="9098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Was unterscheidet Reflexion von Streuung?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4096512" y="5943600"/>
            <a:ext cx="3977640" cy="384048"/>
          </a:xfrm>
          <a:prstGeom prst="roundRect">
            <a:avLst>
              <a:gd name="adj" fmla="val 11905"/>
            </a:avLst>
          </a:prstGeom>
          <a:solidFill>
            <a:srgbClr val="EAF3FB"/>
          </a:solidFill>
          <a:ln w="12700">
            <a:solidFill>
              <a:srgbClr val="D9EBF8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251960" y="601675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Tipp: Erklären ist stärker als nur nennen.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FORTSCHREIBEN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Stundenrückblick – Vorlage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784080" y="338328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Klasse 5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66928" y="1353312"/>
            <a:ext cx="11045952" cy="0"/>
          </a:xfrm>
          <a:prstGeom prst="line">
            <a:avLst/>
          </a:prstGeom>
          <a:noFill/>
          <a:ln w="12700">
            <a:solidFill>
              <a:srgbClr val="C8D5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28816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Fortlaufende Wiederholung · Physik NRW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109960" y="6528816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58368" y="1645920"/>
            <a:ext cx="5413248" cy="1627632"/>
          </a:xfrm>
          <a:prstGeom prst="roundRect">
            <a:avLst>
              <a:gd name="adj" fmla="val 4494"/>
            </a:avLst>
          </a:prstGeom>
          <a:solidFill>
            <a:srgbClr val="EAF3FB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8368" y="1645920"/>
            <a:ext cx="73152" cy="1627632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9536" y="1792224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Heute neu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77824" y="2176272"/>
            <a:ext cx="4992624" cy="9509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165100" indent="-165100">
              <a:buSzPct val="100000"/>
              <a:buChar char="•"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max. 3 zentrale Erkenntnisse</a:t>
            </a:r>
            <a:endParaRPr lang="en-US" sz="1340" dirty="0"/>
          </a:p>
          <a:p>
            <a:pPr marL="165100" indent="-165100">
              <a:buSzPct val="100000"/>
              <a:buChar char="•"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 eigenen Worten</a:t>
            </a:r>
            <a:endParaRPr lang="en-US" sz="1340" dirty="0"/>
          </a:p>
          <a:p>
            <a:pPr marL="165100" indent="-165100">
              <a:buSzPct val="100000"/>
              <a:buChar char="•"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Bezug zum Vorwissen herstellen</a:t>
            </a:r>
            <a:endParaRPr lang="en-US" sz="1340" dirty="0"/>
          </a:p>
        </p:txBody>
      </p:sp>
      <p:sp>
        <p:nvSpPr>
          <p:cNvPr id="13" name="Shape 11"/>
          <p:cNvSpPr/>
          <p:nvPr/>
        </p:nvSpPr>
        <p:spPr>
          <a:xfrm>
            <a:off x="6272784" y="1645920"/>
            <a:ext cx="5257800" cy="1627632"/>
          </a:xfrm>
          <a:prstGeom prst="roundRect">
            <a:avLst>
              <a:gd name="adj" fmla="val 4494"/>
            </a:avLst>
          </a:prstGeom>
          <a:solidFill>
            <a:srgbClr val="E6F4F1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272784" y="1645920"/>
            <a:ext cx="73152" cy="1627632"/>
          </a:xfrm>
          <a:prstGeom prst="rect">
            <a:avLst/>
          </a:prstGeom>
          <a:solidFill>
            <a:srgbClr val="2C7A7B"/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73952" y="1792224"/>
            <a:ext cx="4873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Experiment / Beobachtung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492240" y="2176272"/>
            <a:ext cx="4837176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Ein prägnanter Versuch, Messwert, Graph oder Alltagsbezug als Anker für die Stunde.</a:t>
            </a:r>
            <a:endParaRPr lang="en-US" sz="1340" dirty="0"/>
          </a:p>
        </p:txBody>
      </p:sp>
      <p:sp>
        <p:nvSpPr>
          <p:cNvPr id="17" name="Shape 15"/>
          <p:cNvSpPr/>
          <p:nvPr/>
        </p:nvSpPr>
        <p:spPr>
          <a:xfrm>
            <a:off x="658368" y="3520440"/>
            <a:ext cx="5413248" cy="1627632"/>
          </a:xfrm>
          <a:prstGeom prst="roundRect">
            <a:avLst>
              <a:gd name="adj" fmla="val 4494"/>
            </a:avLst>
          </a:prstGeom>
          <a:solidFill>
            <a:srgbClr val="FFF3DE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58368" y="3520440"/>
            <a:ext cx="73152" cy="1627632"/>
          </a:xfrm>
          <a:prstGeom prst="rect">
            <a:avLst/>
          </a:prstGeom>
          <a:solidFill>
            <a:srgbClr val="D9902F"/>
          </a:solidFill>
          <a:ln w="12700">
            <a:solidFill>
              <a:srgbClr val="D9902F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9536" y="3666744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Merksatz / Formel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77824" y="4050792"/>
            <a:ext cx="499262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Genau eine zentrale Aussage oder Beziehung festhalten – möglichst mit Bedeutung der Größen.</a:t>
            </a:r>
            <a:endParaRPr lang="en-US" sz="1340" dirty="0"/>
          </a:p>
        </p:txBody>
      </p:sp>
      <p:sp>
        <p:nvSpPr>
          <p:cNvPr id="21" name="Shape 19"/>
          <p:cNvSpPr/>
          <p:nvPr/>
        </p:nvSpPr>
        <p:spPr>
          <a:xfrm>
            <a:off x="6272784" y="3520440"/>
            <a:ext cx="5257800" cy="1627632"/>
          </a:xfrm>
          <a:prstGeom prst="roundRect">
            <a:avLst>
              <a:gd name="adj" fmla="val 4494"/>
            </a:avLst>
          </a:prstGeom>
          <a:solidFill>
            <a:srgbClr val="EBF4ED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272784" y="3520440"/>
            <a:ext cx="73152" cy="1627632"/>
          </a:xfrm>
          <a:prstGeom prst="rect">
            <a:avLst/>
          </a:prstGeom>
          <a:solidFill>
            <a:srgbClr val="4A7C59"/>
          </a:solidFill>
          <a:ln w="12700">
            <a:solidFill>
              <a:srgbClr val="4A7C59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73952" y="3666744"/>
            <a:ext cx="4873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2-Minuten-Check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492240" y="4050792"/>
            <a:ext cx="4837176" cy="9509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165100" indent="-165100">
              <a:buSzPct val="100000"/>
              <a:buChar char="•"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2–3 kurze Abruffragen</a:t>
            </a:r>
            <a:endParaRPr lang="en-US" sz="1340" dirty="0"/>
          </a:p>
          <a:p>
            <a:pPr marL="165100" indent="-165100">
              <a:buSzPct val="100000"/>
              <a:buChar char="•"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möglichst ohne Unterlagen lösbar</a:t>
            </a:r>
            <a:endParaRPr lang="en-US" sz="1340" dirty="0"/>
          </a:p>
          <a:p>
            <a:pPr marL="165100" indent="-165100">
              <a:buSzPct val="100000"/>
              <a:buChar char="•"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eine Anwendung oder Erklärung einbauen</a:t>
            </a:r>
            <a:endParaRPr lang="en-US" sz="1340" dirty="0"/>
          </a:p>
        </p:txBody>
      </p:sp>
      <p:sp>
        <p:nvSpPr>
          <p:cNvPr id="25" name="Shape 23"/>
          <p:cNvSpPr/>
          <p:nvPr/>
        </p:nvSpPr>
        <p:spPr>
          <a:xfrm>
            <a:off x="1691640" y="5541264"/>
            <a:ext cx="8796528" cy="585216"/>
          </a:xfrm>
          <a:prstGeom prst="roundRect">
            <a:avLst>
              <a:gd name="adj" fmla="val 10938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01952" y="5687568"/>
            <a:ext cx="83759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Codex-Workflow: neue Stunde in praesentation.json → lessons ergänzen → npm run build:pptx</a:t>
            </a:r>
            <a:endParaRPr lang="en-US" sz="11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Rivius Gymnasium Attendorn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Licht – Wiederholung</dc:title>
  <dc:subject>Fortlaufende Wiederholung: Licht</dc:subject>
  <dc:creator>Jonathan Hardenacke</dc:creator>
  <cp:lastModifiedBy>Jonathan Hardenacke</cp:lastModifiedBy>
  <cp:revision>1</cp:revision>
  <dcterms:created xsi:type="dcterms:W3CDTF">2026-09-11T17:58:40Z</dcterms:created>
  <dcterms:modified xsi:type="dcterms:W3CDTF">2026-09-11T17:58:40Z</dcterms:modified>
</cp:coreProperties>
</file>