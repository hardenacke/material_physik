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143000"/>
            <a:ext cx="5303520" cy="5303520"/>
          </a:xfrm>
          <a:prstGeom prst="ellipse">
            <a:avLst/>
          </a:prstGeom>
          <a:solidFill>
            <a:srgbClr val="4C88C2">
              <a:alpha val="88000"/>
            </a:srgbClr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29800" y="4251960"/>
            <a:ext cx="2514600" cy="2514600"/>
          </a:xfrm>
          <a:prstGeom prst="ellipse">
            <a:avLst/>
          </a:prstGeom>
          <a:solidFill>
            <a:srgbClr val="2C7A7B">
              <a:alpha val="80000"/>
            </a:srgbClr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61872"/>
            <a:ext cx="1051560" cy="0"/>
          </a:xfrm>
          <a:prstGeom prst="line">
            <a:avLst/>
          </a:prstGeom>
          <a:noFill/>
          <a:ln w="50800">
            <a:solidFill>
              <a:srgbClr val="6DB2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58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D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8641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Schall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49808" y="3246120"/>
            <a:ext cx="6309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KLP-basierte Wiederholung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776472"/>
            <a:ext cx="7132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ED2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Vom sicheren Abruf über einfache Anwendungen bis zum Transfer.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4892040"/>
            <a:ext cx="4617720" cy="658368"/>
          </a:xfrm>
          <a:prstGeom prst="roundRect">
            <a:avLst>
              <a:gd name="adj" fmla="val 8333"/>
            </a:avLst>
          </a:prstGeom>
          <a:solidFill>
            <a:srgbClr val="1E425F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50749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E2EE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Abrufen    2  Verstehen    3  Rechnen    4  Transfer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749808" y="62179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9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KLP-Recherche: 2026-09-12</a:t>
            </a:r>
            <a:endParaRPr lang="en-US" sz="9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KLP-KOMPASS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Inhaltsfeld 3: Schall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5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649224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4297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Verbindliche fachliche Schwerpunkte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6126480" cy="3675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Schwingungen und Schallwellen: Tonhöhe, Lautstärke, Ausbreitung, Absorption, Reflexion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Schallquellen und -empfänger: Sender-Empfänger-Modell, Ultra-/Infraschall, Lärm und Lärmschutz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60920" y="1600200"/>
            <a:ext cx="4160520" cy="2029968"/>
          </a:xfrm>
          <a:prstGeom prst="roundRect">
            <a:avLst>
              <a:gd name="adj" fmla="val 2703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60920" y="1600200"/>
            <a:ext cx="68580" cy="202996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62088" y="171907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du am Ende können sollst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562088" y="2093976"/>
            <a:ext cx="3794760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Schall als Folge von Schwingungen erkennen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Tonhöhe und Lautstärke an Schwingungen beschreiben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Schallausbreitung mit einem Teilchenmodell erklären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Reflexion und Absorption von Schall unterscheiden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60920" y="3840480"/>
            <a:ext cx="4160520" cy="2057400"/>
          </a:xfrm>
          <a:prstGeom prst="roundRect">
            <a:avLst>
              <a:gd name="adj" fmla="val 2667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60920" y="3840480"/>
            <a:ext cx="68580" cy="2057400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62088" y="395935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Lernweg dieser Präsentation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562088" y="4334256"/>
            <a:ext cx="379476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sehr leichte Abruffragen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Begriffe und Formeln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und Grafik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3232" y="606247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 Physik NRW 2019 · S. 27–28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1 · ABRUFEN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Leichter Einstieg → sicherer Abruf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5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721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Fragen 1–2 sind bewusst sehr leicht. Danach wird der Abruf schrittweise fachlicher.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56232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" y="1938528"/>
            <a:ext cx="493776" cy="493776"/>
          </a:xfrm>
          <a:prstGeom prst="ellipse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194767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9344" y="1947672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muss ein Körper tun, damit er Schall erzeugt?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9808" y="2670048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3544" y="2752344"/>
            <a:ext cx="493776" cy="493776"/>
          </a:xfrm>
          <a:prstGeom prst="ellipse">
            <a:avLst/>
          </a:prstGeom>
          <a:solidFill>
            <a:srgbClr val="4C88C2"/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" y="27614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9344" y="2761488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Größe entscheidet hauptsächlich über die Tonhöhe?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9808" y="3483864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" y="3566160"/>
            <a:ext cx="493776" cy="493776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3575304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9344" y="3575304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Wie verändert sich die Lautstärke bei größerer Amplitude?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" y="4297680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" y="4379976"/>
            <a:ext cx="493776" cy="493776"/>
          </a:xfrm>
          <a:prstGeom prst="ellipse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" y="438912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09344" y="4389120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kann sich Schall im Vakuum nicht ausbreiten?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9808" y="5111496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" y="5193792"/>
            <a:ext cx="493776" cy="493776"/>
          </a:xfrm>
          <a:prstGeom prst="ellipse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" y="5202936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09344" y="5202936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ist der Unterschied zwischen Reflexion und Absorption von Schall?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2 · VERSTEHEN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Fachbegriffe und Formeln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5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1938528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Frequenz f</a:t>
            </a:r>
            <a:endParaRPr lang="en-US" sz="153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Anzahl der Schwingungen pro Sekunde; bestimmt vor allem die Tonhöhe.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Hz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1600200"/>
            <a:ext cx="68580" cy="193852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Amplitude A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6382512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Maximale Auslenkung einer Schwingung; größere Amplitude bedeutet meist lauteren Schall.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–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822192"/>
            <a:ext cx="68580" cy="1938528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Schallpegel</a:t>
            </a:r>
            <a:endParaRPr lang="en-US" sz="1530" dirty="0"/>
          </a:p>
        </p:txBody>
      </p:sp>
      <p:sp>
        <p:nvSpPr>
          <p:cNvPr id="20" name="Text 18"/>
          <p:cNvSpPr/>
          <p:nvPr/>
        </p:nvSpPr>
        <p:spPr>
          <a:xfrm>
            <a:off x="859536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Messgröße zur Beschreibung der Stärke von Schall.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dB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81344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81344" y="3822192"/>
            <a:ext cx="68580" cy="1938528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Schallreflexion</a:t>
            </a:r>
            <a:endParaRPr lang="en-US" sz="1530" dirty="0"/>
          </a:p>
        </p:txBody>
      </p:sp>
      <p:sp>
        <p:nvSpPr>
          <p:cNvPr id="24" name="Text 22"/>
          <p:cNvSpPr/>
          <p:nvPr/>
        </p:nvSpPr>
        <p:spPr>
          <a:xfrm>
            <a:off x="6382512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Schall wird an einer Fläche zurückgeworfen; mögliches Ergebnis: Echo.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–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3 · ANWENDEN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 und Rechenbeispiele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5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Arbeite mit klaren Einzelideen, kleinen Anwendungen und einfachen Zahlen.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865376"/>
            <a:ext cx="68580" cy="112471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1984248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3591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Eine Stimmgabel schwingt 200-mal in 1 s. Wie groß ist ihre Frequenz?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50976" y="2560320"/>
            <a:ext cx="3566160" cy="246888"/>
          </a:xfrm>
          <a:prstGeom prst="roundRect">
            <a:avLst>
              <a:gd name="adj" fmla="val 1481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2F6FAD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2596896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Tipp: f = Anzahl / Zeit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749808" y="3227832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227832"/>
            <a:ext cx="68580" cy="1124712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3346704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0976" y="3721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Zwei Töne haben 250 Hz und 500 Hz. Welcher klingt höher?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49808" y="4590288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4590288"/>
            <a:ext cx="68580" cy="1124712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470916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0976" y="508406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Schallschutzvorhang absorbiert einen großen Teil des Schalls. Was bedeutet „absorbieren“ hier?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4 · TRANSFER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Jetzt verknüpfen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5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 musst du mehr als einen Gedanken verbinden oder das Modell begründet anwenden.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938528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F2EEF8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938528"/>
            <a:ext cx="68580" cy="1600200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05740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 / Transfer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432304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Tier erzeugt Ultraschall. Erkläre mit dem Sender-Empfänger-Modell, wie es damit ein Hindernis orten kann.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840480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EDF5E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840480"/>
            <a:ext cx="68580" cy="1600200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959352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 · Warum?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" y="4334256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Bei einem Konzert werden 95 dB gemessen. Nenne zwei sinnvolle Maßnahmen zum Schutz des Gehörs und begründe sie.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926080" y="5833872"/>
            <a:ext cx="6336792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5925312"/>
            <a:ext cx="5989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Strategie: Gegeben → Gesucht → Modell/Formel → Ergebnis → Plausibilität</a:t>
            </a:r>
            <a:endParaRPr lang="en-US" sz="10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5 · DARSTELLEN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Zwei Schwingungen im Vergleich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5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572768"/>
            <a:ext cx="754380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78892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" y="416052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C7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53312" y="2898648"/>
            <a:ext cx="6473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53312" y="4270248"/>
            <a:ext cx="6473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53312" y="2898648"/>
            <a:ext cx="71933" cy="-63514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25245" y="2835134"/>
            <a:ext cx="71933" cy="-61584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97178" y="2773551"/>
            <a:ext cx="71933" cy="-57783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69110" y="2715768"/>
            <a:ext cx="71933" cy="-52226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1043" y="2663542"/>
            <a:ext cx="71933" cy="-45082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12976" y="2618460"/>
            <a:ext cx="71933" cy="-36569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84909" y="2581891"/>
            <a:ext cx="71933" cy="-26945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56842" y="2554946"/>
            <a:ext cx="71933" cy="-16501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28774" y="2538445"/>
            <a:ext cx="71933" cy="-5557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00707" y="2532888"/>
            <a:ext cx="71933" cy="5557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72640" y="2538445"/>
            <a:ext cx="71933" cy="16501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44573" y="2554946"/>
            <a:ext cx="71933" cy="26945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16506" y="2581891"/>
            <a:ext cx="71933" cy="36569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8438" y="2618460"/>
            <a:ext cx="71933" cy="45082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60371" y="2663542"/>
            <a:ext cx="71933" cy="52226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32304" y="2715768"/>
            <a:ext cx="71933" cy="57783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04237" y="2773551"/>
            <a:ext cx="71933" cy="61584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76170" y="2835134"/>
            <a:ext cx="71933" cy="63514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48102" y="2898648"/>
            <a:ext cx="71933" cy="63514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20035" y="2962162"/>
            <a:ext cx="71933" cy="61584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91968" y="3023745"/>
            <a:ext cx="71933" cy="57783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63901" y="3081528"/>
            <a:ext cx="71933" cy="52226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35834" y="3133754"/>
            <a:ext cx="71933" cy="45082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07766" y="3178836"/>
            <a:ext cx="71933" cy="36569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79699" y="3215405"/>
            <a:ext cx="71933" cy="26945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51632" y="3242350"/>
            <a:ext cx="71933" cy="16501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23565" y="3258851"/>
            <a:ext cx="71933" cy="5557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5498" y="3264408"/>
            <a:ext cx="71933" cy="-5557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67430" y="3258851"/>
            <a:ext cx="71933" cy="-16501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39363" y="3242350"/>
            <a:ext cx="71933" cy="-26945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11296" y="3215405"/>
            <a:ext cx="71933" cy="-36569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83229" y="3178836"/>
            <a:ext cx="71933" cy="-45082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5162" y="3133754"/>
            <a:ext cx="71933" cy="-52226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27094" y="3081528"/>
            <a:ext cx="71933" cy="-57783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99027" y="3023745"/>
            <a:ext cx="71933" cy="-61584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70960" y="2962162"/>
            <a:ext cx="71933" cy="-63514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942893" y="2898648"/>
            <a:ext cx="71933" cy="-63514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014826" y="2835134"/>
            <a:ext cx="71933" cy="-61584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086758" y="2773551"/>
            <a:ext cx="71933" cy="-57783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58691" y="2715768"/>
            <a:ext cx="71933" cy="-52226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230624" y="2663542"/>
            <a:ext cx="71933" cy="-45082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302557" y="2618460"/>
            <a:ext cx="71933" cy="-36569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374490" y="2581891"/>
            <a:ext cx="71933" cy="-26945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446422" y="2554946"/>
            <a:ext cx="71933" cy="-16501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18355" y="2538445"/>
            <a:ext cx="71933" cy="-5557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90288" y="2532888"/>
            <a:ext cx="71933" cy="5557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62221" y="2538445"/>
            <a:ext cx="71933" cy="16501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34154" y="2554946"/>
            <a:ext cx="71933" cy="26945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06086" y="2581891"/>
            <a:ext cx="71933" cy="36569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78019" y="2618460"/>
            <a:ext cx="71933" cy="45082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49952" y="2663542"/>
            <a:ext cx="71933" cy="52226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021885" y="2715768"/>
            <a:ext cx="71933" cy="57783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093818" y="2773551"/>
            <a:ext cx="71933" cy="61584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165750" y="2835134"/>
            <a:ext cx="71933" cy="63514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237683" y="2898648"/>
            <a:ext cx="71933" cy="63514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309616" y="2962162"/>
            <a:ext cx="71933" cy="61584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381549" y="3023745"/>
            <a:ext cx="71933" cy="57783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453482" y="3081528"/>
            <a:ext cx="71933" cy="52226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525414" y="3133754"/>
            <a:ext cx="71933" cy="45082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597347" y="3178836"/>
            <a:ext cx="71933" cy="36569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669280" y="3215405"/>
            <a:ext cx="71933" cy="26945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741213" y="3242350"/>
            <a:ext cx="71933" cy="16501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813146" y="3258851"/>
            <a:ext cx="71933" cy="5557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885078" y="3264408"/>
            <a:ext cx="71933" cy="-5557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957011" y="3258851"/>
            <a:ext cx="71933" cy="-16501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028944" y="3242350"/>
            <a:ext cx="71933" cy="-26945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100877" y="3215405"/>
            <a:ext cx="71933" cy="-36569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172810" y="3178836"/>
            <a:ext cx="71933" cy="-45082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244742" y="3133754"/>
            <a:ext cx="71933" cy="-52226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316675" y="3081528"/>
            <a:ext cx="71933" cy="-57783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388608" y="3023745"/>
            <a:ext cx="71933" cy="-61584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460541" y="2962162"/>
            <a:ext cx="71933" cy="-63514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532474" y="2898648"/>
            <a:ext cx="71933" cy="-63514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604406" y="2835134"/>
            <a:ext cx="71933" cy="-61584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676339" y="2773551"/>
            <a:ext cx="71933" cy="-57783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48272" y="2715768"/>
            <a:ext cx="71933" cy="-52226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820205" y="2663542"/>
            <a:ext cx="71933" cy="-45082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892138" y="2618460"/>
            <a:ext cx="71933" cy="-36569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964070" y="2581891"/>
            <a:ext cx="71933" cy="-26945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036003" y="2554946"/>
            <a:ext cx="71933" cy="-16501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107936" y="2538445"/>
            <a:ext cx="71933" cy="-5557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179869" y="2532888"/>
            <a:ext cx="71933" cy="5557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251802" y="2538445"/>
            <a:ext cx="71933" cy="16501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323734" y="2554946"/>
            <a:ext cx="71933" cy="26945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395667" y="2581891"/>
            <a:ext cx="71933" cy="36569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467600" y="2618460"/>
            <a:ext cx="71933" cy="45082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539533" y="2663542"/>
            <a:ext cx="71933" cy="52226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611466" y="2715768"/>
            <a:ext cx="71933" cy="57783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683398" y="2773551"/>
            <a:ext cx="71933" cy="61584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755331" y="2835134"/>
            <a:ext cx="71933" cy="63514"/>
          </a:xfrm>
          <a:prstGeom prst="line">
            <a:avLst/>
          </a:prstGeom>
          <a:noFill/>
          <a:ln w="25400">
            <a:solidFill>
              <a:srgbClr val="2F6FAD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353312" y="4270248"/>
            <a:ext cx="71933" cy="-125097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425245" y="4145151"/>
            <a:ext cx="71933" cy="-110009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497178" y="4035142"/>
            <a:ext cx="71933" cy="-81651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569110" y="3953491"/>
            <a:ext cx="71933" cy="-43446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641043" y="3910045"/>
            <a:ext cx="71933" cy="0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712976" y="3910045"/>
            <a:ext cx="71933" cy="43446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784909" y="3953491"/>
            <a:ext cx="71933" cy="81651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856842" y="4035142"/>
            <a:ext cx="71933" cy="110009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928774" y="4145151"/>
            <a:ext cx="71933" cy="125097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000707" y="4270248"/>
            <a:ext cx="71933" cy="125097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072640" y="4395345"/>
            <a:ext cx="71933" cy="110009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144573" y="4505354"/>
            <a:ext cx="71933" cy="81651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216506" y="4587005"/>
            <a:ext cx="71933" cy="43446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288438" y="4630451"/>
            <a:ext cx="71933" cy="0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360371" y="4630451"/>
            <a:ext cx="71933" cy="-43446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432304" y="4587005"/>
            <a:ext cx="71933" cy="-81651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2504237" y="4505354"/>
            <a:ext cx="71933" cy="-110009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576170" y="4395345"/>
            <a:ext cx="71933" cy="-125097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648102" y="4270248"/>
            <a:ext cx="71933" cy="-125097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2720035" y="4145151"/>
            <a:ext cx="71933" cy="-110009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2791968" y="4035142"/>
            <a:ext cx="71933" cy="-81651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863901" y="3953491"/>
            <a:ext cx="71933" cy="-43446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2935834" y="3910045"/>
            <a:ext cx="71933" cy="0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007766" y="3910045"/>
            <a:ext cx="71933" cy="43446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3079699" y="3953491"/>
            <a:ext cx="71933" cy="81651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151632" y="4035142"/>
            <a:ext cx="71933" cy="110009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223565" y="4145151"/>
            <a:ext cx="71933" cy="125097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3295498" y="4270248"/>
            <a:ext cx="71933" cy="125097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367430" y="4395345"/>
            <a:ext cx="71933" cy="110009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3439363" y="4505354"/>
            <a:ext cx="71933" cy="81651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3511296" y="4587005"/>
            <a:ext cx="71933" cy="43446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3583229" y="4630451"/>
            <a:ext cx="71933" cy="0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3655162" y="4630451"/>
            <a:ext cx="71933" cy="-43446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3727094" y="4587005"/>
            <a:ext cx="71933" cy="-81651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3799027" y="4505354"/>
            <a:ext cx="71933" cy="-110009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3870960" y="4395345"/>
            <a:ext cx="71933" cy="-125097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3942893" y="4270248"/>
            <a:ext cx="71933" cy="-125097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014826" y="4145151"/>
            <a:ext cx="71933" cy="-110009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086758" y="4035142"/>
            <a:ext cx="71933" cy="-81651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158691" y="3953491"/>
            <a:ext cx="71933" cy="-43446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230624" y="3910045"/>
            <a:ext cx="71933" cy="0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302557" y="3910045"/>
            <a:ext cx="71933" cy="43446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374490" y="3953491"/>
            <a:ext cx="71933" cy="81651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446422" y="4035142"/>
            <a:ext cx="71933" cy="110009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518355" y="4145151"/>
            <a:ext cx="71933" cy="125097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4590288" y="4270248"/>
            <a:ext cx="71933" cy="125097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4662221" y="4395345"/>
            <a:ext cx="71933" cy="110009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4734154" y="4505354"/>
            <a:ext cx="71933" cy="81651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4806086" y="4587005"/>
            <a:ext cx="71933" cy="43446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4878019" y="4630451"/>
            <a:ext cx="71933" cy="0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4949952" y="4630451"/>
            <a:ext cx="71933" cy="-43446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021885" y="4587005"/>
            <a:ext cx="71933" cy="-81651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093818" y="4505354"/>
            <a:ext cx="71933" cy="-110009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165750" y="4395345"/>
            <a:ext cx="71933" cy="-125097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237683" y="4270248"/>
            <a:ext cx="71933" cy="-125097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309616" y="4145151"/>
            <a:ext cx="71933" cy="-110009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381549" y="4035142"/>
            <a:ext cx="71933" cy="-81651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453482" y="3953491"/>
            <a:ext cx="71933" cy="-43446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525414" y="3910045"/>
            <a:ext cx="71933" cy="0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597347" y="3910045"/>
            <a:ext cx="71933" cy="43446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669280" y="3953491"/>
            <a:ext cx="71933" cy="81651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741213" y="4035142"/>
            <a:ext cx="71933" cy="110009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813146" y="4145151"/>
            <a:ext cx="71933" cy="125097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885078" y="4270248"/>
            <a:ext cx="71933" cy="125097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957011" y="4395345"/>
            <a:ext cx="71933" cy="110009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028944" y="4505354"/>
            <a:ext cx="71933" cy="81651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100877" y="4587005"/>
            <a:ext cx="71933" cy="43446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172810" y="4630451"/>
            <a:ext cx="71933" cy="0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244742" y="4630451"/>
            <a:ext cx="71933" cy="-43446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316675" y="4587005"/>
            <a:ext cx="71933" cy="-81651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388608" y="4505354"/>
            <a:ext cx="71933" cy="-110009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460541" y="4395345"/>
            <a:ext cx="71933" cy="-125097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532474" y="4270248"/>
            <a:ext cx="71933" cy="-125097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604406" y="4145151"/>
            <a:ext cx="71933" cy="-110009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676339" y="4035142"/>
            <a:ext cx="71933" cy="-81651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748272" y="3953491"/>
            <a:ext cx="71933" cy="-43446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820205" y="3910045"/>
            <a:ext cx="71933" cy="0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892138" y="3910045"/>
            <a:ext cx="71933" cy="43446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964070" y="3953491"/>
            <a:ext cx="71933" cy="81651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036003" y="4035142"/>
            <a:ext cx="71933" cy="110009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107936" y="4145151"/>
            <a:ext cx="71933" cy="125097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179869" y="4270248"/>
            <a:ext cx="71933" cy="125097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251802" y="4395345"/>
            <a:ext cx="71933" cy="110009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323734" y="4505354"/>
            <a:ext cx="71933" cy="81651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395667" y="4587005"/>
            <a:ext cx="71933" cy="43446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467600" y="4630451"/>
            <a:ext cx="71933" cy="0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539533" y="4630451"/>
            <a:ext cx="71933" cy="-43446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611466" y="4587005"/>
            <a:ext cx="71933" cy="-81651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683398" y="4505354"/>
            <a:ext cx="71933" cy="-110009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755331" y="4395345"/>
            <a:ext cx="71933" cy="-125097"/>
          </a:xfrm>
          <a:prstGeom prst="line">
            <a:avLst/>
          </a:prstGeom>
          <a:noFill/>
          <a:ln w="25400">
            <a:solidFill>
              <a:srgbClr val="2C7A7B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2359152" y="4910328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gleiche Skala → Wellenlänge/Frequenz vergleichen</a:t>
            </a:r>
            <a:endParaRPr lang="en-US" sz="1000" dirty="0"/>
          </a:p>
        </p:txBody>
      </p:sp>
      <p:sp>
        <p:nvSpPr>
          <p:cNvPr id="195" name="Shape 193"/>
          <p:cNvSpPr/>
          <p:nvPr/>
        </p:nvSpPr>
        <p:spPr>
          <a:xfrm>
            <a:off x="8412480" y="1572768"/>
            <a:ext cx="3108960" cy="2011680"/>
          </a:xfrm>
          <a:prstGeom prst="roundRect">
            <a:avLst>
              <a:gd name="adj" fmla="val 2727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96" name="Shape 194"/>
          <p:cNvSpPr/>
          <p:nvPr/>
        </p:nvSpPr>
        <p:spPr>
          <a:xfrm>
            <a:off x="8412480" y="1572768"/>
            <a:ext cx="68580" cy="2011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8613648" y="169164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Auswerten</a:t>
            </a:r>
            <a:endParaRPr lang="en-US" sz="1450" dirty="0"/>
          </a:p>
        </p:txBody>
      </p:sp>
      <p:sp>
        <p:nvSpPr>
          <p:cNvPr id="198" name="Text 196"/>
          <p:cNvSpPr/>
          <p:nvPr/>
        </p:nvSpPr>
        <p:spPr>
          <a:xfrm>
            <a:off x="8613648" y="2066544"/>
            <a:ext cx="274320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Kurve hat die höhere Frequenz?</a:t>
            </a:r>
            <a:endParaRPr lang="en-US" sz="1320" dirty="0"/>
          </a:p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Änderung würde vor allem die Lautstärke erhöhen?</a:t>
            </a:r>
            <a:endParaRPr lang="en-US" sz="1320" dirty="0"/>
          </a:p>
        </p:txBody>
      </p:sp>
      <p:sp>
        <p:nvSpPr>
          <p:cNvPr id="199" name="Shape 197"/>
          <p:cNvSpPr/>
          <p:nvPr/>
        </p:nvSpPr>
        <p:spPr>
          <a:xfrm>
            <a:off x="8412480" y="3794760"/>
            <a:ext cx="3108960" cy="2304288"/>
          </a:xfrm>
          <a:prstGeom prst="roundRect">
            <a:avLst>
              <a:gd name="adj" fmla="val 2381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00" name="Shape 198"/>
          <p:cNvSpPr/>
          <p:nvPr/>
        </p:nvSpPr>
        <p:spPr>
          <a:xfrm>
            <a:off x="8412480" y="3794760"/>
            <a:ext cx="68580" cy="230428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8613648" y="3913632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Darstellungssprache</a:t>
            </a:r>
            <a:endParaRPr lang="en-US" sz="1430" dirty="0"/>
          </a:p>
        </p:txBody>
      </p:sp>
      <p:sp>
        <p:nvSpPr>
          <p:cNvPr id="202" name="Text 200"/>
          <p:cNvSpPr/>
          <p:nvPr/>
        </p:nvSpPr>
        <p:spPr>
          <a:xfrm>
            <a:off x="8613648" y="4288536"/>
            <a:ext cx="2743200" cy="1682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Achsen + Einheiten prüfen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beschreiben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Fachbegriff/Formel begründen</a:t>
            </a:r>
            <a:endParaRPr lang="en-US" sz="12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SICHERUNG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Lösungen und Exit-Ticket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5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4475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Erst nach eigener Bearbeitung einblenden.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810512"/>
            <a:ext cx="68580" cy="1060704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859536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Warm-up: schwingen; Frequenz; sie nimmt zu; es fehlen Teilchen als Transportmedium; zurückwerfen vs. aufnehmen.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181344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1810512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382512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1: 200 Hz.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658368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859536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2: 500 Hz.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6181344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1344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6382512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3: Schallenergie wird aufgenommen und nicht vollständig zurückgeworfen.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658368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859536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1: ausgesandter Ultraschall wird reflektiert und als Echo empfangen; Laufzeit/Richtung liefern Information.</a:t>
            </a:r>
            <a:endParaRPr lang="en-US" sz="1160" dirty="0"/>
          </a:p>
        </p:txBody>
      </p:sp>
      <p:sp>
        <p:nvSpPr>
          <p:cNvPr id="30" name="Shape 28"/>
          <p:cNvSpPr/>
          <p:nvPr/>
        </p:nvSpPr>
        <p:spPr>
          <a:xfrm>
            <a:off x="6181344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1344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6382512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2: Abstand vergrößern, Aufenthaltszeit verkürzen, Gehörschutz nutzen.</a:t>
            </a: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749808" y="5650992"/>
            <a:ext cx="10607040" cy="612648"/>
          </a:xfrm>
          <a:prstGeom prst="roundRect">
            <a:avLst>
              <a:gd name="adj" fmla="val 8955"/>
            </a:avLst>
          </a:prstGeom>
          <a:solidFill>
            <a:srgbClr val="FFF4DE"/>
          </a:solidFill>
          <a:ln w="15240">
            <a:solidFill>
              <a:srgbClr val="D78C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58155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8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664208" y="5733288"/>
            <a:ext cx="9418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Formuliere die Kette Schallquelle → … → Schallempfänger vollständig.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Schall – Wiederholung</dc:title>
  <dc:subject>KLP-basierte Wiederholung: Schall</dc:subject>
  <dc:creator>Jonathan Hardenacke</dc:creator>
  <cp:lastModifiedBy>Jonathan Hardenacke</cp:lastModifiedBy>
  <cp:revision>1</cp:revision>
  <dcterms:created xsi:type="dcterms:W3CDTF">2026-09-12T09:38:45Z</dcterms:created>
  <dcterms:modified xsi:type="dcterms:W3CDTF">2026-09-12T09:38:45Z</dcterms:modified>
</cp:coreProperties>
</file>