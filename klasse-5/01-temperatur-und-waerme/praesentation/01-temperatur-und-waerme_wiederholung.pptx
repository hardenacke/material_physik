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732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0" y="-1143000"/>
            <a:ext cx="5303520" cy="5303520"/>
          </a:xfrm>
          <a:prstGeom prst="ellipse">
            <a:avLst/>
          </a:prstGeom>
          <a:solidFill>
            <a:srgbClr val="4C88C2">
              <a:alpha val="88000"/>
            </a:srgbClr>
          </a:solidFill>
          <a:ln w="12700">
            <a:solidFill>
              <a:srgbClr val="4C88C2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829800" y="4251960"/>
            <a:ext cx="2514600" cy="2514600"/>
          </a:xfrm>
          <a:prstGeom prst="ellipse">
            <a:avLst/>
          </a:prstGeom>
          <a:solidFill>
            <a:srgbClr val="2C7A7B">
              <a:alpha val="80000"/>
            </a:srgbClr>
          </a:solidFill>
          <a:ln w="12700">
            <a:solidFill>
              <a:srgbClr val="2C7A7B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1261872"/>
            <a:ext cx="1051560" cy="0"/>
          </a:xfrm>
          <a:prstGeom prst="line">
            <a:avLst/>
          </a:prstGeom>
          <a:noFill/>
          <a:ln w="50800">
            <a:solidFill>
              <a:srgbClr val="6DB2E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65836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spc="140" kern="0" dirty="0">
                <a:solidFill>
                  <a:srgbClr val="B8D4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KLASSE 5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1508760"/>
            <a:ext cx="86410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Temperatur und Wärme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749808" y="3246120"/>
            <a:ext cx="63093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E5F0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KLP-basierte Wiederholung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749808" y="3776472"/>
            <a:ext cx="71323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BED2E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Vom sicheren Abruf über einfache Anwendungen bis zum Transfer.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749808" y="4892040"/>
            <a:ext cx="4617720" cy="658368"/>
          </a:xfrm>
          <a:prstGeom prst="roundRect">
            <a:avLst>
              <a:gd name="adj" fmla="val 8333"/>
            </a:avLst>
          </a:prstGeom>
          <a:solidFill>
            <a:srgbClr val="1E425F"/>
          </a:solidFill>
          <a:ln w="12700">
            <a:solidFill>
              <a:srgbClr val="315B7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50976" y="5074920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70" b="1" dirty="0">
                <a:solidFill>
                  <a:srgbClr val="E2EE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  Abrufen    2  Verstehen    3  Rechnen    4  Transfer</a:t>
            </a:r>
            <a:endParaRPr lang="en-US" sz="1170" dirty="0"/>
          </a:p>
        </p:txBody>
      </p:sp>
      <p:sp>
        <p:nvSpPr>
          <p:cNvPr id="11" name="Text 9"/>
          <p:cNvSpPr/>
          <p:nvPr/>
        </p:nvSpPr>
        <p:spPr>
          <a:xfrm>
            <a:off x="749808" y="6217920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A9C2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KLP-Recherche: 2026-09-12</a:t>
            </a:r>
            <a:endParaRPr lang="en-US" sz="97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2F6FAD"/>
          </a:solidFill>
          <a:ln w="12700">
            <a:solidFill>
              <a:srgbClr val="2F6FAD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01752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2F6FA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KLP-KOMPASS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66928" y="621792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Inhaltsfeld 1: Temperatur und Wärme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9509760" y="310896"/>
            <a:ext cx="2057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20" b="1" dirty="0">
                <a:solidFill>
                  <a:srgbClr val="6070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Klasse 5</a:t>
            </a:r>
            <a:endParaRPr lang="en-US" sz="1020" dirty="0"/>
          </a:p>
        </p:txBody>
      </p:sp>
      <p:sp>
        <p:nvSpPr>
          <p:cNvPr id="6" name="Shape 4"/>
          <p:cNvSpPr/>
          <p:nvPr/>
        </p:nvSpPr>
        <p:spPr>
          <a:xfrm>
            <a:off x="566928" y="1280160"/>
            <a:ext cx="11045952" cy="0"/>
          </a:xfrm>
          <a:prstGeom prst="line">
            <a:avLst/>
          </a:prstGeom>
          <a:noFill/>
          <a:ln w="12700">
            <a:solidFill>
              <a:srgbClr val="CDD8E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6519672"/>
            <a:ext cx="5212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070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Fortlaufende Wiederholung · Physik NRW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137392" y="651967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070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658368" y="1600200"/>
            <a:ext cx="6492240" cy="4297680"/>
          </a:xfrm>
          <a:prstGeom prst="roundRect">
            <a:avLst>
              <a:gd name="adj" fmla="val 1277"/>
            </a:avLst>
          </a:prstGeom>
          <a:solidFill>
            <a:srgbClr val="FFFFFF"/>
          </a:solidFill>
          <a:ln w="12700">
            <a:solidFill>
              <a:srgbClr val="CDD8E2"/>
            </a:solidFill>
            <a:prstDash val="solid"/>
          </a:ln>
          <a:effectLst>
            <a:outerShdw sx="100000" sy="100000" kx="0" ky="0" algn="bl" rotWithShape="0" blurRad="12700" dist="50800" dir="2700000">
              <a:srgbClr val="A8B8C7">
                <a:alpha val="11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58368" y="1600200"/>
            <a:ext cx="68580" cy="4297680"/>
          </a:xfrm>
          <a:prstGeom prst="rect">
            <a:avLst/>
          </a:prstGeom>
          <a:solidFill>
            <a:srgbClr val="2F6FAD"/>
          </a:solidFill>
          <a:ln w="12700">
            <a:solidFill>
              <a:srgbClr val="2F6FAD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59536" y="1719072"/>
            <a:ext cx="61447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Verbindliche fachliche Schwerpunkte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859536" y="2093976"/>
            <a:ext cx="6126480" cy="36758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165100" indent="-165100">
              <a:buSzPct val="100000"/>
              <a:buChar char="•"/>
            </a:pPr>
            <a:r>
              <a:rPr lang="en-US" sz="150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Thermische Energie: Wärme, Temperatur und Temperaturmessung</a:t>
            </a:r>
            <a:endParaRPr lang="en-US" sz="1500" dirty="0"/>
          </a:p>
          <a:p>
            <a:pPr marL="165100" indent="-165100">
              <a:buSzPct val="100000"/>
              <a:buChar char="•"/>
            </a:pPr>
            <a:r>
              <a:rPr lang="en-US" sz="150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Wärmetransport: Mitführung, Leitung, Strahlung; Temperaturausgleich; Wärmedämmung</a:t>
            </a:r>
            <a:endParaRPr lang="en-US" sz="1500" dirty="0"/>
          </a:p>
          <a:p>
            <a:pPr marL="165100" indent="-165100">
              <a:buSzPct val="100000"/>
              <a:buChar char="•"/>
            </a:pPr>
            <a:r>
              <a:rPr lang="en-US" sz="150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Wirkungen von Wärme: Aggregatzustände und Wärmeausdehnung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7360920" y="1600200"/>
            <a:ext cx="4160520" cy="2029968"/>
          </a:xfrm>
          <a:prstGeom prst="roundRect">
            <a:avLst>
              <a:gd name="adj" fmla="val 2703"/>
            </a:avLst>
          </a:prstGeom>
          <a:solidFill>
            <a:srgbClr val="E8F4F2"/>
          </a:solidFill>
          <a:ln w="12700">
            <a:solidFill>
              <a:srgbClr val="CDD8E2"/>
            </a:solidFill>
            <a:prstDash val="solid"/>
          </a:ln>
          <a:effectLst>
            <a:outerShdw sx="100000" sy="100000" kx="0" ky="0" algn="bl" rotWithShape="0" blurRad="12700" dist="50800" dir="2700000">
              <a:srgbClr val="A8B8C7">
                <a:alpha val="11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7360920" y="1600200"/>
            <a:ext cx="68580" cy="2029968"/>
          </a:xfrm>
          <a:prstGeom prst="rect">
            <a:avLst/>
          </a:prstGeom>
          <a:solidFill>
            <a:srgbClr val="2C7A7B"/>
          </a:solidFill>
          <a:ln w="12700">
            <a:solidFill>
              <a:srgbClr val="2C7A7B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562088" y="1719072"/>
            <a:ext cx="3813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Was du am Ende können sollst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7562088" y="2093976"/>
            <a:ext cx="3794760" cy="14081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165100" indent="-165100">
              <a:buSzPct val="100000"/>
              <a:buChar char="•"/>
            </a:pPr>
            <a:r>
              <a:rPr lang="en-US" sz="125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Temperatur messen und die Celsiusskala sicher verwenden</a:t>
            </a:r>
            <a:endParaRPr lang="en-US" sz="1250" dirty="0"/>
          </a:p>
          <a:p>
            <a:pPr marL="165100" indent="-165100">
              <a:buSzPct val="100000"/>
              <a:buChar char="•"/>
            </a:pPr>
            <a:r>
              <a:rPr lang="en-US" sz="125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Wärme und Temperatur voneinander unterscheiden</a:t>
            </a:r>
            <a:endParaRPr lang="en-US" sz="1250" dirty="0"/>
          </a:p>
          <a:p>
            <a:pPr marL="165100" indent="-165100">
              <a:buSzPct val="100000"/>
              <a:buChar char="•"/>
            </a:pPr>
            <a:r>
              <a:rPr lang="en-US" sz="125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Wärmetransport durch Leitung, Mitführung und Strahlung erklären</a:t>
            </a:r>
            <a:endParaRPr lang="en-US" sz="1250" dirty="0"/>
          </a:p>
          <a:p>
            <a:pPr marL="165100" indent="-165100">
              <a:buSzPct val="100000"/>
              <a:buChar char="•"/>
            </a:pPr>
            <a:r>
              <a:rPr lang="en-US" sz="125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Wärmeausdehnung und Aggregatzustandsänderungen mit dem Teilchenmodell deuten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7360920" y="3840480"/>
            <a:ext cx="4160520" cy="2057400"/>
          </a:xfrm>
          <a:prstGeom prst="roundRect">
            <a:avLst>
              <a:gd name="adj" fmla="val 2667"/>
            </a:avLst>
          </a:prstGeom>
          <a:solidFill>
            <a:srgbClr val="FFF4DE"/>
          </a:solidFill>
          <a:ln w="12700">
            <a:solidFill>
              <a:srgbClr val="CDD8E2"/>
            </a:solidFill>
            <a:prstDash val="solid"/>
          </a:ln>
          <a:effectLst>
            <a:outerShdw sx="100000" sy="100000" kx="0" ky="0" algn="bl" rotWithShape="0" blurRad="12700" dist="50800" dir="2700000">
              <a:srgbClr val="A8B8C7">
                <a:alpha val="11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7360920" y="3840480"/>
            <a:ext cx="68580" cy="2057400"/>
          </a:xfrm>
          <a:prstGeom prst="rect">
            <a:avLst/>
          </a:prstGeom>
          <a:solidFill>
            <a:srgbClr val="D78C24"/>
          </a:solidFill>
          <a:ln w="12700">
            <a:solidFill>
              <a:srgbClr val="D78C24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562088" y="3959352"/>
            <a:ext cx="3813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Lernweg dieser Präsentation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7562088" y="4334256"/>
            <a:ext cx="3794760" cy="1435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165100" indent="-165100">
              <a:buSzPct val="100000"/>
              <a:buChar char="•"/>
            </a:pPr>
            <a:r>
              <a:rPr lang="en-US" sz="125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sehr leichte Abruffragen</a:t>
            </a:r>
            <a:endParaRPr lang="en-US" sz="1250" dirty="0"/>
          </a:p>
          <a:p>
            <a:pPr marL="165100" indent="-165100">
              <a:buSzPct val="100000"/>
              <a:buChar char="•"/>
            </a:pPr>
            <a:r>
              <a:rPr lang="en-US" sz="125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Begriffe und Formeln</a:t>
            </a:r>
            <a:endParaRPr lang="en-US" sz="1250" dirty="0"/>
          </a:p>
          <a:p>
            <a:pPr marL="165100" indent="-165100">
              <a:buSzPct val="100000"/>
              <a:buChar char="•"/>
            </a:pPr>
            <a:r>
              <a:rPr lang="en-US" sz="125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einfache Aufgaben</a:t>
            </a:r>
            <a:endParaRPr lang="en-US" sz="1250" dirty="0"/>
          </a:p>
          <a:p>
            <a:pPr marL="165100" indent="-165100">
              <a:buSzPct val="100000"/>
              <a:buChar char="•"/>
            </a:pPr>
            <a:r>
              <a:rPr lang="en-US" sz="125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Transfer und Grafik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713232" y="6062472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070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KLP Physik NRW 2019 · S. 23–24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2F6FAD"/>
          </a:solidFill>
          <a:ln w="12700">
            <a:solidFill>
              <a:srgbClr val="2F6FAD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01752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2F6FA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STUFE 1 · ABRUFEN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66928" y="621792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Leichter Einstieg → sicherer Abruf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9509760" y="310896"/>
            <a:ext cx="2057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20" b="1" dirty="0">
                <a:solidFill>
                  <a:srgbClr val="6070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Klasse 5</a:t>
            </a:r>
            <a:endParaRPr lang="en-US" sz="1020" dirty="0"/>
          </a:p>
        </p:txBody>
      </p:sp>
      <p:sp>
        <p:nvSpPr>
          <p:cNvPr id="6" name="Shape 4"/>
          <p:cNvSpPr/>
          <p:nvPr/>
        </p:nvSpPr>
        <p:spPr>
          <a:xfrm>
            <a:off x="566928" y="1280160"/>
            <a:ext cx="11045952" cy="0"/>
          </a:xfrm>
          <a:prstGeom prst="line">
            <a:avLst/>
          </a:prstGeom>
          <a:noFill/>
          <a:ln w="12700">
            <a:solidFill>
              <a:srgbClr val="CDD8E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6519672"/>
            <a:ext cx="5212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070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Fortlaufende Wiederholung · Physik NRW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137392" y="651967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070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58368" y="1472184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070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Fragen 1–2 sind bewusst sehr leicht. Danach wird der Abruf schrittweise fachlicher.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49808" y="1856232"/>
            <a:ext cx="10607040" cy="658368"/>
          </a:xfrm>
          <a:prstGeom prst="roundRect">
            <a:avLst>
              <a:gd name="adj" fmla="val 6944"/>
            </a:avLst>
          </a:prstGeom>
          <a:solidFill>
            <a:srgbClr val="FFFFFF"/>
          </a:solidFill>
          <a:ln w="12700">
            <a:solidFill>
              <a:srgbClr val="CDD8E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23544" y="1938528"/>
            <a:ext cx="493776" cy="493776"/>
          </a:xfrm>
          <a:prstGeom prst="ellipse">
            <a:avLst/>
          </a:prstGeom>
          <a:solidFill>
            <a:srgbClr val="2F6FAD"/>
          </a:solidFill>
          <a:ln w="12700">
            <a:solidFill>
              <a:srgbClr val="2F6FAD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23544" y="1947672"/>
            <a:ext cx="4937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609344" y="1947672"/>
            <a:ext cx="95737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Welche physikalische Größe zeigt ein Thermometer an?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749808" y="2670048"/>
            <a:ext cx="10607040" cy="658368"/>
          </a:xfrm>
          <a:prstGeom prst="roundRect">
            <a:avLst>
              <a:gd name="adj" fmla="val 6944"/>
            </a:avLst>
          </a:prstGeom>
          <a:solidFill>
            <a:srgbClr val="FFFFFF"/>
          </a:solidFill>
          <a:ln w="12700">
            <a:solidFill>
              <a:srgbClr val="CDD8E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23544" y="2752344"/>
            <a:ext cx="493776" cy="493776"/>
          </a:xfrm>
          <a:prstGeom prst="ellipse">
            <a:avLst/>
          </a:prstGeom>
          <a:solidFill>
            <a:srgbClr val="4C88C2"/>
          </a:solidFill>
          <a:ln w="12700">
            <a:solidFill>
              <a:srgbClr val="4C88C2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23544" y="2761488"/>
            <a:ext cx="4937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609344" y="2761488"/>
            <a:ext cx="95737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Welche Einheit wird im Alltag für die Temperatur verwendet?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749808" y="3483864"/>
            <a:ext cx="10607040" cy="658368"/>
          </a:xfrm>
          <a:prstGeom prst="roundRect">
            <a:avLst>
              <a:gd name="adj" fmla="val 6944"/>
            </a:avLst>
          </a:prstGeom>
          <a:solidFill>
            <a:srgbClr val="FFFFFF"/>
          </a:solidFill>
          <a:ln w="12700">
            <a:solidFill>
              <a:srgbClr val="CDD8E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23544" y="3566160"/>
            <a:ext cx="493776" cy="493776"/>
          </a:xfrm>
          <a:prstGeom prst="ellipse">
            <a:avLst/>
          </a:prstGeom>
          <a:solidFill>
            <a:srgbClr val="2C7A7B"/>
          </a:solidFill>
          <a:ln w="12700">
            <a:solidFill>
              <a:srgbClr val="2C7A7B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23544" y="3575304"/>
            <a:ext cx="4937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609344" y="3575304"/>
            <a:ext cx="95737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Worin unterscheiden sich Temperatur und Wärme?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749808" y="4297680"/>
            <a:ext cx="10607040" cy="658368"/>
          </a:xfrm>
          <a:prstGeom prst="roundRect">
            <a:avLst>
              <a:gd name="adj" fmla="val 6944"/>
            </a:avLst>
          </a:prstGeom>
          <a:solidFill>
            <a:srgbClr val="FFFFFF"/>
          </a:solidFill>
          <a:ln w="12700">
            <a:solidFill>
              <a:srgbClr val="CDD8E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23544" y="4379976"/>
            <a:ext cx="493776" cy="493776"/>
          </a:xfrm>
          <a:prstGeom prst="ellipse">
            <a:avLst/>
          </a:prstGeom>
          <a:solidFill>
            <a:srgbClr val="4E7A5A"/>
          </a:solidFill>
          <a:ln w="12700">
            <a:solidFill>
              <a:srgbClr val="4E7A5A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23544" y="4389120"/>
            <a:ext cx="4937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609344" y="4389120"/>
            <a:ext cx="95737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Nenne die drei Arten des Wärmetransports.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749808" y="5111496"/>
            <a:ext cx="10607040" cy="658368"/>
          </a:xfrm>
          <a:prstGeom prst="roundRect">
            <a:avLst>
              <a:gd name="adj" fmla="val 6944"/>
            </a:avLst>
          </a:prstGeom>
          <a:solidFill>
            <a:srgbClr val="FFFFFF"/>
          </a:solidFill>
          <a:ln w="12700">
            <a:solidFill>
              <a:srgbClr val="CDD8E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923544" y="5193792"/>
            <a:ext cx="493776" cy="493776"/>
          </a:xfrm>
          <a:prstGeom prst="ellipse">
            <a:avLst/>
          </a:prstGeom>
          <a:solidFill>
            <a:srgbClr val="D78C24"/>
          </a:solidFill>
          <a:ln w="12700">
            <a:solidFill>
              <a:srgbClr val="D78C24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23544" y="5202936"/>
            <a:ext cx="4937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1609344" y="5202936"/>
            <a:ext cx="95737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Bei welcher Temperatur besitzt Wasser ungefähr seine größte Dichte?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2F6FAD"/>
          </a:solidFill>
          <a:ln w="12700">
            <a:solidFill>
              <a:srgbClr val="2F6FAD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01752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2F6FA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STUFE 2 · VERSTEHEN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66928" y="621792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Fachbegriffe und Formeln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9509760" y="310896"/>
            <a:ext cx="2057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20" b="1" dirty="0">
                <a:solidFill>
                  <a:srgbClr val="6070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Klasse 5</a:t>
            </a:r>
            <a:endParaRPr lang="en-US" sz="1020" dirty="0"/>
          </a:p>
        </p:txBody>
      </p:sp>
      <p:sp>
        <p:nvSpPr>
          <p:cNvPr id="6" name="Shape 4"/>
          <p:cNvSpPr/>
          <p:nvPr/>
        </p:nvSpPr>
        <p:spPr>
          <a:xfrm>
            <a:off x="566928" y="1280160"/>
            <a:ext cx="11045952" cy="0"/>
          </a:xfrm>
          <a:prstGeom prst="line">
            <a:avLst/>
          </a:prstGeom>
          <a:noFill/>
          <a:ln w="12700">
            <a:solidFill>
              <a:srgbClr val="CDD8E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6519672"/>
            <a:ext cx="5212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070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Fortlaufende Wiederholung · Physik NRW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137392" y="651967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070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658368" y="1600200"/>
            <a:ext cx="5340096" cy="1938528"/>
          </a:xfrm>
          <a:prstGeom prst="roundRect">
            <a:avLst>
              <a:gd name="adj" fmla="val 2830"/>
            </a:avLst>
          </a:prstGeom>
          <a:solidFill>
            <a:srgbClr val="F0F4F7"/>
          </a:solidFill>
          <a:ln w="12700">
            <a:solidFill>
              <a:srgbClr val="CDD8E2"/>
            </a:solidFill>
            <a:prstDash val="solid"/>
          </a:ln>
          <a:effectLst>
            <a:outerShdw sx="100000" sy="100000" kx="0" ky="0" algn="bl" rotWithShape="0" blurRad="12700" dist="50800" dir="2700000">
              <a:srgbClr val="A8B8C7">
                <a:alpha val="11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58368" y="1600200"/>
            <a:ext cx="68580" cy="1938528"/>
          </a:xfrm>
          <a:prstGeom prst="rect">
            <a:avLst/>
          </a:prstGeom>
          <a:solidFill>
            <a:srgbClr val="2F6FAD"/>
          </a:solidFill>
          <a:ln w="12700">
            <a:solidFill>
              <a:srgbClr val="2F6FAD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59536" y="1719072"/>
            <a:ext cx="49926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3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Temperatur T</a:t>
            </a:r>
            <a:endParaRPr lang="en-US" sz="1530" dirty="0"/>
          </a:p>
        </p:txBody>
      </p:sp>
      <p:sp>
        <p:nvSpPr>
          <p:cNvPr id="12" name="Text 10"/>
          <p:cNvSpPr/>
          <p:nvPr/>
        </p:nvSpPr>
        <p:spPr>
          <a:xfrm>
            <a:off x="859536" y="2093976"/>
            <a:ext cx="4974336" cy="13167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165100" indent="-165100">
              <a:buSzPct val="100000"/>
              <a:buChar char="•"/>
            </a:pPr>
            <a:r>
              <a:rPr lang="en-US" sz="130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Beschreibt den thermischen Zustand eines Körpers.</a:t>
            </a:r>
            <a:endParaRPr lang="en-US" sz="1300" dirty="0"/>
          </a:p>
          <a:p>
            <a:pPr marL="165100" indent="-165100">
              <a:buSzPct val="100000"/>
              <a:buChar char="•"/>
            </a:pPr>
            <a:r>
              <a:rPr lang="en-US" sz="130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Einheit: °C bzw. K</a:t>
            </a:r>
            <a:endParaRPr lang="en-US" sz="1300" dirty="0"/>
          </a:p>
          <a:p>
            <a:pPr marL="165100" indent="-165100">
              <a:buSzPct val="100000"/>
              <a:buChar char="•"/>
            </a:pPr>
            <a:r>
              <a:rPr lang="en-US" sz="130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Beziehung: T_warm &gt; T_kalt → Energieübertragung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181344" y="1600200"/>
            <a:ext cx="5340096" cy="1938528"/>
          </a:xfrm>
          <a:prstGeom prst="roundRect">
            <a:avLst>
              <a:gd name="adj" fmla="val 2830"/>
            </a:avLst>
          </a:prstGeom>
          <a:solidFill>
            <a:srgbClr val="FFFFFF"/>
          </a:solidFill>
          <a:ln w="12700">
            <a:solidFill>
              <a:srgbClr val="CDD8E2"/>
            </a:solidFill>
            <a:prstDash val="solid"/>
          </a:ln>
          <a:effectLst>
            <a:outerShdw sx="100000" sy="100000" kx="0" ky="0" algn="bl" rotWithShape="0" blurRad="12700" dist="50800" dir="2700000">
              <a:srgbClr val="A8B8C7">
                <a:alpha val="11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181344" y="1600200"/>
            <a:ext cx="68580" cy="1938528"/>
          </a:xfrm>
          <a:prstGeom prst="rect">
            <a:avLst/>
          </a:prstGeom>
          <a:solidFill>
            <a:srgbClr val="2C7A7B"/>
          </a:solidFill>
          <a:ln w="12700">
            <a:solidFill>
              <a:srgbClr val="2C7A7B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82512" y="1719072"/>
            <a:ext cx="49926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3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Wärme Q</a:t>
            </a:r>
            <a:endParaRPr lang="en-US" sz="1530" dirty="0"/>
          </a:p>
        </p:txBody>
      </p:sp>
      <p:sp>
        <p:nvSpPr>
          <p:cNvPr id="16" name="Text 14"/>
          <p:cNvSpPr/>
          <p:nvPr/>
        </p:nvSpPr>
        <p:spPr>
          <a:xfrm>
            <a:off x="6382512" y="2093976"/>
            <a:ext cx="4974336" cy="13167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165100" indent="-165100">
              <a:buSzPct val="100000"/>
              <a:buChar char="•"/>
            </a:pPr>
            <a:r>
              <a:rPr lang="en-US" sz="130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Energie, die wegen eines Temperaturunterschieds übertragen wird.</a:t>
            </a:r>
            <a:endParaRPr lang="en-US" sz="1300" dirty="0"/>
          </a:p>
          <a:p>
            <a:pPr marL="165100" indent="-165100">
              <a:buSzPct val="100000"/>
              <a:buChar char="•"/>
            </a:pPr>
            <a:r>
              <a:rPr lang="en-US" sz="130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Einheit: J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58368" y="3822192"/>
            <a:ext cx="5340096" cy="1938528"/>
          </a:xfrm>
          <a:prstGeom prst="roundRect">
            <a:avLst>
              <a:gd name="adj" fmla="val 2830"/>
            </a:avLst>
          </a:prstGeom>
          <a:solidFill>
            <a:srgbClr val="F0F4F7"/>
          </a:solidFill>
          <a:ln w="12700">
            <a:solidFill>
              <a:srgbClr val="CDD8E2"/>
            </a:solidFill>
            <a:prstDash val="solid"/>
          </a:ln>
          <a:effectLst>
            <a:outerShdw sx="100000" sy="100000" kx="0" ky="0" algn="bl" rotWithShape="0" blurRad="12700" dist="50800" dir="2700000">
              <a:srgbClr val="A8B8C7">
                <a:alpha val="11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58368" y="3822192"/>
            <a:ext cx="68580" cy="1938528"/>
          </a:xfrm>
          <a:prstGeom prst="rect">
            <a:avLst/>
          </a:prstGeom>
          <a:solidFill>
            <a:srgbClr val="D78C24"/>
          </a:solidFill>
          <a:ln w="12700">
            <a:solidFill>
              <a:srgbClr val="D78C24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59536" y="3941064"/>
            <a:ext cx="49926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3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Wärmeleitung</a:t>
            </a:r>
            <a:endParaRPr lang="en-US" sz="1530" dirty="0"/>
          </a:p>
        </p:txBody>
      </p:sp>
      <p:sp>
        <p:nvSpPr>
          <p:cNvPr id="20" name="Text 18"/>
          <p:cNvSpPr/>
          <p:nvPr/>
        </p:nvSpPr>
        <p:spPr>
          <a:xfrm>
            <a:off x="859536" y="4315968"/>
            <a:ext cx="4974336" cy="13167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165100" indent="-165100">
              <a:buSzPct val="100000"/>
              <a:buChar char="•"/>
            </a:pPr>
            <a:r>
              <a:rPr lang="en-US" sz="130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Energieübertragung im Stoff ohne makroskopischen Stofftransport.</a:t>
            </a:r>
            <a:endParaRPr lang="en-US" sz="1300" dirty="0"/>
          </a:p>
          <a:p>
            <a:pPr marL="165100" indent="-165100">
              <a:buSzPct val="100000"/>
              <a:buChar char="•"/>
            </a:pPr>
            <a:r>
              <a:rPr lang="en-US" sz="130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Einheit: –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181344" y="3822192"/>
            <a:ext cx="5340096" cy="1938528"/>
          </a:xfrm>
          <a:prstGeom prst="roundRect">
            <a:avLst>
              <a:gd name="adj" fmla="val 2830"/>
            </a:avLst>
          </a:prstGeom>
          <a:solidFill>
            <a:srgbClr val="FFFFFF"/>
          </a:solidFill>
          <a:ln w="12700">
            <a:solidFill>
              <a:srgbClr val="CDD8E2"/>
            </a:solidFill>
            <a:prstDash val="solid"/>
          </a:ln>
          <a:effectLst>
            <a:outerShdw sx="100000" sy="100000" kx="0" ky="0" algn="bl" rotWithShape="0" blurRad="12700" dist="50800" dir="2700000">
              <a:srgbClr val="A8B8C7">
                <a:alpha val="11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181344" y="3822192"/>
            <a:ext cx="68580" cy="1938528"/>
          </a:xfrm>
          <a:prstGeom prst="rect">
            <a:avLst/>
          </a:prstGeom>
          <a:solidFill>
            <a:srgbClr val="4E7A5A"/>
          </a:solidFill>
          <a:ln w="12700">
            <a:solidFill>
              <a:srgbClr val="4E7A5A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382512" y="3941064"/>
            <a:ext cx="49926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3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Wärmestrahlung</a:t>
            </a:r>
            <a:endParaRPr lang="en-US" sz="1530" dirty="0"/>
          </a:p>
        </p:txBody>
      </p:sp>
      <p:sp>
        <p:nvSpPr>
          <p:cNvPr id="24" name="Text 22"/>
          <p:cNvSpPr/>
          <p:nvPr/>
        </p:nvSpPr>
        <p:spPr>
          <a:xfrm>
            <a:off x="6382512" y="4315968"/>
            <a:ext cx="4974336" cy="13167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165100" indent="-165100">
              <a:buSzPct val="100000"/>
              <a:buChar char="•"/>
            </a:pPr>
            <a:r>
              <a:rPr lang="en-US" sz="130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Energieübertragung durch elektromagnetische Strahlung; kein Stoff nötig.</a:t>
            </a:r>
            <a:endParaRPr lang="en-US" sz="1300" dirty="0"/>
          </a:p>
          <a:p>
            <a:pPr marL="165100" indent="-165100">
              <a:buSzPct val="100000"/>
              <a:buChar char="•"/>
            </a:pPr>
            <a:r>
              <a:rPr lang="en-US" sz="130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Einheit: –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2F6FAD"/>
          </a:solidFill>
          <a:ln w="12700">
            <a:solidFill>
              <a:srgbClr val="2F6FAD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01752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2F6FA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STUFE 3 · ANWENDEN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66928" y="621792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Einfache Aufgaben und Rechenbeispiele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9509760" y="310896"/>
            <a:ext cx="2057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20" b="1" dirty="0">
                <a:solidFill>
                  <a:srgbClr val="6070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Klasse 5</a:t>
            </a:r>
            <a:endParaRPr lang="en-US" sz="1020" dirty="0"/>
          </a:p>
        </p:txBody>
      </p:sp>
      <p:sp>
        <p:nvSpPr>
          <p:cNvPr id="6" name="Shape 4"/>
          <p:cNvSpPr/>
          <p:nvPr/>
        </p:nvSpPr>
        <p:spPr>
          <a:xfrm>
            <a:off x="566928" y="1280160"/>
            <a:ext cx="11045952" cy="0"/>
          </a:xfrm>
          <a:prstGeom prst="line">
            <a:avLst/>
          </a:prstGeom>
          <a:noFill/>
          <a:ln w="12700">
            <a:solidFill>
              <a:srgbClr val="CDD8E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6519672"/>
            <a:ext cx="5212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070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Fortlaufende Wiederholung · Physik NRW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137392" y="651967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070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58368" y="1463040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070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Arbeite mit klaren Einzelideen, kleinen Anwendungen und einfachen Zahlen.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49808" y="1865376"/>
            <a:ext cx="10607040" cy="1124712"/>
          </a:xfrm>
          <a:prstGeom prst="roundRect">
            <a:avLst>
              <a:gd name="adj" fmla="val 4878"/>
            </a:avLst>
          </a:prstGeom>
          <a:solidFill>
            <a:srgbClr val="EAF3FB"/>
          </a:solidFill>
          <a:ln w="12700">
            <a:solidFill>
              <a:srgbClr val="CDD8E2"/>
            </a:solidFill>
            <a:prstDash val="solid"/>
          </a:ln>
          <a:effectLst>
            <a:outerShdw sx="100000" sy="100000" kx="0" ky="0" algn="bl" rotWithShape="0" blurRad="12700" dist="50800" dir="2700000">
              <a:srgbClr val="A8B8C7">
                <a:alpha val="11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749808" y="1865376"/>
            <a:ext cx="68580" cy="1124712"/>
          </a:xfrm>
          <a:prstGeom prst="rect">
            <a:avLst/>
          </a:prstGeom>
          <a:solidFill>
            <a:srgbClr val="2F6FAD"/>
          </a:solidFill>
          <a:ln w="12700">
            <a:solidFill>
              <a:srgbClr val="2F6FAD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50976" y="1984248"/>
            <a:ext cx="102595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Aufgabe 1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950976" y="2359152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Ein Raum erwärmt sich von 18 °C auf 24 °C. Bestimme die Temperaturänderung ΔT.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950976" y="2560320"/>
            <a:ext cx="3566160" cy="246888"/>
          </a:xfrm>
          <a:prstGeom prst="roundRect">
            <a:avLst>
              <a:gd name="adj" fmla="val 14815"/>
            </a:avLst>
          </a:prstGeom>
          <a:solidFill>
            <a:srgbClr val="FFFFFF">
              <a:alpha val="92000"/>
            </a:srgbClr>
          </a:solidFill>
          <a:ln w="12700">
            <a:solidFill>
              <a:srgbClr val="2F6FAD">
                <a:alpha val="2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60704" y="2596896"/>
            <a:ext cx="3337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30" b="1" dirty="0">
                <a:solidFill>
                  <a:srgbClr val="2F6FA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Tipp: ΔT = T₂ − T₁</a:t>
            </a:r>
            <a:endParaRPr lang="en-US" sz="1030" dirty="0"/>
          </a:p>
        </p:txBody>
      </p:sp>
      <p:sp>
        <p:nvSpPr>
          <p:cNvPr id="16" name="Shape 14"/>
          <p:cNvSpPr/>
          <p:nvPr/>
        </p:nvSpPr>
        <p:spPr>
          <a:xfrm>
            <a:off x="749808" y="3227832"/>
            <a:ext cx="10607040" cy="1124712"/>
          </a:xfrm>
          <a:prstGeom prst="roundRect">
            <a:avLst>
              <a:gd name="adj" fmla="val 4878"/>
            </a:avLst>
          </a:prstGeom>
          <a:solidFill>
            <a:srgbClr val="E8F4F2"/>
          </a:solidFill>
          <a:ln w="12700">
            <a:solidFill>
              <a:srgbClr val="CDD8E2"/>
            </a:solidFill>
            <a:prstDash val="solid"/>
          </a:ln>
          <a:effectLst>
            <a:outerShdw sx="100000" sy="100000" kx="0" ky="0" algn="bl" rotWithShape="0" blurRad="12700" dist="50800" dir="2700000">
              <a:srgbClr val="A8B8C7">
                <a:alpha val="11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49808" y="3227832"/>
            <a:ext cx="68580" cy="1124712"/>
          </a:xfrm>
          <a:prstGeom prst="rect">
            <a:avLst/>
          </a:prstGeom>
          <a:solidFill>
            <a:srgbClr val="2C7A7B"/>
          </a:solidFill>
          <a:ln w="12700">
            <a:solidFill>
              <a:srgbClr val="2C7A7B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50976" y="3346704"/>
            <a:ext cx="102595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Aufgabe 2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950976" y="3721608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Ein Metalllöffel steht in heißem Tee. Welche Art des Wärmetransports erwärmt den Griff vor allem? Begründe kurz.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749808" y="4590288"/>
            <a:ext cx="10607040" cy="1124712"/>
          </a:xfrm>
          <a:prstGeom prst="roundRect">
            <a:avLst>
              <a:gd name="adj" fmla="val 4878"/>
            </a:avLst>
          </a:prstGeom>
          <a:solidFill>
            <a:srgbClr val="FFF4DE"/>
          </a:solidFill>
          <a:ln w="12700">
            <a:solidFill>
              <a:srgbClr val="CDD8E2"/>
            </a:solidFill>
            <a:prstDash val="solid"/>
          </a:ln>
          <a:effectLst>
            <a:outerShdw sx="100000" sy="100000" kx="0" ky="0" algn="bl" rotWithShape="0" blurRad="12700" dist="50800" dir="2700000">
              <a:srgbClr val="A8B8C7">
                <a:alpha val="11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49808" y="4590288"/>
            <a:ext cx="68580" cy="1124712"/>
          </a:xfrm>
          <a:prstGeom prst="rect">
            <a:avLst/>
          </a:prstGeom>
          <a:solidFill>
            <a:srgbClr val="D78C24"/>
          </a:solidFill>
          <a:ln w="12700">
            <a:solidFill>
              <a:srgbClr val="D78C24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50976" y="4709160"/>
            <a:ext cx="102595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Aufgabe 3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950976" y="5084064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Ein 80 °C warmer Körper berührt einen 20 °C kalten Körper. In welche Richtung wird Wärme übertragen?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2F6FAD"/>
          </a:solidFill>
          <a:ln w="12700">
            <a:solidFill>
              <a:srgbClr val="2F6FAD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01752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2F6FA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STUFE 4 · TRANSFER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66928" y="621792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Jetzt verknüpfen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9509760" y="310896"/>
            <a:ext cx="2057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20" b="1" dirty="0">
                <a:solidFill>
                  <a:srgbClr val="6070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Klasse 5</a:t>
            </a:r>
            <a:endParaRPr lang="en-US" sz="1020" dirty="0"/>
          </a:p>
        </p:txBody>
      </p:sp>
      <p:sp>
        <p:nvSpPr>
          <p:cNvPr id="6" name="Shape 4"/>
          <p:cNvSpPr/>
          <p:nvPr/>
        </p:nvSpPr>
        <p:spPr>
          <a:xfrm>
            <a:off x="566928" y="1280160"/>
            <a:ext cx="11045952" cy="0"/>
          </a:xfrm>
          <a:prstGeom prst="line">
            <a:avLst/>
          </a:prstGeom>
          <a:noFill/>
          <a:ln w="12700">
            <a:solidFill>
              <a:srgbClr val="CDD8E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6519672"/>
            <a:ext cx="5212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070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Fortlaufende Wiederholung · Physik NRW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137392" y="651967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070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58368" y="1463040"/>
            <a:ext cx="10698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070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Hier musst du mehr als einen Gedanken verbinden oder das Modell begründet anwenden.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49808" y="1938528"/>
            <a:ext cx="10607040" cy="1600200"/>
          </a:xfrm>
          <a:prstGeom prst="roundRect">
            <a:avLst>
              <a:gd name="adj" fmla="val 3429"/>
            </a:avLst>
          </a:prstGeom>
          <a:solidFill>
            <a:srgbClr val="F2EEF8"/>
          </a:solidFill>
          <a:ln w="12700">
            <a:solidFill>
              <a:srgbClr val="CDD8E2"/>
            </a:solidFill>
            <a:prstDash val="solid"/>
          </a:ln>
          <a:effectLst>
            <a:outerShdw sx="100000" sy="100000" kx="0" ky="0" algn="bl" rotWithShape="0" blurRad="12700" dist="50800" dir="2700000">
              <a:srgbClr val="A8B8C7">
                <a:alpha val="11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749808" y="1938528"/>
            <a:ext cx="68580" cy="1600200"/>
          </a:xfrm>
          <a:prstGeom prst="rect">
            <a:avLst/>
          </a:prstGeom>
          <a:solidFill>
            <a:srgbClr val="735D9B"/>
          </a:solidFill>
          <a:ln w="12700">
            <a:solidFill>
              <a:srgbClr val="735D9B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50976" y="2057400"/>
            <a:ext cx="102595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Anwendung / Transfer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950976" y="2432304"/>
            <a:ext cx="10241280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Eine Thermoskanne besitzt eine Vakuumschicht und verspiegelte Flächen. Ordne beiden Bauteilen die jeweils verringerte Art des Wärmetransports zu.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749808" y="3840480"/>
            <a:ext cx="10607040" cy="1600200"/>
          </a:xfrm>
          <a:prstGeom prst="roundRect">
            <a:avLst>
              <a:gd name="adj" fmla="val 3429"/>
            </a:avLst>
          </a:prstGeom>
          <a:solidFill>
            <a:srgbClr val="EDF5EF"/>
          </a:solidFill>
          <a:ln w="12700">
            <a:solidFill>
              <a:srgbClr val="CDD8E2"/>
            </a:solidFill>
            <a:prstDash val="solid"/>
          </a:ln>
          <a:effectLst>
            <a:outerShdw sx="100000" sy="100000" kx="0" ky="0" algn="bl" rotWithShape="0" blurRad="12700" dist="50800" dir="2700000">
              <a:srgbClr val="A8B8C7">
                <a:alpha val="11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49808" y="3840480"/>
            <a:ext cx="68580" cy="1600200"/>
          </a:xfrm>
          <a:prstGeom prst="rect">
            <a:avLst/>
          </a:prstGeom>
          <a:solidFill>
            <a:srgbClr val="4E7A5A"/>
          </a:solidFill>
          <a:ln w="12700">
            <a:solidFill>
              <a:srgbClr val="4E7A5A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50976" y="3959352"/>
            <a:ext cx="102595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Konzeptfrage · Warum?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950976" y="4334256"/>
            <a:ext cx="10241280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Erkläre mit dem Teilchenmodell, warum sich ein Gas beim Erwärmen bei gleichem Außendruck ausdehnen kann.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2926080" y="5833872"/>
            <a:ext cx="6336792" cy="402336"/>
          </a:xfrm>
          <a:prstGeom prst="roundRect">
            <a:avLst>
              <a:gd name="adj" fmla="val 11364"/>
            </a:avLst>
          </a:prstGeom>
          <a:solidFill>
            <a:srgbClr val="FFFFFF"/>
          </a:solidFill>
          <a:ln w="12700">
            <a:solidFill>
              <a:srgbClr val="CDD8E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090672" y="5925312"/>
            <a:ext cx="5989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9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Strategie: Gegeben → Gesucht → Modell/Formel → Ergebnis → Plausibilität</a:t>
            </a:r>
            <a:endParaRPr lang="en-US" sz="109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2F6FAD"/>
          </a:solidFill>
          <a:ln w="12700">
            <a:solidFill>
              <a:srgbClr val="2F6FAD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01752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2F6FA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STUFE 5 · DARSTELLEN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66928" y="621792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Erwärmen von Eis und Wasser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9509760" y="310896"/>
            <a:ext cx="2057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20" b="1" dirty="0">
                <a:solidFill>
                  <a:srgbClr val="6070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Klasse 5</a:t>
            </a:r>
            <a:endParaRPr lang="en-US" sz="1020" dirty="0"/>
          </a:p>
        </p:txBody>
      </p:sp>
      <p:sp>
        <p:nvSpPr>
          <p:cNvPr id="6" name="Shape 4"/>
          <p:cNvSpPr/>
          <p:nvPr/>
        </p:nvSpPr>
        <p:spPr>
          <a:xfrm>
            <a:off x="566928" y="1280160"/>
            <a:ext cx="11045952" cy="0"/>
          </a:xfrm>
          <a:prstGeom prst="line">
            <a:avLst/>
          </a:prstGeom>
          <a:noFill/>
          <a:ln w="12700">
            <a:solidFill>
              <a:srgbClr val="CDD8E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6519672"/>
            <a:ext cx="5212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070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Fortlaufende Wiederholung · Physik NRW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137392" y="651967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070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658368" y="1572768"/>
            <a:ext cx="7543800" cy="4526280"/>
          </a:xfrm>
          <a:prstGeom prst="roundRect">
            <a:avLst>
              <a:gd name="adj" fmla="val 1010"/>
            </a:avLst>
          </a:prstGeom>
          <a:solidFill>
            <a:srgbClr val="FFFFFF"/>
          </a:solidFill>
          <a:ln w="12700">
            <a:solidFill>
              <a:srgbClr val="CDD8E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444752" y="5340096"/>
            <a:ext cx="6291072" cy="0"/>
          </a:xfrm>
          <a:prstGeom prst="line">
            <a:avLst/>
          </a:prstGeom>
          <a:noFill/>
          <a:ln w="17780">
            <a:solidFill>
              <a:srgbClr val="203040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1444752" y="5340096"/>
            <a:ext cx="0" cy="-3355848"/>
          </a:xfrm>
          <a:prstGeom prst="line">
            <a:avLst/>
          </a:prstGeom>
          <a:noFill/>
          <a:ln w="17780">
            <a:solidFill>
              <a:srgbClr val="203040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1444752" y="1984248"/>
            <a:ext cx="0" cy="3355848"/>
          </a:xfrm>
          <a:prstGeom prst="line">
            <a:avLst/>
          </a:prstGeom>
          <a:noFill/>
          <a:ln w="7620">
            <a:solidFill>
              <a:srgbClr val="CDD8E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444752" y="5340096"/>
            <a:ext cx="6291072" cy="0"/>
          </a:xfrm>
          <a:prstGeom prst="line">
            <a:avLst/>
          </a:prstGeom>
          <a:noFill/>
          <a:ln w="7620">
            <a:solidFill>
              <a:srgbClr val="CDD8E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216152" y="5413248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6070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868680" y="5248656"/>
            <a:ext cx="4754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6070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-12,4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017520" y="1984248"/>
            <a:ext cx="0" cy="3355848"/>
          </a:xfrm>
          <a:prstGeom prst="line">
            <a:avLst/>
          </a:prstGeom>
          <a:noFill/>
          <a:ln w="7620">
            <a:solidFill>
              <a:srgbClr val="CDD8E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44752" y="4501134"/>
            <a:ext cx="6291072" cy="0"/>
          </a:xfrm>
          <a:prstGeom prst="line">
            <a:avLst/>
          </a:prstGeom>
          <a:noFill/>
          <a:ln w="7620">
            <a:solidFill>
              <a:srgbClr val="CDD8E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788920" y="5413248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6070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2,5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868680" y="4409694"/>
            <a:ext cx="4754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6070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-3,7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4590288" y="1984248"/>
            <a:ext cx="0" cy="3355848"/>
          </a:xfrm>
          <a:prstGeom prst="line">
            <a:avLst/>
          </a:prstGeom>
          <a:noFill/>
          <a:ln w="7620">
            <a:solidFill>
              <a:srgbClr val="CDD8E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444752" y="3662172"/>
            <a:ext cx="6291072" cy="0"/>
          </a:xfrm>
          <a:prstGeom prst="line">
            <a:avLst/>
          </a:prstGeom>
          <a:noFill/>
          <a:ln w="7620">
            <a:solidFill>
              <a:srgbClr val="CDD8E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361688" y="5413248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6070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868680" y="3570732"/>
            <a:ext cx="4754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6070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6163056" y="1984248"/>
            <a:ext cx="0" cy="3355848"/>
          </a:xfrm>
          <a:prstGeom prst="line">
            <a:avLst/>
          </a:prstGeom>
          <a:noFill/>
          <a:ln w="7620">
            <a:solidFill>
              <a:srgbClr val="CDD8E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444752" y="2823210"/>
            <a:ext cx="6291072" cy="0"/>
          </a:xfrm>
          <a:prstGeom prst="line">
            <a:avLst/>
          </a:prstGeom>
          <a:noFill/>
          <a:ln w="7620">
            <a:solidFill>
              <a:srgbClr val="CDD8E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934456" y="5413248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6070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7,5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868680" y="2731770"/>
            <a:ext cx="4754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6070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13,7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7735824" y="1984248"/>
            <a:ext cx="0" cy="3355848"/>
          </a:xfrm>
          <a:prstGeom prst="line">
            <a:avLst/>
          </a:prstGeom>
          <a:noFill/>
          <a:ln w="7620">
            <a:solidFill>
              <a:srgbClr val="CDD8E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444752" y="1984248"/>
            <a:ext cx="6291072" cy="0"/>
          </a:xfrm>
          <a:prstGeom prst="line">
            <a:avLst/>
          </a:prstGeom>
          <a:noFill/>
          <a:ln w="7620">
            <a:solidFill>
              <a:srgbClr val="CDD8E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507224" y="5413248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6070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868680" y="1892808"/>
            <a:ext cx="4754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6070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22,4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6501384" y="5669280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Zeit / min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868680" y="1755648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Temperatur / °C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1444752" y="5108658"/>
            <a:ext cx="1258214" cy="-964324"/>
          </a:xfrm>
          <a:prstGeom prst="line">
            <a:avLst/>
          </a:prstGeom>
          <a:noFill/>
          <a:ln w="30480">
            <a:solidFill>
              <a:srgbClr val="2F6FAD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2702966" y="4144334"/>
            <a:ext cx="1258214" cy="0"/>
          </a:xfrm>
          <a:prstGeom prst="line">
            <a:avLst/>
          </a:prstGeom>
          <a:noFill/>
          <a:ln w="30480">
            <a:solidFill>
              <a:srgbClr val="2F6FAD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961181" y="4144334"/>
            <a:ext cx="1258214" cy="0"/>
          </a:xfrm>
          <a:prstGeom prst="line">
            <a:avLst/>
          </a:prstGeom>
          <a:noFill/>
          <a:ln w="30480">
            <a:solidFill>
              <a:srgbClr val="2F6FAD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219395" y="4144334"/>
            <a:ext cx="1258214" cy="-964324"/>
          </a:xfrm>
          <a:prstGeom prst="line">
            <a:avLst/>
          </a:prstGeom>
          <a:noFill/>
          <a:ln w="30480">
            <a:solidFill>
              <a:srgbClr val="2F6FAD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477610" y="3180010"/>
            <a:ext cx="1258214" cy="-964324"/>
          </a:xfrm>
          <a:prstGeom prst="line">
            <a:avLst/>
          </a:prstGeom>
          <a:noFill/>
          <a:ln w="30480">
            <a:solidFill>
              <a:srgbClr val="2F6FAD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399032" y="5062938"/>
            <a:ext cx="91440" cy="914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F6FAD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657246" y="4098614"/>
            <a:ext cx="91440" cy="914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F6FAD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915461" y="4098614"/>
            <a:ext cx="91440" cy="914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F6FAD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5173675" y="4098614"/>
            <a:ext cx="91440" cy="914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F6FAD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6431890" y="3134290"/>
            <a:ext cx="91440" cy="914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F6FAD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7690104" y="2169966"/>
            <a:ext cx="91440" cy="914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F6FAD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1673352" y="5623560"/>
            <a:ext cx="1234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2F6FA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Messung</a:t>
            </a:r>
            <a:endParaRPr lang="en-US" sz="920" dirty="0"/>
          </a:p>
        </p:txBody>
      </p:sp>
      <p:sp>
        <p:nvSpPr>
          <p:cNvPr id="46" name="Shape 44"/>
          <p:cNvSpPr/>
          <p:nvPr/>
        </p:nvSpPr>
        <p:spPr>
          <a:xfrm>
            <a:off x="8412480" y="1572768"/>
            <a:ext cx="3108960" cy="2011680"/>
          </a:xfrm>
          <a:prstGeom prst="roundRect">
            <a:avLst>
              <a:gd name="adj" fmla="val 2727"/>
            </a:avLst>
          </a:prstGeom>
          <a:solidFill>
            <a:srgbClr val="EAF3FB"/>
          </a:solidFill>
          <a:ln w="12700">
            <a:solidFill>
              <a:srgbClr val="CDD8E2"/>
            </a:solidFill>
            <a:prstDash val="solid"/>
          </a:ln>
          <a:effectLst>
            <a:outerShdw sx="100000" sy="100000" kx="0" ky="0" algn="bl" rotWithShape="0" blurRad="12700" dist="50800" dir="2700000">
              <a:srgbClr val="A8B8C7">
                <a:alpha val="11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8412480" y="1572768"/>
            <a:ext cx="68580" cy="2011680"/>
          </a:xfrm>
          <a:prstGeom prst="rect">
            <a:avLst/>
          </a:prstGeom>
          <a:solidFill>
            <a:srgbClr val="2F6FAD"/>
          </a:solidFill>
          <a:ln w="12700">
            <a:solidFill>
              <a:srgbClr val="2F6FAD">
                <a:alpha val="0"/>
              </a:srgbClr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8613648" y="1691640"/>
            <a:ext cx="27614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Auswerten</a:t>
            </a:r>
            <a:endParaRPr lang="en-US" sz="1450" dirty="0"/>
          </a:p>
        </p:txBody>
      </p:sp>
      <p:sp>
        <p:nvSpPr>
          <p:cNvPr id="49" name="Text 47"/>
          <p:cNvSpPr/>
          <p:nvPr/>
        </p:nvSpPr>
        <p:spPr>
          <a:xfrm>
            <a:off x="8613648" y="2066544"/>
            <a:ext cx="2743200" cy="13898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165100" indent="-165100">
              <a:buSzPct val="100000"/>
              <a:buChar char="•"/>
            </a:pPr>
            <a:r>
              <a:rPr lang="en-US" sz="132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Was geschieht im waagerechten Abschnitt bei 0 °C?</a:t>
            </a:r>
            <a:endParaRPr lang="en-US" sz="1320" dirty="0"/>
          </a:p>
          <a:p>
            <a:pPr marL="165100" indent="-165100">
              <a:buSzPct val="100000"/>
              <a:buChar char="•"/>
            </a:pPr>
            <a:r>
              <a:rPr lang="en-US" sz="132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Warum steigt die Temperatur dort trotz Energiezufuhr zunächst nicht?</a:t>
            </a:r>
            <a:endParaRPr lang="en-US" sz="1320" dirty="0"/>
          </a:p>
        </p:txBody>
      </p:sp>
      <p:sp>
        <p:nvSpPr>
          <p:cNvPr id="50" name="Shape 48"/>
          <p:cNvSpPr/>
          <p:nvPr/>
        </p:nvSpPr>
        <p:spPr>
          <a:xfrm>
            <a:off x="8412480" y="3794760"/>
            <a:ext cx="3108960" cy="2304288"/>
          </a:xfrm>
          <a:prstGeom prst="roundRect">
            <a:avLst>
              <a:gd name="adj" fmla="val 2381"/>
            </a:avLst>
          </a:prstGeom>
          <a:solidFill>
            <a:srgbClr val="E8F4F2"/>
          </a:solidFill>
          <a:ln w="12700">
            <a:solidFill>
              <a:srgbClr val="CDD8E2"/>
            </a:solidFill>
            <a:prstDash val="solid"/>
          </a:ln>
          <a:effectLst>
            <a:outerShdw sx="100000" sy="100000" kx="0" ky="0" algn="bl" rotWithShape="0" blurRad="12700" dist="50800" dir="2700000">
              <a:srgbClr val="A8B8C7">
                <a:alpha val="11000"/>
              </a:srgbClr>
            </a:outerShdw>
          </a:effectLst>
        </p:spPr>
      </p:sp>
      <p:sp>
        <p:nvSpPr>
          <p:cNvPr id="51" name="Shape 49"/>
          <p:cNvSpPr/>
          <p:nvPr/>
        </p:nvSpPr>
        <p:spPr>
          <a:xfrm>
            <a:off x="8412480" y="3794760"/>
            <a:ext cx="68580" cy="2304288"/>
          </a:xfrm>
          <a:prstGeom prst="rect">
            <a:avLst/>
          </a:prstGeom>
          <a:solidFill>
            <a:srgbClr val="2C7A7B"/>
          </a:solidFill>
          <a:ln w="12700">
            <a:solidFill>
              <a:srgbClr val="2C7A7B">
                <a:alpha val="0"/>
              </a:srgbClr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8613648" y="3913632"/>
            <a:ext cx="27614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3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Darstellungssprache</a:t>
            </a:r>
            <a:endParaRPr lang="en-US" sz="1430" dirty="0"/>
          </a:p>
        </p:txBody>
      </p:sp>
      <p:sp>
        <p:nvSpPr>
          <p:cNvPr id="53" name="Text 51"/>
          <p:cNvSpPr/>
          <p:nvPr/>
        </p:nvSpPr>
        <p:spPr>
          <a:xfrm>
            <a:off x="8613648" y="4288536"/>
            <a:ext cx="2743200" cy="16824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165100" indent="-165100">
              <a:buSzPct val="100000"/>
              <a:buChar char="•"/>
            </a:pPr>
            <a:r>
              <a:rPr lang="en-US" sz="126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Achsen + Einheiten prüfen</a:t>
            </a:r>
            <a:endParaRPr lang="en-US" sz="1260" dirty="0"/>
          </a:p>
          <a:p>
            <a:pPr marL="165100" indent="-165100">
              <a:buSzPct val="100000"/>
              <a:buChar char="•"/>
            </a:pPr>
            <a:r>
              <a:rPr lang="en-US" sz="126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Trend beschreiben</a:t>
            </a:r>
            <a:endParaRPr lang="en-US" sz="1260" dirty="0"/>
          </a:p>
          <a:p>
            <a:pPr marL="165100" indent="-165100">
              <a:buSzPct val="100000"/>
              <a:buChar char="•"/>
            </a:pPr>
            <a:r>
              <a:rPr lang="en-US" sz="126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mit Fachbegriff/Formel begründen</a:t>
            </a:r>
            <a:endParaRPr lang="en-US" sz="126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2F6FAD"/>
          </a:solidFill>
          <a:ln w="12700">
            <a:solidFill>
              <a:srgbClr val="2F6FAD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01752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2F6FA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SICHERUNG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66928" y="621792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Lösungen und Exit-Ticket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9509760" y="310896"/>
            <a:ext cx="2057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20" b="1" dirty="0">
                <a:solidFill>
                  <a:srgbClr val="6070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Klasse 5</a:t>
            </a:r>
            <a:endParaRPr lang="en-US" sz="1020" dirty="0"/>
          </a:p>
        </p:txBody>
      </p:sp>
      <p:sp>
        <p:nvSpPr>
          <p:cNvPr id="6" name="Shape 4"/>
          <p:cNvSpPr/>
          <p:nvPr/>
        </p:nvSpPr>
        <p:spPr>
          <a:xfrm>
            <a:off x="566928" y="1280160"/>
            <a:ext cx="11045952" cy="0"/>
          </a:xfrm>
          <a:prstGeom prst="line">
            <a:avLst/>
          </a:prstGeom>
          <a:noFill/>
          <a:ln w="12700">
            <a:solidFill>
              <a:srgbClr val="CDD8E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6519672"/>
            <a:ext cx="5212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070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Fortlaufende Wiederholung · Physik NRW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137392" y="651967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070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58368" y="1444752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6070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Erst nach eigener Bearbeitung einblenden.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58368" y="1810512"/>
            <a:ext cx="5340096" cy="1060704"/>
          </a:xfrm>
          <a:prstGeom prst="roundRect">
            <a:avLst>
              <a:gd name="adj" fmla="val 5172"/>
            </a:avLst>
          </a:prstGeom>
          <a:solidFill>
            <a:srgbClr val="FFFFFF"/>
          </a:solidFill>
          <a:ln w="12700">
            <a:solidFill>
              <a:srgbClr val="CDD8E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58368" y="1810512"/>
            <a:ext cx="68580" cy="1060704"/>
          </a:xfrm>
          <a:prstGeom prst="rect">
            <a:avLst/>
          </a:prstGeom>
          <a:solidFill>
            <a:srgbClr val="2F6FAD"/>
          </a:solidFill>
          <a:ln w="12700">
            <a:solidFill>
              <a:srgbClr val="2F6FAD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59536" y="1929384"/>
            <a:ext cx="49926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8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Warm-up</a:t>
            </a:r>
            <a:endParaRPr lang="en-US" sz="1180" dirty="0"/>
          </a:p>
        </p:txBody>
      </p:sp>
      <p:sp>
        <p:nvSpPr>
          <p:cNvPr id="13" name="Text 11"/>
          <p:cNvSpPr/>
          <p:nvPr/>
        </p:nvSpPr>
        <p:spPr>
          <a:xfrm>
            <a:off x="859536" y="2304288"/>
            <a:ext cx="49743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6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Warm-up: Temperatur; °C; Temperatur = Zustand, Wärme = Energieübertragung; Leitung/Mitführung/Strahlung; ca. 4 °C.</a:t>
            </a:r>
            <a:endParaRPr lang="en-US" sz="1160" dirty="0"/>
          </a:p>
        </p:txBody>
      </p:sp>
      <p:sp>
        <p:nvSpPr>
          <p:cNvPr id="14" name="Shape 12"/>
          <p:cNvSpPr/>
          <p:nvPr/>
        </p:nvSpPr>
        <p:spPr>
          <a:xfrm>
            <a:off x="6181344" y="1810512"/>
            <a:ext cx="5340096" cy="1060704"/>
          </a:xfrm>
          <a:prstGeom prst="roundRect">
            <a:avLst>
              <a:gd name="adj" fmla="val 5172"/>
            </a:avLst>
          </a:prstGeom>
          <a:solidFill>
            <a:srgbClr val="FFFFFF"/>
          </a:solidFill>
          <a:ln w="12700">
            <a:solidFill>
              <a:srgbClr val="CDD8E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181344" y="1810512"/>
            <a:ext cx="68580" cy="1060704"/>
          </a:xfrm>
          <a:prstGeom prst="rect">
            <a:avLst/>
          </a:prstGeom>
          <a:solidFill>
            <a:srgbClr val="2C7A7B"/>
          </a:solidFill>
          <a:ln w="12700">
            <a:solidFill>
              <a:srgbClr val="2C7A7B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82512" y="1929384"/>
            <a:ext cx="49926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8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Basis 1</a:t>
            </a:r>
            <a:endParaRPr lang="en-US" sz="1180" dirty="0"/>
          </a:p>
        </p:txBody>
      </p:sp>
      <p:sp>
        <p:nvSpPr>
          <p:cNvPr id="17" name="Text 15"/>
          <p:cNvSpPr/>
          <p:nvPr/>
        </p:nvSpPr>
        <p:spPr>
          <a:xfrm>
            <a:off x="6382512" y="2304288"/>
            <a:ext cx="49743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6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Basis 1: ΔT = 6 °C.</a:t>
            </a:r>
            <a:endParaRPr lang="en-US" sz="1160" dirty="0"/>
          </a:p>
        </p:txBody>
      </p:sp>
      <p:sp>
        <p:nvSpPr>
          <p:cNvPr id="18" name="Shape 16"/>
          <p:cNvSpPr/>
          <p:nvPr/>
        </p:nvSpPr>
        <p:spPr>
          <a:xfrm>
            <a:off x="658368" y="3063240"/>
            <a:ext cx="5340096" cy="1060704"/>
          </a:xfrm>
          <a:prstGeom prst="roundRect">
            <a:avLst>
              <a:gd name="adj" fmla="val 5172"/>
            </a:avLst>
          </a:prstGeom>
          <a:solidFill>
            <a:srgbClr val="FFFFFF"/>
          </a:solidFill>
          <a:ln w="12700">
            <a:solidFill>
              <a:srgbClr val="CDD8E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58368" y="3063240"/>
            <a:ext cx="68580" cy="1060704"/>
          </a:xfrm>
          <a:prstGeom prst="rect">
            <a:avLst/>
          </a:prstGeom>
          <a:solidFill>
            <a:srgbClr val="2C7A7B"/>
          </a:solidFill>
          <a:ln w="12700">
            <a:solidFill>
              <a:srgbClr val="2C7A7B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59536" y="3182112"/>
            <a:ext cx="49926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8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Basis 2</a:t>
            </a:r>
            <a:endParaRPr lang="en-US" sz="1180" dirty="0"/>
          </a:p>
        </p:txBody>
      </p:sp>
      <p:sp>
        <p:nvSpPr>
          <p:cNvPr id="21" name="Text 19"/>
          <p:cNvSpPr/>
          <p:nvPr/>
        </p:nvSpPr>
        <p:spPr>
          <a:xfrm>
            <a:off x="859536" y="3557016"/>
            <a:ext cx="49743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6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Basis 2: Wärmeleitung im Metall.</a:t>
            </a:r>
            <a:endParaRPr lang="en-US" sz="1160" dirty="0"/>
          </a:p>
        </p:txBody>
      </p:sp>
      <p:sp>
        <p:nvSpPr>
          <p:cNvPr id="22" name="Shape 20"/>
          <p:cNvSpPr/>
          <p:nvPr/>
        </p:nvSpPr>
        <p:spPr>
          <a:xfrm>
            <a:off x="6181344" y="3063240"/>
            <a:ext cx="5340096" cy="1060704"/>
          </a:xfrm>
          <a:prstGeom prst="roundRect">
            <a:avLst>
              <a:gd name="adj" fmla="val 5172"/>
            </a:avLst>
          </a:prstGeom>
          <a:solidFill>
            <a:srgbClr val="FFFFFF"/>
          </a:solidFill>
          <a:ln w="12700">
            <a:solidFill>
              <a:srgbClr val="CDD8E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181344" y="3063240"/>
            <a:ext cx="68580" cy="1060704"/>
          </a:xfrm>
          <a:prstGeom prst="rect">
            <a:avLst/>
          </a:prstGeom>
          <a:solidFill>
            <a:srgbClr val="2C7A7B"/>
          </a:solidFill>
          <a:ln w="12700">
            <a:solidFill>
              <a:srgbClr val="2C7A7B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382512" y="3182112"/>
            <a:ext cx="49926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8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Basis 3</a:t>
            </a:r>
            <a:endParaRPr lang="en-US" sz="1180" dirty="0"/>
          </a:p>
        </p:txBody>
      </p:sp>
      <p:sp>
        <p:nvSpPr>
          <p:cNvPr id="25" name="Text 23"/>
          <p:cNvSpPr/>
          <p:nvPr/>
        </p:nvSpPr>
        <p:spPr>
          <a:xfrm>
            <a:off x="6382512" y="3557016"/>
            <a:ext cx="49743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6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Basis 3: vom warmen zum kalten Körper.</a:t>
            </a:r>
            <a:endParaRPr lang="en-US" sz="1160" dirty="0"/>
          </a:p>
        </p:txBody>
      </p:sp>
      <p:sp>
        <p:nvSpPr>
          <p:cNvPr id="26" name="Shape 24"/>
          <p:cNvSpPr/>
          <p:nvPr/>
        </p:nvSpPr>
        <p:spPr>
          <a:xfrm>
            <a:off x="658368" y="4315968"/>
            <a:ext cx="5340096" cy="1060704"/>
          </a:xfrm>
          <a:prstGeom prst="roundRect">
            <a:avLst>
              <a:gd name="adj" fmla="val 5172"/>
            </a:avLst>
          </a:prstGeom>
          <a:solidFill>
            <a:srgbClr val="FFFFFF"/>
          </a:solidFill>
          <a:ln w="12700">
            <a:solidFill>
              <a:srgbClr val="CDD8E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58368" y="4315968"/>
            <a:ext cx="68580" cy="1060704"/>
          </a:xfrm>
          <a:prstGeom prst="rect">
            <a:avLst/>
          </a:prstGeom>
          <a:solidFill>
            <a:srgbClr val="735D9B"/>
          </a:solidFill>
          <a:ln w="12700">
            <a:solidFill>
              <a:srgbClr val="735D9B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59536" y="4434840"/>
            <a:ext cx="49926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8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Anwendung</a:t>
            </a:r>
            <a:endParaRPr lang="en-US" sz="1180" dirty="0"/>
          </a:p>
        </p:txBody>
      </p:sp>
      <p:sp>
        <p:nvSpPr>
          <p:cNvPr id="29" name="Text 27"/>
          <p:cNvSpPr/>
          <p:nvPr/>
        </p:nvSpPr>
        <p:spPr>
          <a:xfrm>
            <a:off x="859536" y="4809744"/>
            <a:ext cx="49743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6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Transfer 1: Vakuum ↓ Leitung/Mitführung; Verspiegelung ↓ Wärmestrahlung.</a:t>
            </a:r>
            <a:endParaRPr lang="en-US" sz="1160" dirty="0"/>
          </a:p>
        </p:txBody>
      </p:sp>
      <p:sp>
        <p:nvSpPr>
          <p:cNvPr id="30" name="Shape 28"/>
          <p:cNvSpPr/>
          <p:nvPr/>
        </p:nvSpPr>
        <p:spPr>
          <a:xfrm>
            <a:off x="6181344" y="4315968"/>
            <a:ext cx="5340096" cy="1060704"/>
          </a:xfrm>
          <a:prstGeom prst="roundRect">
            <a:avLst>
              <a:gd name="adj" fmla="val 5172"/>
            </a:avLst>
          </a:prstGeom>
          <a:solidFill>
            <a:srgbClr val="FFFFFF"/>
          </a:solidFill>
          <a:ln w="12700">
            <a:solidFill>
              <a:srgbClr val="CDD8E2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181344" y="4315968"/>
            <a:ext cx="68580" cy="1060704"/>
          </a:xfrm>
          <a:prstGeom prst="rect">
            <a:avLst/>
          </a:prstGeom>
          <a:solidFill>
            <a:srgbClr val="735D9B"/>
          </a:solidFill>
          <a:ln w="12700">
            <a:solidFill>
              <a:srgbClr val="735D9B">
                <a:alpha val="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382512" y="4434840"/>
            <a:ext cx="49926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8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Konzeptfrage</a:t>
            </a:r>
            <a:endParaRPr lang="en-US" sz="1180" dirty="0"/>
          </a:p>
        </p:txBody>
      </p:sp>
      <p:sp>
        <p:nvSpPr>
          <p:cNvPr id="33" name="Text 31"/>
          <p:cNvSpPr/>
          <p:nvPr/>
        </p:nvSpPr>
        <p:spPr>
          <a:xfrm>
            <a:off x="6382512" y="4809744"/>
            <a:ext cx="49743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6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Transfer 2: Teilchen bewegen sich schneller und benötigen bei gleichem Druck mehr Raum.</a:t>
            </a:r>
            <a:endParaRPr lang="en-US" sz="1160" dirty="0"/>
          </a:p>
        </p:txBody>
      </p:sp>
      <p:sp>
        <p:nvSpPr>
          <p:cNvPr id="34" name="Shape 32"/>
          <p:cNvSpPr/>
          <p:nvPr/>
        </p:nvSpPr>
        <p:spPr>
          <a:xfrm>
            <a:off x="749808" y="5650992"/>
            <a:ext cx="10607040" cy="612648"/>
          </a:xfrm>
          <a:prstGeom prst="roundRect">
            <a:avLst>
              <a:gd name="adj" fmla="val 8955"/>
            </a:avLst>
          </a:prstGeom>
          <a:solidFill>
            <a:srgbClr val="FFF4DE"/>
          </a:solidFill>
          <a:ln w="15240">
            <a:solidFill>
              <a:srgbClr val="D78C24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32688" y="5815584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D78C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EXIT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1664208" y="5733288"/>
            <a:ext cx="94183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Erkläre in einem Satz, warum eine Winterjacke nicht „Wärme erzeugt“, sondern Wärmeverlust verringert.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Rivius Gymnasium Attendorn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Temperatur und Wärme – Wiederholung</dc:title>
  <dc:subject>KLP-basierte Wiederholung: Temperatur und Wärme</dc:subject>
  <dc:creator>Jonathan Hardenacke</dc:creator>
  <cp:lastModifiedBy>Jonathan Hardenacke</cp:lastModifiedBy>
  <cp:revision>1</cp:revision>
  <dcterms:created xsi:type="dcterms:W3CDTF">2026-09-12T09:38:45Z</dcterms:created>
  <dcterms:modified xsi:type="dcterms:W3CDTF">2026-09-12T09:38:45Z</dcterms:modified>
</cp:coreProperties>
</file>