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1143000"/>
            <a:ext cx="5303520" cy="5303520"/>
          </a:xfrm>
          <a:prstGeom prst="ellipse">
            <a:avLst/>
          </a:prstGeom>
          <a:solidFill>
            <a:srgbClr val="4C88C2">
              <a:alpha val="88000"/>
            </a:srgbClr>
          </a:solidFill>
          <a:ln w="12700">
            <a:solidFill>
              <a:srgbClr val="4C88C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29800" y="4251960"/>
            <a:ext cx="2514600" cy="2514600"/>
          </a:xfrm>
          <a:prstGeom prst="ellipse">
            <a:avLst/>
          </a:prstGeom>
          <a:solidFill>
            <a:srgbClr val="2C7A7B">
              <a:alpha val="80000"/>
            </a:srgbClr>
          </a:solidFill>
          <a:ln w="12700">
            <a:solidFill>
              <a:srgbClr val="2C7A7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61872"/>
            <a:ext cx="1051560" cy="0"/>
          </a:xfrm>
          <a:prstGeom prst="line">
            <a:avLst/>
          </a:prstGeom>
          <a:noFill/>
          <a:ln w="50800">
            <a:solidFill>
              <a:srgbClr val="6DB2E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5836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B8D4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Q1/Q2 LEISTUNGSKURS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1508760"/>
            <a:ext cx="8641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Quantenphysik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49808" y="3246120"/>
            <a:ext cx="6309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E5F0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KLP-basierte Wiederholung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49808" y="3776472"/>
            <a:ext cx="7132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BED2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Vom sicheren Abruf über einfache Anwendungen bis zum Transfer.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49808" y="4892040"/>
            <a:ext cx="4617720" cy="658368"/>
          </a:xfrm>
          <a:prstGeom prst="roundRect">
            <a:avLst>
              <a:gd name="adj" fmla="val 8333"/>
            </a:avLst>
          </a:prstGeom>
          <a:solidFill>
            <a:srgbClr val="1E425F"/>
          </a:solidFill>
          <a:ln w="12700">
            <a:solidFill>
              <a:srgbClr val="315B7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50976" y="50749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E2EE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 Abrufen    2  Verstehen    3  Rechnen    4  Transfer</a:t>
            </a:r>
            <a:endParaRPr lang="en-US" sz="1170" dirty="0"/>
          </a:p>
        </p:txBody>
      </p:sp>
      <p:sp>
        <p:nvSpPr>
          <p:cNvPr id="11" name="Text 9"/>
          <p:cNvSpPr/>
          <p:nvPr/>
        </p:nvSpPr>
        <p:spPr>
          <a:xfrm>
            <a:off x="749808" y="621792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A9C2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KLP-Recherche: 2026-09-12</a:t>
            </a:r>
            <a:endParaRPr lang="en-US" sz="97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0175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KLP-KOMPASS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Inhaltsfeld Quantenphysik (LK)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509760" y="310896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20" b="1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Q1/Q2 Leistungskurs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566928" y="1280160"/>
            <a:ext cx="11045952" cy="0"/>
          </a:xfrm>
          <a:prstGeom prst="line">
            <a:avLst/>
          </a:prstGeom>
          <a:noFill/>
          <a:ln w="12700">
            <a:solidFill>
              <a:srgbClr val="CDD8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519672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Fortlaufende Wiederholung · Physik NRW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37392" y="65196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58368" y="1600200"/>
            <a:ext cx="6492240" cy="4297680"/>
          </a:xfrm>
          <a:prstGeom prst="roundRect">
            <a:avLst>
              <a:gd name="adj" fmla="val 1277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8368" y="1600200"/>
            <a:ext cx="68580" cy="4297680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9536" y="1719072"/>
            <a:ext cx="6144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Verbindliche fachliche Schwerpunkte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859536" y="2093976"/>
            <a:ext cx="6126480" cy="3675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5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Teilchenaspekte von Photonen: Energiequantelung, Photoeffekt, Bremsstrahlung</a:t>
            </a:r>
            <a:endParaRPr lang="en-US" sz="1500" dirty="0"/>
          </a:p>
          <a:p>
            <a:pPr marL="165100" indent="-165100">
              <a:buSzPct val="100000"/>
              <a:buChar char="•"/>
            </a:pPr>
            <a:r>
              <a:rPr lang="en-US" sz="15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Photonen und Elektronen als Quantenobjekte: Doppelspalt, Bragg, Elektronenbeugung; Wahrscheinlichkeitsinterpretation, Delayed Choice, Kopenhagener Deutung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360920" y="1600200"/>
            <a:ext cx="4160520" cy="2029968"/>
          </a:xfrm>
          <a:prstGeom prst="roundRect">
            <a:avLst>
              <a:gd name="adj" fmla="val 2703"/>
            </a:avLst>
          </a:prstGeom>
          <a:solidFill>
            <a:srgbClr val="E8F4F2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60920" y="1600200"/>
            <a:ext cx="68580" cy="2029968"/>
          </a:xfrm>
          <a:prstGeom prst="rect">
            <a:avLst/>
          </a:prstGeom>
          <a:solidFill>
            <a:srgbClr val="2C7A7B"/>
          </a:solidFill>
          <a:ln w="12700">
            <a:solidFill>
              <a:srgbClr val="2C7A7B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62088" y="1719072"/>
            <a:ext cx="3813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Was du am Ende können sollst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7562088" y="2093976"/>
            <a:ext cx="3794760" cy="1408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25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Photonen und Elektronen als Quantenobjekte experimentell charakterisieren</a:t>
            </a:r>
            <a:endParaRPr lang="en-US" sz="1250" dirty="0"/>
          </a:p>
          <a:p>
            <a:pPr marL="165100" indent="-165100">
              <a:buSzPct val="100000"/>
              <a:buChar char="•"/>
            </a:pPr>
            <a:r>
              <a:rPr lang="en-US" sz="125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Photoeffekt, Beugung und Interferenz quantitativ auswerten</a:t>
            </a:r>
            <a:endParaRPr lang="en-US" sz="1250" dirty="0"/>
          </a:p>
          <a:p>
            <a:pPr marL="165100" indent="-165100">
              <a:buSzPct val="100000"/>
              <a:buChar char="•"/>
            </a:pPr>
            <a:r>
              <a:rPr lang="en-US" sz="125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Quantenobjekte mithilfe von Wahrscheinlichkeitsamplituden bzw. Wahrscheinlichkeitsaussagen deuten</a:t>
            </a:r>
            <a:endParaRPr lang="en-US" sz="1250" dirty="0"/>
          </a:p>
          <a:p>
            <a:pPr marL="165100" indent="-165100">
              <a:buSzPct val="100000"/>
              <a:buChar char="•"/>
            </a:pPr>
            <a:r>
              <a:rPr lang="en-US" sz="125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de-Broglie-Beziehung und Impuls-Energie-Zusammenhänge anwenden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360920" y="3840480"/>
            <a:ext cx="4160520" cy="2057400"/>
          </a:xfrm>
          <a:prstGeom prst="roundRect">
            <a:avLst>
              <a:gd name="adj" fmla="val 2667"/>
            </a:avLst>
          </a:prstGeom>
          <a:solidFill>
            <a:srgbClr val="FFF4DE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360920" y="3840480"/>
            <a:ext cx="68580" cy="2057400"/>
          </a:xfrm>
          <a:prstGeom prst="rect">
            <a:avLst/>
          </a:prstGeom>
          <a:solidFill>
            <a:srgbClr val="D78C24"/>
          </a:solidFill>
          <a:ln w="12700">
            <a:solidFill>
              <a:srgbClr val="D78C24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62088" y="3959352"/>
            <a:ext cx="3813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Lernweg dieser Präsentation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7562088" y="4334256"/>
            <a:ext cx="3794760" cy="1435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25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sehr leichte Abruffragen</a:t>
            </a:r>
            <a:endParaRPr lang="en-US" sz="1250" dirty="0"/>
          </a:p>
          <a:p>
            <a:pPr marL="165100" indent="-165100">
              <a:buSzPct val="100000"/>
              <a:buChar char="•"/>
            </a:pPr>
            <a:r>
              <a:rPr lang="en-US" sz="125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Begriffe und Formeln</a:t>
            </a:r>
            <a:endParaRPr lang="en-US" sz="1250" dirty="0"/>
          </a:p>
          <a:p>
            <a:pPr marL="165100" indent="-165100">
              <a:buSzPct val="100000"/>
              <a:buChar char="•"/>
            </a:pPr>
            <a:r>
              <a:rPr lang="en-US" sz="125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einfache Aufgaben</a:t>
            </a:r>
            <a:endParaRPr lang="en-US" sz="1250" dirty="0"/>
          </a:p>
          <a:p>
            <a:pPr marL="165100" indent="-165100">
              <a:buSzPct val="100000"/>
              <a:buChar char="•"/>
            </a:pPr>
            <a:r>
              <a:rPr lang="en-US" sz="125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Transfer und Grafik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13232" y="6062472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KLP Physik NRW 2022 · S. 50–51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0175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STUFE 1 · ABRUFEN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Leichter Einstieg → sicherer Abruf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509760" y="310896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20" b="1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Q1/Q2 Leistungskurs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566928" y="1280160"/>
            <a:ext cx="11045952" cy="0"/>
          </a:xfrm>
          <a:prstGeom prst="line">
            <a:avLst/>
          </a:prstGeom>
          <a:noFill/>
          <a:ln w="12700">
            <a:solidFill>
              <a:srgbClr val="CDD8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519672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Fortlaufende Wiederholung · Physik NRW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37392" y="65196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58368" y="1472184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Fragen 1–2 sind bewusst sehr leicht. Danach wird der Abruf schrittweise fachlicher.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49808" y="1856232"/>
            <a:ext cx="1060704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23544" y="1938528"/>
            <a:ext cx="493776" cy="493776"/>
          </a:xfrm>
          <a:prstGeom prst="ellipse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23544" y="1947672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609344" y="1947672"/>
            <a:ext cx="9573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Welche Farbe hat die höhere Frequenz: rotes oder blaues Licht?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49808" y="2670048"/>
            <a:ext cx="1060704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23544" y="2752344"/>
            <a:ext cx="493776" cy="493776"/>
          </a:xfrm>
          <a:prstGeom prst="ellipse">
            <a:avLst/>
          </a:prstGeom>
          <a:solidFill>
            <a:srgbClr val="4C88C2"/>
          </a:solidFill>
          <a:ln w="12700">
            <a:solidFill>
              <a:srgbClr val="4C88C2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3544" y="2761488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609344" y="2761488"/>
            <a:ext cx="9573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Werden Elektronen auf einem Schirm als einzelne lokalisierte Treffer oder als verwaschene Welle registriert?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49808" y="3483864"/>
            <a:ext cx="1060704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23544" y="3566160"/>
            <a:ext cx="493776" cy="493776"/>
          </a:xfrm>
          <a:prstGeom prst="ellipse">
            <a:avLst/>
          </a:prstGeom>
          <a:solidFill>
            <a:srgbClr val="2C7A7B"/>
          </a:solidFill>
          <a:ln w="12700">
            <a:solidFill>
              <a:srgbClr val="2C7A7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23544" y="3575304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609344" y="3575304"/>
            <a:ext cx="9573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Welche Gleichung verknüpft Photonenenergie und Frequenz?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49808" y="4297680"/>
            <a:ext cx="1060704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23544" y="4379976"/>
            <a:ext cx="493776" cy="493776"/>
          </a:xfrm>
          <a:prstGeom prst="ellipse">
            <a:avLst/>
          </a:prstGeom>
          <a:solidFill>
            <a:srgbClr val="4E7A5A"/>
          </a:solidFill>
          <a:ln w="12700">
            <a:solidFill>
              <a:srgbClr val="4E7A5A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23544" y="4389120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609344" y="4389120"/>
            <a:ext cx="9573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Welche Beziehung verknüpft Teilchenimpuls und de-Broglie-Wellenlänge?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49808" y="5111496"/>
            <a:ext cx="1060704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23544" y="5193792"/>
            <a:ext cx="493776" cy="493776"/>
          </a:xfrm>
          <a:prstGeom prst="ellipse">
            <a:avLst/>
          </a:prstGeom>
          <a:solidFill>
            <a:srgbClr val="D78C24"/>
          </a:solidFill>
          <a:ln w="12700">
            <a:solidFill>
              <a:srgbClr val="D78C24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23544" y="5202936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609344" y="5202936"/>
            <a:ext cx="9573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Was bedeutet |ψ|² in der Kopenhagener Deutung?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0175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STUFE 2 · VERSTEHEN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Fachbegriffe und Formeln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509760" y="310896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20" b="1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Q1/Q2 Leistungskurs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566928" y="1280160"/>
            <a:ext cx="11045952" cy="0"/>
          </a:xfrm>
          <a:prstGeom prst="line">
            <a:avLst/>
          </a:prstGeom>
          <a:noFill/>
          <a:ln w="12700">
            <a:solidFill>
              <a:srgbClr val="CDD8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519672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Fortlaufende Wiederholung · Physik NRW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37392" y="65196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58368" y="1600200"/>
            <a:ext cx="5340096" cy="1938528"/>
          </a:xfrm>
          <a:prstGeom prst="roundRect">
            <a:avLst>
              <a:gd name="adj" fmla="val 2830"/>
            </a:avLst>
          </a:prstGeom>
          <a:solidFill>
            <a:srgbClr val="F0F4F7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8368" y="1600200"/>
            <a:ext cx="68580" cy="1938528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9536" y="1719072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3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Photon</a:t>
            </a:r>
            <a:endParaRPr lang="en-US" sz="1530" dirty="0"/>
          </a:p>
        </p:txBody>
      </p:sp>
      <p:sp>
        <p:nvSpPr>
          <p:cNvPr id="12" name="Text 10"/>
          <p:cNvSpPr/>
          <p:nvPr/>
        </p:nvSpPr>
        <p:spPr>
          <a:xfrm>
            <a:off x="859536" y="2093976"/>
            <a:ext cx="4974336" cy="13167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Quant elektromagnetischer Strahlung mit E=hf und p=h/λ.</a:t>
            </a:r>
            <a:endParaRPr lang="en-US" sz="1300" dirty="0"/>
          </a:p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Einheit: –</a:t>
            </a:r>
            <a:endParaRPr lang="en-US" sz="1300" dirty="0"/>
          </a:p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Beziehung: E = h·f = h·c/λ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81344" y="1600200"/>
            <a:ext cx="5340096" cy="1938528"/>
          </a:xfrm>
          <a:prstGeom prst="roundRect">
            <a:avLst>
              <a:gd name="adj" fmla="val 2830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81344" y="1600200"/>
            <a:ext cx="68580" cy="1938528"/>
          </a:xfrm>
          <a:prstGeom prst="rect">
            <a:avLst/>
          </a:prstGeom>
          <a:solidFill>
            <a:srgbClr val="2C7A7B"/>
          </a:solidFill>
          <a:ln w="12700">
            <a:solidFill>
              <a:srgbClr val="2C7A7B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82512" y="1719072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3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de-Broglie-Wellenlänge</a:t>
            </a:r>
            <a:endParaRPr lang="en-US" sz="1530" dirty="0"/>
          </a:p>
        </p:txBody>
      </p:sp>
      <p:sp>
        <p:nvSpPr>
          <p:cNvPr id="16" name="Text 14"/>
          <p:cNvSpPr/>
          <p:nvPr/>
        </p:nvSpPr>
        <p:spPr>
          <a:xfrm>
            <a:off x="6382512" y="2093976"/>
            <a:ext cx="4974336" cy="13167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λ=h/p für Materieteilchen.</a:t>
            </a:r>
            <a:endParaRPr lang="en-US" sz="1300" dirty="0"/>
          </a:p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Einheit: m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58368" y="3822192"/>
            <a:ext cx="5340096" cy="1938528"/>
          </a:xfrm>
          <a:prstGeom prst="roundRect">
            <a:avLst>
              <a:gd name="adj" fmla="val 2830"/>
            </a:avLst>
          </a:prstGeom>
          <a:solidFill>
            <a:srgbClr val="F0F4F7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58368" y="3822192"/>
            <a:ext cx="68580" cy="1938528"/>
          </a:xfrm>
          <a:prstGeom prst="rect">
            <a:avLst/>
          </a:prstGeom>
          <a:solidFill>
            <a:srgbClr val="D78C24"/>
          </a:solidFill>
          <a:ln w="12700">
            <a:solidFill>
              <a:srgbClr val="D78C24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9536" y="3941064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3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Wahrscheinlichkeitsdichte |ψ|²</a:t>
            </a:r>
            <a:endParaRPr lang="en-US" sz="1530" dirty="0"/>
          </a:p>
        </p:txBody>
      </p:sp>
      <p:sp>
        <p:nvSpPr>
          <p:cNvPr id="20" name="Text 18"/>
          <p:cNvSpPr/>
          <p:nvPr/>
        </p:nvSpPr>
        <p:spPr>
          <a:xfrm>
            <a:off x="859536" y="4315968"/>
            <a:ext cx="4974336" cy="13167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Maß für die räumliche Nachweiswahrscheinlichkeit.</a:t>
            </a:r>
            <a:endParaRPr lang="en-US" sz="1300" dirty="0"/>
          </a:p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Einheit: 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181344" y="3822192"/>
            <a:ext cx="5340096" cy="1938528"/>
          </a:xfrm>
          <a:prstGeom prst="roundRect">
            <a:avLst>
              <a:gd name="adj" fmla="val 2830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81344" y="3822192"/>
            <a:ext cx="68580" cy="1938528"/>
          </a:xfrm>
          <a:prstGeom prst="rect">
            <a:avLst/>
          </a:prstGeom>
          <a:solidFill>
            <a:srgbClr val="4E7A5A"/>
          </a:solidFill>
          <a:ln w="12700">
            <a:solidFill>
              <a:srgbClr val="4E7A5A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82512" y="3941064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3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Unbestimmtheit</a:t>
            </a:r>
            <a:endParaRPr lang="en-US" sz="1530" dirty="0"/>
          </a:p>
        </p:txBody>
      </p:sp>
      <p:sp>
        <p:nvSpPr>
          <p:cNvPr id="24" name="Text 22"/>
          <p:cNvSpPr/>
          <p:nvPr/>
        </p:nvSpPr>
        <p:spPr>
          <a:xfrm>
            <a:off x="6382512" y="4315968"/>
            <a:ext cx="4974336" cy="13167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Bestimmte Größenpaare können nicht gleichzeitig beliebig scharf präpariert werden.</a:t>
            </a:r>
            <a:endParaRPr lang="en-US" sz="1300" dirty="0"/>
          </a:p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Einheit: –</a:t>
            </a:r>
            <a:endParaRPr lang="en-US" sz="1300" dirty="0"/>
          </a:p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Beziehung: Δx·Δp ≳ ħ/2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0175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STUFE 3 · ANWENDEN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Einfache Aufgaben und Rechenbeispiele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509760" y="310896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20" b="1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Q1/Q2 Leistungskurs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566928" y="1280160"/>
            <a:ext cx="11045952" cy="0"/>
          </a:xfrm>
          <a:prstGeom prst="line">
            <a:avLst/>
          </a:prstGeom>
          <a:noFill/>
          <a:ln w="12700">
            <a:solidFill>
              <a:srgbClr val="CDD8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519672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Fortlaufende Wiederholung · Physik NRW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37392" y="65196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58368" y="1463040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Rechne zunächst mit bewusst einfachen Zahlen und klaren Einzelschritten.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49808" y="1865376"/>
            <a:ext cx="10607040" cy="1124712"/>
          </a:xfrm>
          <a:prstGeom prst="roundRect">
            <a:avLst>
              <a:gd name="adj" fmla="val 4878"/>
            </a:avLst>
          </a:prstGeom>
          <a:solidFill>
            <a:srgbClr val="EAF3FB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49808" y="1865376"/>
            <a:ext cx="68580" cy="1124712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0976" y="1984248"/>
            <a:ext cx="10259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Aufgabe 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50976" y="235915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Photonenergie 3,0 eV, Austrittsarbeit 2,0 eV: Berechne E_kin,max.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49808" y="3227832"/>
            <a:ext cx="10607040" cy="1124712"/>
          </a:xfrm>
          <a:prstGeom prst="roundRect">
            <a:avLst>
              <a:gd name="adj" fmla="val 4878"/>
            </a:avLst>
          </a:prstGeom>
          <a:solidFill>
            <a:srgbClr val="E8F4F2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49808" y="3227832"/>
            <a:ext cx="68580" cy="1124712"/>
          </a:xfrm>
          <a:prstGeom prst="rect">
            <a:avLst/>
          </a:prstGeom>
          <a:solidFill>
            <a:srgbClr val="2C7A7B"/>
          </a:solidFill>
          <a:ln w="12700">
            <a:solidFill>
              <a:srgbClr val="2C7A7B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0976" y="3346704"/>
            <a:ext cx="10259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Aufgabe 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50976" y="3721608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p=6,63·10⁻²⁴ kg·m/s. Berechne λ=h/p.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49808" y="4590288"/>
            <a:ext cx="10607040" cy="1124712"/>
          </a:xfrm>
          <a:prstGeom prst="roundRect">
            <a:avLst>
              <a:gd name="adj" fmla="val 4878"/>
            </a:avLst>
          </a:prstGeom>
          <a:solidFill>
            <a:srgbClr val="FFF4DE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49808" y="4590288"/>
            <a:ext cx="68580" cy="1124712"/>
          </a:xfrm>
          <a:prstGeom prst="rect">
            <a:avLst/>
          </a:prstGeom>
          <a:solidFill>
            <a:srgbClr val="D78C24"/>
          </a:solidFill>
          <a:ln w="12700">
            <a:solidFill>
              <a:srgbClr val="D78C24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50976" y="4709160"/>
            <a:ext cx="10259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Aufgabe 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50976" y="5084064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Bragg: d=0,20 nm, θ=30°, n=1. Bestimme λ aus 2d·sinθ=nλ.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0175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STUFE 4 · TRANSFER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Jetzt verknüpfen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509760" y="310896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20" b="1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Q1/Q2 Leistungskurs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566928" y="1280160"/>
            <a:ext cx="11045952" cy="0"/>
          </a:xfrm>
          <a:prstGeom prst="line">
            <a:avLst/>
          </a:prstGeom>
          <a:noFill/>
          <a:ln w="12700">
            <a:solidFill>
              <a:srgbClr val="CDD8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519672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Fortlaufende Wiederholung · Physik NRW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37392" y="65196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58368" y="1463040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Hier musst du mehr als einen Gedanken verbinden oder das Modell begründet anwenden.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49808" y="1938528"/>
            <a:ext cx="10607040" cy="1600200"/>
          </a:xfrm>
          <a:prstGeom prst="roundRect">
            <a:avLst>
              <a:gd name="adj" fmla="val 3429"/>
            </a:avLst>
          </a:prstGeom>
          <a:solidFill>
            <a:srgbClr val="F2EEF8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49808" y="1938528"/>
            <a:ext cx="68580" cy="1600200"/>
          </a:xfrm>
          <a:prstGeom prst="rect">
            <a:avLst/>
          </a:prstGeom>
          <a:solidFill>
            <a:srgbClr val="735D9B"/>
          </a:solidFill>
          <a:ln w="12700">
            <a:solidFill>
              <a:srgbClr val="735D9B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0976" y="2057400"/>
            <a:ext cx="10259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Anwendung / Transfer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50976" y="2432304"/>
            <a:ext cx="1024128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Ein Display sendet blaues und rotes Licht aus. Begründe mit E=h·f und c=λ·f, warum blaue Photonen energiereicher und kurzwelliger sind.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49808" y="3840480"/>
            <a:ext cx="10607040" cy="1600200"/>
          </a:xfrm>
          <a:prstGeom prst="roundRect">
            <a:avLst>
              <a:gd name="adj" fmla="val 3429"/>
            </a:avLst>
          </a:prstGeom>
          <a:solidFill>
            <a:srgbClr val="EDF5EF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49808" y="3840480"/>
            <a:ext cx="68580" cy="1600200"/>
          </a:xfrm>
          <a:prstGeom prst="rect">
            <a:avLst/>
          </a:prstGeom>
          <a:solidFill>
            <a:srgbClr val="4E7A5A"/>
          </a:solidFill>
          <a:ln w="12700">
            <a:solidFill>
              <a:srgbClr val="4E7A5A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0976" y="3959352"/>
            <a:ext cx="10259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Konzeptfrage · Warum?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50976" y="4334256"/>
            <a:ext cx="1024128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Erkläre, warum beim Delayed-Choice-Experiment die Messanordnung bestimmt, welche komplementäre Eigenschaft zugänglich ist, ohne rückwirkende klassische Signalübertragung anzunehmen.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2926080" y="5833872"/>
            <a:ext cx="6336792" cy="402336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90672" y="5925312"/>
            <a:ext cx="5989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9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Strategie: Gegeben → Gesucht → Modell/Formel → Ergebnis → Plausibilität</a:t>
            </a:r>
            <a:endParaRPr lang="en-US" sz="109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0175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STUFE 5 · DARSTELLEN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Photoeffekt – lineare Auswertung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509760" y="310896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20" b="1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Q1/Q2 Leistungskurs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566928" y="1280160"/>
            <a:ext cx="11045952" cy="0"/>
          </a:xfrm>
          <a:prstGeom prst="line">
            <a:avLst/>
          </a:prstGeom>
          <a:noFill/>
          <a:ln w="12700">
            <a:solidFill>
              <a:srgbClr val="CDD8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519672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Fortlaufende Wiederholung · Physik NRW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37392" y="65196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58368" y="1572768"/>
            <a:ext cx="7543800" cy="4526280"/>
          </a:xfrm>
          <a:prstGeom prst="roundRect">
            <a:avLst>
              <a:gd name="adj" fmla="val 1010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444752" y="5340096"/>
            <a:ext cx="6291072" cy="0"/>
          </a:xfrm>
          <a:prstGeom prst="line">
            <a:avLst/>
          </a:prstGeom>
          <a:noFill/>
          <a:ln w="17780">
            <a:solidFill>
              <a:srgbClr val="203040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1444752" y="5340096"/>
            <a:ext cx="0" cy="-3355848"/>
          </a:xfrm>
          <a:prstGeom prst="line">
            <a:avLst/>
          </a:prstGeom>
          <a:noFill/>
          <a:ln w="17780">
            <a:solidFill>
              <a:srgbClr val="203040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1444752" y="1984248"/>
            <a:ext cx="0" cy="3355848"/>
          </a:xfrm>
          <a:prstGeom prst="line">
            <a:avLst/>
          </a:prstGeom>
          <a:noFill/>
          <a:ln w="7620">
            <a:solidFill>
              <a:srgbClr val="CDD8E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444752" y="5340096"/>
            <a:ext cx="6291072" cy="0"/>
          </a:xfrm>
          <a:prstGeom prst="line">
            <a:avLst/>
          </a:prstGeom>
          <a:noFill/>
          <a:ln w="7620">
            <a:solidFill>
              <a:srgbClr val="CDD8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16152" y="541324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868680" y="5248656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-0,38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017520" y="1984248"/>
            <a:ext cx="0" cy="3355848"/>
          </a:xfrm>
          <a:prstGeom prst="line">
            <a:avLst/>
          </a:prstGeom>
          <a:noFill/>
          <a:ln w="7620">
            <a:solidFill>
              <a:srgbClr val="CDD8E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4752" y="4501134"/>
            <a:ext cx="6291072" cy="0"/>
          </a:xfrm>
          <a:prstGeom prst="line">
            <a:avLst/>
          </a:prstGeom>
          <a:noFill/>
          <a:ln w="7620">
            <a:solidFill>
              <a:srgbClr val="CDD8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88920" y="541324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1,5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868680" y="4409694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1,01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590288" y="1984248"/>
            <a:ext cx="0" cy="3355848"/>
          </a:xfrm>
          <a:prstGeom prst="line">
            <a:avLst/>
          </a:prstGeom>
          <a:noFill/>
          <a:ln w="7620">
            <a:solidFill>
              <a:srgbClr val="CDD8E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444752" y="3662172"/>
            <a:ext cx="6291072" cy="0"/>
          </a:xfrm>
          <a:prstGeom prst="line">
            <a:avLst/>
          </a:prstGeom>
          <a:noFill/>
          <a:ln w="7620">
            <a:solidFill>
              <a:srgbClr val="CDD8E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61688" y="541324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868680" y="3570732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2,4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163056" y="1984248"/>
            <a:ext cx="0" cy="3355848"/>
          </a:xfrm>
          <a:prstGeom prst="line">
            <a:avLst/>
          </a:prstGeom>
          <a:noFill/>
          <a:ln w="7620">
            <a:solidFill>
              <a:srgbClr val="CDD8E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444752" y="2823210"/>
            <a:ext cx="6291072" cy="0"/>
          </a:xfrm>
          <a:prstGeom prst="line">
            <a:avLst/>
          </a:prstGeom>
          <a:noFill/>
          <a:ln w="7620">
            <a:solidFill>
              <a:srgbClr val="CDD8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34456" y="541324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4,5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868680" y="2731770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3,79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7735824" y="1984248"/>
            <a:ext cx="0" cy="3355848"/>
          </a:xfrm>
          <a:prstGeom prst="line">
            <a:avLst/>
          </a:prstGeom>
          <a:noFill/>
          <a:ln w="7620">
            <a:solidFill>
              <a:srgbClr val="CDD8E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444752" y="1984248"/>
            <a:ext cx="6291072" cy="0"/>
          </a:xfrm>
          <a:prstGeom prst="line">
            <a:avLst/>
          </a:prstGeom>
          <a:noFill/>
          <a:ln w="7620">
            <a:solidFill>
              <a:srgbClr val="CDD8E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507224" y="541324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868680" y="1892808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5,18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501384" y="566928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Frequenz f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868680" y="175564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E_kin,max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541776" y="5108658"/>
            <a:ext cx="1048512" cy="-723243"/>
          </a:xfrm>
          <a:prstGeom prst="line">
            <a:avLst/>
          </a:prstGeom>
          <a:noFill/>
          <a:ln w="30480">
            <a:solidFill>
              <a:srgbClr val="2F6FA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90288" y="4385415"/>
            <a:ext cx="1048512" cy="-723243"/>
          </a:xfrm>
          <a:prstGeom prst="line">
            <a:avLst/>
          </a:prstGeom>
          <a:noFill/>
          <a:ln w="30480">
            <a:solidFill>
              <a:srgbClr val="2F6FA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638800" y="3662172"/>
            <a:ext cx="1048512" cy="-723243"/>
          </a:xfrm>
          <a:prstGeom prst="line">
            <a:avLst/>
          </a:prstGeom>
          <a:noFill/>
          <a:ln w="30480">
            <a:solidFill>
              <a:srgbClr val="2F6FA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687312" y="2938929"/>
            <a:ext cx="1048512" cy="-723243"/>
          </a:xfrm>
          <a:prstGeom prst="line">
            <a:avLst/>
          </a:prstGeom>
          <a:noFill/>
          <a:ln w="30480">
            <a:solidFill>
              <a:srgbClr val="2F6FA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496056" y="5062938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F6FA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544568" y="4339695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F6FA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593080" y="3616452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F6FA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641592" y="2893209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F6FA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690104" y="2169966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F6FA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673352" y="5623560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Messung</a:t>
            </a:r>
            <a:endParaRPr lang="en-US" sz="920" dirty="0"/>
          </a:p>
        </p:txBody>
      </p:sp>
      <p:sp>
        <p:nvSpPr>
          <p:cNvPr id="44" name="Text 42"/>
          <p:cNvSpPr/>
          <p:nvPr/>
        </p:nvSpPr>
        <p:spPr>
          <a:xfrm>
            <a:off x="3182112" y="5184648"/>
            <a:ext cx="457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553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f_g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410712" y="2167128"/>
            <a:ext cx="0" cy="3063240"/>
          </a:xfrm>
          <a:prstGeom prst="line">
            <a:avLst/>
          </a:prstGeom>
          <a:noFill/>
          <a:ln w="12700">
            <a:solidFill>
              <a:srgbClr val="B5535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412480" y="1572768"/>
            <a:ext cx="3108960" cy="2011680"/>
          </a:xfrm>
          <a:prstGeom prst="roundRect">
            <a:avLst>
              <a:gd name="adj" fmla="val 2727"/>
            </a:avLst>
          </a:prstGeom>
          <a:solidFill>
            <a:srgbClr val="EAF3FB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8412480" y="1572768"/>
            <a:ext cx="68580" cy="2011680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613648" y="1691640"/>
            <a:ext cx="2761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Auswerten</a:t>
            </a:r>
            <a:endParaRPr lang="en-US" sz="1450" dirty="0"/>
          </a:p>
        </p:txBody>
      </p:sp>
      <p:sp>
        <p:nvSpPr>
          <p:cNvPr id="49" name="Text 47"/>
          <p:cNvSpPr/>
          <p:nvPr/>
        </p:nvSpPr>
        <p:spPr>
          <a:xfrm>
            <a:off x="8613648" y="2066544"/>
            <a:ext cx="2743200" cy="1389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Wie erkennt man die Grenzfrequenz?</a:t>
            </a:r>
            <a:endParaRPr lang="en-US" sz="1320" dirty="0"/>
          </a:p>
          <a:p>
            <a:pPr marL="165100" indent="-1651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Wie lässt sich h aus einer geeigneten linearen Darstellung bestimmen?</a:t>
            </a:r>
            <a:endParaRPr lang="en-US" sz="1320" dirty="0"/>
          </a:p>
        </p:txBody>
      </p:sp>
      <p:sp>
        <p:nvSpPr>
          <p:cNvPr id="50" name="Shape 48"/>
          <p:cNvSpPr/>
          <p:nvPr/>
        </p:nvSpPr>
        <p:spPr>
          <a:xfrm>
            <a:off x="8412480" y="3794760"/>
            <a:ext cx="3108960" cy="2304288"/>
          </a:xfrm>
          <a:prstGeom prst="roundRect">
            <a:avLst>
              <a:gd name="adj" fmla="val 2381"/>
            </a:avLst>
          </a:prstGeom>
          <a:solidFill>
            <a:srgbClr val="E8F4F2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8412480" y="3794760"/>
            <a:ext cx="68580" cy="2304288"/>
          </a:xfrm>
          <a:prstGeom prst="rect">
            <a:avLst/>
          </a:prstGeom>
          <a:solidFill>
            <a:srgbClr val="2C7A7B"/>
          </a:solidFill>
          <a:ln w="12700">
            <a:solidFill>
              <a:srgbClr val="2C7A7B">
                <a:alpha val="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613648" y="3913632"/>
            <a:ext cx="2761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3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Darstellungssprache</a:t>
            </a:r>
            <a:endParaRPr lang="en-US" sz="1430" dirty="0"/>
          </a:p>
        </p:txBody>
      </p:sp>
      <p:sp>
        <p:nvSpPr>
          <p:cNvPr id="53" name="Text 51"/>
          <p:cNvSpPr/>
          <p:nvPr/>
        </p:nvSpPr>
        <p:spPr>
          <a:xfrm>
            <a:off x="8613648" y="4288536"/>
            <a:ext cx="2743200" cy="1682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26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Achsen + Einheiten prüfen</a:t>
            </a:r>
            <a:endParaRPr lang="en-US" sz="1260" dirty="0"/>
          </a:p>
          <a:p>
            <a:pPr marL="165100" indent="-165100">
              <a:buSzPct val="100000"/>
              <a:buChar char="•"/>
            </a:pPr>
            <a:r>
              <a:rPr lang="en-US" sz="126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Trend beschreiben</a:t>
            </a:r>
            <a:endParaRPr lang="en-US" sz="1260" dirty="0"/>
          </a:p>
          <a:p>
            <a:pPr marL="165100" indent="-165100">
              <a:buSzPct val="100000"/>
              <a:buChar char="•"/>
            </a:pPr>
            <a:r>
              <a:rPr lang="en-US" sz="126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mit Fachbegriff/Formel begründen</a:t>
            </a:r>
            <a:endParaRPr lang="en-US" sz="126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0175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SICHERUNG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Lösungen und Exit-Ticket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509760" y="310896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20" b="1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Q1/Q2 Leistungskurs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566928" y="1280160"/>
            <a:ext cx="11045952" cy="0"/>
          </a:xfrm>
          <a:prstGeom prst="line">
            <a:avLst/>
          </a:prstGeom>
          <a:noFill/>
          <a:ln w="12700">
            <a:solidFill>
              <a:srgbClr val="CDD8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519672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Fortlaufende Wiederholung · Physik NRW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37392" y="65196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58368" y="144475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Erst nach eigener Bearbeitung einblenden.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8368" y="1810512"/>
            <a:ext cx="5340096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1810512"/>
            <a:ext cx="68580" cy="1060704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" y="1929384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Warm-up</a:t>
            </a:r>
            <a:endParaRPr lang="en-US" sz="1180" dirty="0"/>
          </a:p>
        </p:txBody>
      </p:sp>
      <p:sp>
        <p:nvSpPr>
          <p:cNvPr id="13" name="Text 11"/>
          <p:cNvSpPr/>
          <p:nvPr/>
        </p:nvSpPr>
        <p:spPr>
          <a:xfrm>
            <a:off x="859536" y="2304288"/>
            <a:ext cx="4974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Warm-up: blau; als einzelne Treffer; E=h·f; λ=h/p; |ψ|² beschreibt die Wahrscheinlichkeitsdichte für ein Messergebnis bzw. einen Nachweisort.</a:t>
            </a:r>
            <a:endParaRPr lang="en-US" sz="1160" dirty="0"/>
          </a:p>
        </p:txBody>
      </p:sp>
      <p:sp>
        <p:nvSpPr>
          <p:cNvPr id="14" name="Shape 12"/>
          <p:cNvSpPr/>
          <p:nvPr/>
        </p:nvSpPr>
        <p:spPr>
          <a:xfrm>
            <a:off x="6181344" y="1810512"/>
            <a:ext cx="5340096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81344" y="1810512"/>
            <a:ext cx="68580" cy="1060704"/>
          </a:xfrm>
          <a:prstGeom prst="rect">
            <a:avLst/>
          </a:prstGeom>
          <a:solidFill>
            <a:srgbClr val="2C7A7B"/>
          </a:solidFill>
          <a:ln w="12700">
            <a:solidFill>
              <a:srgbClr val="2C7A7B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82512" y="1929384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Basis 1</a:t>
            </a:r>
            <a:endParaRPr lang="en-US" sz="1180" dirty="0"/>
          </a:p>
        </p:txBody>
      </p:sp>
      <p:sp>
        <p:nvSpPr>
          <p:cNvPr id="17" name="Text 15"/>
          <p:cNvSpPr/>
          <p:nvPr/>
        </p:nvSpPr>
        <p:spPr>
          <a:xfrm>
            <a:off x="6382512" y="2304288"/>
            <a:ext cx="4974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Basis 1: 1,0 eV.</a:t>
            </a:r>
            <a:endParaRPr lang="en-US" sz="1160" dirty="0"/>
          </a:p>
        </p:txBody>
      </p:sp>
      <p:sp>
        <p:nvSpPr>
          <p:cNvPr id="18" name="Shape 16"/>
          <p:cNvSpPr/>
          <p:nvPr/>
        </p:nvSpPr>
        <p:spPr>
          <a:xfrm>
            <a:off x="658368" y="3063240"/>
            <a:ext cx="5340096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3063240"/>
            <a:ext cx="68580" cy="1060704"/>
          </a:xfrm>
          <a:prstGeom prst="rect">
            <a:avLst/>
          </a:prstGeom>
          <a:solidFill>
            <a:srgbClr val="2C7A7B"/>
          </a:solidFill>
          <a:ln w="12700">
            <a:solidFill>
              <a:srgbClr val="2C7A7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9536" y="3182112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Basis 2</a:t>
            </a:r>
            <a:endParaRPr lang="en-US" sz="1180" dirty="0"/>
          </a:p>
        </p:txBody>
      </p:sp>
      <p:sp>
        <p:nvSpPr>
          <p:cNvPr id="21" name="Text 19"/>
          <p:cNvSpPr/>
          <p:nvPr/>
        </p:nvSpPr>
        <p:spPr>
          <a:xfrm>
            <a:off x="859536" y="3557016"/>
            <a:ext cx="4974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Basis 2: 1,0·10⁻¹⁰ m.</a:t>
            </a:r>
            <a:endParaRPr lang="en-US" sz="1160" dirty="0"/>
          </a:p>
        </p:txBody>
      </p:sp>
      <p:sp>
        <p:nvSpPr>
          <p:cNvPr id="22" name="Shape 20"/>
          <p:cNvSpPr/>
          <p:nvPr/>
        </p:nvSpPr>
        <p:spPr>
          <a:xfrm>
            <a:off x="6181344" y="3063240"/>
            <a:ext cx="5340096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81344" y="3063240"/>
            <a:ext cx="68580" cy="1060704"/>
          </a:xfrm>
          <a:prstGeom prst="rect">
            <a:avLst/>
          </a:prstGeom>
          <a:solidFill>
            <a:srgbClr val="2C7A7B"/>
          </a:solidFill>
          <a:ln w="12700">
            <a:solidFill>
              <a:srgbClr val="2C7A7B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82512" y="3182112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Basis 3</a:t>
            </a:r>
            <a:endParaRPr lang="en-US" sz="1180" dirty="0"/>
          </a:p>
        </p:txBody>
      </p:sp>
      <p:sp>
        <p:nvSpPr>
          <p:cNvPr id="25" name="Text 23"/>
          <p:cNvSpPr/>
          <p:nvPr/>
        </p:nvSpPr>
        <p:spPr>
          <a:xfrm>
            <a:off x="6382512" y="3557016"/>
            <a:ext cx="4974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Basis 3: 0,20 nm.</a:t>
            </a:r>
            <a:endParaRPr lang="en-US" sz="1160" dirty="0"/>
          </a:p>
        </p:txBody>
      </p:sp>
      <p:sp>
        <p:nvSpPr>
          <p:cNvPr id="26" name="Shape 24"/>
          <p:cNvSpPr/>
          <p:nvPr/>
        </p:nvSpPr>
        <p:spPr>
          <a:xfrm>
            <a:off x="658368" y="4315968"/>
            <a:ext cx="5340096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58368" y="4315968"/>
            <a:ext cx="68580" cy="1060704"/>
          </a:xfrm>
          <a:prstGeom prst="rect">
            <a:avLst/>
          </a:prstGeom>
          <a:solidFill>
            <a:srgbClr val="735D9B"/>
          </a:solidFill>
          <a:ln w="12700">
            <a:solidFill>
              <a:srgbClr val="735D9B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9536" y="4434840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Anwendung</a:t>
            </a:r>
            <a:endParaRPr lang="en-US" sz="1180" dirty="0"/>
          </a:p>
        </p:txBody>
      </p:sp>
      <p:sp>
        <p:nvSpPr>
          <p:cNvPr id="29" name="Text 27"/>
          <p:cNvSpPr/>
          <p:nvPr/>
        </p:nvSpPr>
        <p:spPr>
          <a:xfrm>
            <a:off x="859536" y="4809744"/>
            <a:ext cx="4974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Anwendung: Blaues Licht hat eine höhere Frequenz und daher E=h·f eine größere Photonenenergie; wegen c=λ·f besitzt es zugleich die kleinere Wellenlänge.</a:t>
            </a:r>
            <a:endParaRPr lang="en-US" sz="1160" dirty="0"/>
          </a:p>
        </p:txBody>
      </p:sp>
      <p:sp>
        <p:nvSpPr>
          <p:cNvPr id="30" name="Shape 28"/>
          <p:cNvSpPr/>
          <p:nvPr/>
        </p:nvSpPr>
        <p:spPr>
          <a:xfrm>
            <a:off x="6181344" y="4315968"/>
            <a:ext cx="5340096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81344" y="4315968"/>
            <a:ext cx="68580" cy="1060704"/>
          </a:xfrm>
          <a:prstGeom prst="rect">
            <a:avLst/>
          </a:prstGeom>
          <a:solidFill>
            <a:srgbClr val="735D9B"/>
          </a:solidFill>
          <a:ln w="12700">
            <a:solidFill>
              <a:srgbClr val="735D9B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82512" y="4434840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Konzeptfrage</a:t>
            </a:r>
            <a:endParaRPr lang="en-US" sz="1180" dirty="0"/>
          </a:p>
        </p:txBody>
      </p:sp>
      <p:sp>
        <p:nvSpPr>
          <p:cNvPr id="33" name="Text 31"/>
          <p:cNvSpPr/>
          <p:nvPr/>
        </p:nvSpPr>
        <p:spPr>
          <a:xfrm>
            <a:off x="6382512" y="4809744"/>
            <a:ext cx="4974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Konzeptfrage: Die Versuchsanordnung legt fest, welche Observable sinnvoll bestimmt wird. Das ist eine Aussage über Messkontext und Komplementarität, nicht über eine klassische rückwärts laufende Ursache oder Signalübertragung.</a:t>
            </a:r>
            <a:endParaRPr lang="en-US" sz="1160" dirty="0"/>
          </a:p>
        </p:txBody>
      </p:sp>
      <p:sp>
        <p:nvSpPr>
          <p:cNvPr id="34" name="Shape 32"/>
          <p:cNvSpPr/>
          <p:nvPr/>
        </p:nvSpPr>
        <p:spPr>
          <a:xfrm>
            <a:off x="749808" y="5650992"/>
            <a:ext cx="10607040" cy="612648"/>
          </a:xfrm>
          <a:prstGeom prst="roundRect">
            <a:avLst>
              <a:gd name="adj" fmla="val 8955"/>
            </a:avLst>
          </a:prstGeom>
          <a:solidFill>
            <a:srgbClr val="FFF4DE"/>
          </a:solidFill>
          <a:ln w="15240">
            <a:solidFill>
              <a:srgbClr val="D78C2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32688" y="5815584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78C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EXIT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1664208" y="5733288"/>
            <a:ext cx="94183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Nenne zwei Grenzen klassischer Anschauungsbegriffe bei Quantenobjekten.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Rivius Gymnasium Attendorn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Quantenphysik – Wiederholung</dc:title>
  <dc:subject>KLP-basierte Wiederholung: Quantenphysik</dc:subject>
  <dc:creator>Jonathan Hardenacke</dc:creator>
  <cp:lastModifiedBy>Jonathan Hardenacke</cp:lastModifiedBy>
  <cp:revision>1</cp:revision>
  <dcterms:created xsi:type="dcterms:W3CDTF">2026-09-12T09:38:45Z</dcterms:created>
  <dcterms:modified xsi:type="dcterms:W3CDTF">2026-09-12T09:38:45Z</dcterms:modified>
</cp:coreProperties>
</file>