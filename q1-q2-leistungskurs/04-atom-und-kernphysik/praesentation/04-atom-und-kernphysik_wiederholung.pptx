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1500000">
            <a:off x="7498080" y="-914400"/>
            <a:ext cx="5943600" cy="5943600"/>
          </a:xfrm>
          <a:prstGeom prst="arc">
            <a:avLst/>
          </a:prstGeom>
          <a:solidFill>
            <a:srgbClr val="2F6FAD">
              <a:alpha val="84000"/>
            </a:srgbClr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46920" y="4434840"/>
            <a:ext cx="2468880" cy="2468880"/>
          </a:xfrm>
          <a:prstGeom prst="ellipse">
            <a:avLst/>
          </a:prstGeom>
          <a:solidFill>
            <a:srgbClr val="2C7A7B">
              <a:alpha val="75000"/>
            </a:srgbClr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243584"/>
            <a:ext cx="1051560" cy="0"/>
          </a:xfrm>
          <a:prstGeom prst="line">
            <a:avLst/>
          </a:prstGeom>
          <a:noFill/>
          <a:ln w="50800">
            <a:solidFill>
              <a:srgbClr val="6FB4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658368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A9CDE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Q1/Q2 LEISTUNGSKURS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13232" y="1444752"/>
            <a:ext cx="8686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Atom- und Kernphysik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749808" y="3346704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DCEA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Wiederholungspräsentation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749808" y="3840480"/>
            <a:ext cx="6949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BFD3E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 lebendes Dokument: Nach jeder Stunde wächst der Rückblick um eine neue Folie.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49808" y="5074920"/>
            <a:ext cx="4114800" cy="566928"/>
          </a:xfrm>
          <a:prstGeom prst="roundRect">
            <a:avLst>
              <a:gd name="adj" fmla="val 12903"/>
            </a:avLst>
          </a:prstGeom>
          <a:solidFill>
            <a:srgbClr val="1B405E"/>
          </a:solidFill>
          <a:ln w="12700">
            <a:solidFill>
              <a:srgbClr val="315B7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5212080"/>
            <a:ext cx="3703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DEA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Kernideen · Begriffe · Beziehungen · Schnellcheck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749808" y="623620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A9C1D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Physik NRW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ORIENTIERUNG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Das bleibt hängen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784080" y="33832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Q1/Q2 Leistungskurs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11045952" cy="0"/>
          </a:xfrm>
          <a:prstGeom prst="line">
            <a:avLst/>
          </a:prstGeom>
          <a:noFill/>
          <a:ln w="12700">
            <a:solidFill>
              <a:srgbClr val="C8D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2881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58368" y="1645920"/>
            <a:ext cx="5413248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59536" y="1920240"/>
            <a:ext cx="576072" cy="576072"/>
          </a:xfrm>
          <a:prstGeom prst="ellipse">
            <a:avLst/>
          </a:prstGeom>
          <a:solidFill>
            <a:srgbClr val="EAF3FB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1929384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591056" y="1810512"/>
            <a:ext cx="425196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Historische und moderne Atommodelle anhand von Experimenten vergleichen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72784" y="1645920"/>
            <a:ext cx="5257800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73952" y="1920240"/>
            <a:ext cx="576072" cy="576072"/>
          </a:xfrm>
          <a:prstGeom prst="ellipse">
            <a:avLst/>
          </a:prstGeom>
          <a:solidFill>
            <a:srgbClr val="EAF3FB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3952" y="1929384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205472" y="1810512"/>
            <a:ext cx="409651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Linienspektren und quantisierte Energieniveaus quantitativ beschreiben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58368" y="2999232"/>
            <a:ext cx="5413248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9536" y="3273552"/>
            <a:ext cx="576072" cy="576072"/>
          </a:xfrm>
          <a:prstGeom prst="ellipse">
            <a:avLst/>
          </a:prstGeom>
          <a:solidFill>
            <a:srgbClr val="EAF3FB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3282696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591056" y="3163824"/>
            <a:ext cx="425196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Aufbau und Bindung von Atomkernen analysieren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272784" y="2999232"/>
            <a:ext cx="5257800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73952" y="3273552"/>
            <a:ext cx="576072" cy="576072"/>
          </a:xfrm>
          <a:prstGeom prst="ellipse">
            <a:avLst/>
          </a:prstGeom>
          <a:solidFill>
            <a:srgbClr val="EAF3FB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3952" y="3282696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205472" y="3163824"/>
            <a:ext cx="409651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Radioaktive Zerfälle mit Exponentialgesetzen modellieren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658368" y="4352544"/>
            <a:ext cx="10872216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59536" y="4626864"/>
            <a:ext cx="576072" cy="576072"/>
          </a:xfrm>
          <a:prstGeom prst="ellipse">
            <a:avLst/>
          </a:prstGeom>
          <a:solidFill>
            <a:srgbClr val="EAF3FB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9536" y="4636008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591056" y="4517136"/>
            <a:ext cx="971092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Kernspaltung, Kernfusion und Massendefekt energetisch bilanzieren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WERKZEUGKASTEN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Begriffe und Modelle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784080" y="33832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Q1/Q2 Leistungskurs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11045952" cy="0"/>
          </a:xfrm>
          <a:prstGeom prst="line">
            <a:avLst/>
          </a:prstGeom>
          <a:noFill/>
          <a:ln w="12700">
            <a:solidFill>
              <a:srgbClr val="C8D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2881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58368" y="1627632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8368" y="1627632"/>
            <a:ext cx="73152" cy="1417320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1773936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Energieniveau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877824" y="2157984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Diskreter stationärer Energiezustand.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272784" y="1627632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272784" y="1627632"/>
            <a:ext cx="73152" cy="1417320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3952" y="1773936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Massendefekt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492240" y="2157984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Differenz zwischen Summe freier Nukleonenmassen und Kernmasse.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58368" y="320040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8368" y="3200400"/>
            <a:ext cx="73152" cy="1417320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3346704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Bindungsenergie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77824" y="3730752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Energie, die zum vollständigen Zerlegen eines Kerns in freie Nukleonen nötig ist.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272784" y="320040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272784" y="3200400"/>
            <a:ext cx="73152" cy="1417320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3952" y="3346704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Zerfallskonstante λ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6492240" y="3730752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Wahrscheinlichkeit pro Zeit für den Zerfall eines instabilen Kerns.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658368" y="4773168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58368" y="4773168"/>
            <a:ext cx="73152" cy="1417320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9536" y="4919472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Halbwertszeit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877824" y="5303520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Zeit, nach der die Hälfte einer großen Ausgangsmenge noch nicht zerfallen ist.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6272784" y="4773168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272784" y="4773168"/>
            <a:ext cx="73152" cy="1417320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73952" y="4919472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Kernreaktion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6492240" y="5303520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Umwandlung von Atomkernen unter Erhaltung zentraler Größen.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ZUSAMMENHÄNGE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Formeln, Beziehungen und zentrale Aussagen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784080" y="33832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Q1/Q2 Leistungskurs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11045952" cy="0"/>
          </a:xfrm>
          <a:prstGeom prst="line">
            <a:avLst/>
          </a:prstGeom>
          <a:noFill/>
          <a:ln w="12700">
            <a:solidFill>
              <a:srgbClr val="C8D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2881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58368" y="1618488"/>
            <a:ext cx="5394960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59536" y="1746504"/>
            <a:ext cx="4992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Photonenübergang</a:t>
            </a:r>
            <a:endParaRPr lang="en-US" sz="1380" dirty="0"/>
          </a:p>
        </p:txBody>
      </p:sp>
      <p:sp>
        <p:nvSpPr>
          <p:cNvPr id="11" name="Text 9"/>
          <p:cNvSpPr/>
          <p:nvPr/>
        </p:nvSpPr>
        <p:spPr>
          <a:xfrm>
            <a:off x="859536" y="2093976"/>
            <a:ext cx="49926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Energie eines emittierten oder absorbierten Photons.</a:t>
            </a:r>
            <a:endParaRPr lang="en-US" sz="1270" dirty="0"/>
          </a:p>
        </p:txBody>
      </p:sp>
      <p:sp>
        <p:nvSpPr>
          <p:cNvPr id="12" name="Shape 10"/>
          <p:cNvSpPr/>
          <p:nvPr/>
        </p:nvSpPr>
        <p:spPr>
          <a:xfrm>
            <a:off x="859536" y="2697480"/>
            <a:ext cx="2011680" cy="237744"/>
          </a:xfrm>
          <a:prstGeom prst="roundRect">
            <a:avLst>
              <a:gd name="adj" fmla="val 1538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50976" y="2715768"/>
            <a:ext cx="18288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ΔE = h·f</a:t>
            </a:r>
            <a:endParaRPr lang="en-US" sz="1040" dirty="0"/>
          </a:p>
        </p:txBody>
      </p:sp>
      <p:sp>
        <p:nvSpPr>
          <p:cNvPr id="14" name="Shape 12"/>
          <p:cNvSpPr/>
          <p:nvPr/>
        </p:nvSpPr>
        <p:spPr>
          <a:xfrm>
            <a:off x="6272784" y="1618488"/>
            <a:ext cx="5394960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3952" y="1746504"/>
            <a:ext cx="4992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Radioaktiver Zerfall</a:t>
            </a:r>
            <a:endParaRPr lang="en-US" sz="1380" dirty="0"/>
          </a:p>
        </p:txBody>
      </p:sp>
      <p:sp>
        <p:nvSpPr>
          <p:cNvPr id="16" name="Text 14"/>
          <p:cNvSpPr/>
          <p:nvPr/>
        </p:nvSpPr>
        <p:spPr>
          <a:xfrm>
            <a:off x="6473952" y="2093976"/>
            <a:ext cx="49926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Exponentialgesetz.</a:t>
            </a:r>
            <a:endParaRPr lang="en-US" sz="1270" dirty="0"/>
          </a:p>
        </p:txBody>
      </p:sp>
      <p:sp>
        <p:nvSpPr>
          <p:cNvPr id="17" name="Shape 15"/>
          <p:cNvSpPr/>
          <p:nvPr/>
        </p:nvSpPr>
        <p:spPr>
          <a:xfrm>
            <a:off x="6473952" y="2697480"/>
            <a:ext cx="2011680" cy="237744"/>
          </a:xfrm>
          <a:prstGeom prst="roundRect">
            <a:avLst>
              <a:gd name="adj" fmla="val 1538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65392" y="2715768"/>
            <a:ext cx="18288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N(t) = N₀·e^(−λt)</a:t>
            </a:r>
            <a:endParaRPr lang="en-US" sz="1040" dirty="0"/>
          </a:p>
        </p:txBody>
      </p:sp>
      <p:sp>
        <p:nvSpPr>
          <p:cNvPr id="19" name="Shape 17"/>
          <p:cNvSpPr/>
          <p:nvPr/>
        </p:nvSpPr>
        <p:spPr>
          <a:xfrm>
            <a:off x="658368" y="3182112"/>
            <a:ext cx="5394960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59536" y="3310128"/>
            <a:ext cx="4992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Halbwertszeit</a:t>
            </a:r>
            <a:endParaRPr lang="en-US" sz="1380" dirty="0"/>
          </a:p>
        </p:txBody>
      </p:sp>
      <p:sp>
        <p:nvSpPr>
          <p:cNvPr id="21" name="Text 19"/>
          <p:cNvSpPr/>
          <p:nvPr/>
        </p:nvSpPr>
        <p:spPr>
          <a:xfrm>
            <a:off x="859536" y="3657600"/>
            <a:ext cx="49926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Zusammenhang mit λ.</a:t>
            </a:r>
            <a:endParaRPr lang="en-US" sz="1270" dirty="0"/>
          </a:p>
        </p:txBody>
      </p:sp>
      <p:sp>
        <p:nvSpPr>
          <p:cNvPr id="22" name="Shape 20"/>
          <p:cNvSpPr/>
          <p:nvPr/>
        </p:nvSpPr>
        <p:spPr>
          <a:xfrm>
            <a:off x="859536" y="4261104"/>
            <a:ext cx="2011680" cy="237744"/>
          </a:xfrm>
          <a:prstGeom prst="roundRect">
            <a:avLst>
              <a:gd name="adj" fmla="val 1538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50976" y="4279392"/>
            <a:ext cx="18288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T₁/₂ = ln(2)/λ</a:t>
            </a:r>
            <a:endParaRPr lang="en-US" sz="1040" dirty="0"/>
          </a:p>
        </p:txBody>
      </p:sp>
      <p:sp>
        <p:nvSpPr>
          <p:cNvPr id="24" name="Shape 22"/>
          <p:cNvSpPr/>
          <p:nvPr/>
        </p:nvSpPr>
        <p:spPr>
          <a:xfrm>
            <a:off x="6272784" y="3182112"/>
            <a:ext cx="5394960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73952" y="3310128"/>
            <a:ext cx="4992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Masse-Energie</a:t>
            </a:r>
            <a:endParaRPr lang="en-US" sz="1380" dirty="0"/>
          </a:p>
        </p:txBody>
      </p:sp>
      <p:sp>
        <p:nvSpPr>
          <p:cNvPr id="26" name="Text 24"/>
          <p:cNvSpPr/>
          <p:nvPr/>
        </p:nvSpPr>
        <p:spPr>
          <a:xfrm>
            <a:off x="6473952" y="3657600"/>
            <a:ext cx="49926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Massendefekt entspricht Bindungsenergie.</a:t>
            </a:r>
            <a:endParaRPr lang="en-US" sz="1270" dirty="0"/>
          </a:p>
        </p:txBody>
      </p:sp>
      <p:sp>
        <p:nvSpPr>
          <p:cNvPr id="27" name="Shape 25"/>
          <p:cNvSpPr/>
          <p:nvPr/>
        </p:nvSpPr>
        <p:spPr>
          <a:xfrm>
            <a:off x="6473952" y="4261104"/>
            <a:ext cx="2011680" cy="237744"/>
          </a:xfrm>
          <a:prstGeom prst="roundRect">
            <a:avLst>
              <a:gd name="adj" fmla="val 1538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65392" y="4279392"/>
            <a:ext cx="18288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E_B = Δm·c²</a:t>
            </a:r>
            <a:endParaRPr lang="en-US" sz="1040" dirty="0"/>
          </a:p>
        </p:txBody>
      </p:sp>
      <p:sp>
        <p:nvSpPr>
          <p:cNvPr id="29" name="Shape 27"/>
          <p:cNvSpPr/>
          <p:nvPr/>
        </p:nvSpPr>
        <p:spPr>
          <a:xfrm>
            <a:off x="658368" y="4745736"/>
            <a:ext cx="11009376" cy="1298448"/>
          </a:xfrm>
          <a:prstGeom prst="roundRect">
            <a:avLst>
              <a:gd name="adj" fmla="val 4930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59536" y="487375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Kernenergie</a:t>
            </a:r>
            <a:endParaRPr lang="en-US" sz="1380" dirty="0"/>
          </a:p>
        </p:txBody>
      </p:sp>
      <p:sp>
        <p:nvSpPr>
          <p:cNvPr id="31" name="Text 29"/>
          <p:cNvSpPr/>
          <p:nvPr/>
        </p:nvSpPr>
        <p:spPr>
          <a:xfrm>
            <a:off x="859536" y="5221224"/>
            <a:ext cx="10607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Fission und Fusion setzen Energie frei, wenn Produkte stärker gebunden sind.</a:t>
            </a:r>
            <a:endParaRPr lang="en-US" sz="1270" dirty="0"/>
          </a:p>
        </p:txBody>
      </p:sp>
      <p:sp>
        <p:nvSpPr>
          <p:cNvPr id="32" name="Shape 30"/>
          <p:cNvSpPr/>
          <p:nvPr/>
        </p:nvSpPr>
        <p:spPr>
          <a:xfrm>
            <a:off x="859536" y="5733288"/>
            <a:ext cx="2011680" cy="237744"/>
          </a:xfrm>
          <a:prstGeom prst="roundRect">
            <a:avLst>
              <a:gd name="adj" fmla="val 1538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50976" y="5751576"/>
            <a:ext cx="18288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 = Δm·c²</a:t>
            </a:r>
            <a:endParaRPr lang="en-US" sz="104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ABRUFÜBUNG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Schnellcheck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784080" y="33832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Q1/Q2 Leistungskurs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11045952" cy="0"/>
          </a:xfrm>
          <a:prstGeom prst="line">
            <a:avLst/>
          </a:prstGeom>
          <a:noFill/>
          <a:ln w="12700">
            <a:solidFill>
              <a:srgbClr val="C8D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2881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58368" y="158191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Ohne Unterlagen beantworten – erst danach gemeinsam prüfen.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49808" y="2148840"/>
            <a:ext cx="10561320" cy="987552"/>
          </a:xfrm>
          <a:prstGeom prst="roundRect">
            <a:avLst>
              <a:gd name="adj" fmla="val 648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9264" y="2368296"/>
            <a:ext cx="548640" cy="548640"/>
          </a:xfrm>
          <a:prstGeom prst="ellipse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9264" y="2386584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755648" y="2286000"/>
            <a:ext cx="9098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Wie zeigen Linienspektren die Quantisierung atomarer Energien?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49808" y="3383280"/>
            <a:ext cx="10561320" cy="987552"/>
          </a:xfrm>
          <a:prstGeom prst="roundRect">
            <a:avLst>
              <a:gd name="adj" fmla="val 648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602736"/>
            <a:ext cx="548640" cy="548640"/>
          </a:xfrm>
          <a:prstGeom prst="ellipse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621024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755648" y="3520440"/>
            <a:ext cx="9098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Was bedeutet der Massendefekt physikalisch?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749808" y="4617720"/>
            <a:ext cx="10561320" cy="987552"/>
          </a:xfrm>
          <a:prstGeom prst="roundRect">
            <a:avLst>
              <a:gd name="adj" fmla="val 648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9264" y="4837176"/>
            <a:ext cx="548640" cy="548640"/>
          </a:xfrm>
          <a:prstGeom prst="ellipse">
            <a:avLst/>
          </a:prstGeom>
          <a:solidFill>
            <a:srgbClr val="D9902F"/>
          </a:solidFill>
          <a:ln w="12700">
            <a:solidFill>
              <a:srgbClr val="D9902F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9264" y="4855464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755648" y="4754880"/>
            <a:ext cx="9098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Warum ist Kernfusion leichter Kerne und Kernspaltung sehr schwerer Kerne energetisch möglich?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4096512" y="5943600"/>
            <a:ext cx="3977640" cy="384048"/>
          </a:xfrm>
          <a:prstGeom prst="roundRect">
            <a:avLst>
              <a:gd name="adj" fmla="val 1190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251960" y="601675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Tipp: Erklären ist stärker als nur nennen.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FORTSCHREIBEN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Stundenrückblick – Vorlage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784080" y="33832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Q1/Q2 Leistungskurs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11045952" cy="0"/>
          </a:xfrm>
          <a:prstGeom prst="line">
            <a:avLst/>
          </a:prstGeom>
          <a:noFill/>
          <a:ln w="12700">
            <a:solidFill>
              <a:srgbClr val="C8D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2881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58368" y="1645920"/>
            <a:ext cx="5413248" cy="1627632"/>
          </a:xfrm>
          <a:prstGeom prst="roundRect">
            <a:avLst>
              <a:gd name="adj" fmla="val 4494"/>
            </a:avLst>
          </a:prstGeom>
          <a:solidFill>
            <a:srgbClr val="EAF3FB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8368" y="1645920"/>
            <a:ext cx="73152" cy="162763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1792224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Heute neu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77824" y="2176272"/>
            <a:ext cx="4992624" cy="9509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max. 3 zentrale Erkenntnisse</a:t>
            </a:r>
            <a:endParaRPr lang="en-US" sz="1340" dirty="0"/>
          </a:p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eigenen Worten</a:t>
            </a:r>
            <a:endParaRPr lang="en-US" sz="1340" dirty="0"/>
          </a:p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Bezug zum Vorwissen herstellen</a:t>
            </a:r>
            <a:endParaRPr lang="en-US" sz="1340" dirty="0"/>
          </a:p>
        </p:txBody>
      </p:sp>
      <p:sp>
        <p:nvSpPr>
          <p:cNvPr id="13" name="Shape 11"/>
          <p:cNvSpPr/>
          <p:nvPr/>
        </p:nvSpPr>
        <p:spPr>
          <a:xfrm>
            <a:off x="6272784" y="1645920"/>
            <a:ext cx="5257800" cy="1627632"/>
          </a:xfrm>
          <a:prstGeom prst="roundRect">
            <a:avLst>
              <a:gd name="adj" fmla="val 4494"/>
            </a:avLst>
          </a:prstGeom>
          <a:solidFill>
            <a:srgbClr val="E6F4F1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272784" y="1645920"/>
            <a:ext cx="73152" cy="1627632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3952" y="1792224"/>
            <a:ext cx="4873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Experiment / Beobachtung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92240" y="2176272"/>
            <a:ext cx="4837176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 prägnanter Versuch, Messwert, Graph oder Alltagsbezug als Anker für die Stunde.</a:t>
            </a:r>
            <a:endParaRPr lang="en-US" sz="1340" dirty="0"/>
          </a:p>
        </p:txBody>
      </p:sp>
      <p:sp>
        <p:nvSpPr>
          <p:cNvPr id="17" name="Shape 15"/>
          <p:cNvSpPr/>
          <p:nvPr/>
        </p:nvSpPr>
        <p:spPr>
          <a:xfrm>
            <a:off x="658368" y="3520440"/>
            <a:ext cx="5413248" cy="1627632"/>
          </a:xfrm>
          <a:prstGeom prst="roundRect">
            <a:avLst>
              <a:gd name="adj" fmla="val 4494"/>
            </a:avLst>
          </a:prstGeom>
          <a:solidFill>
            <a:srgbClr val="FFF3DE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8368" y="3520440"/>
            <a:ext cx="73152" cy="1627632"/>
          </a:xfrm>
          <a:prstGeom prst="rect">
            <a:avLst/>
          </a:prstGeom>
          <a:solidFill>
            <a:srgbClr val="D9902F"/>
          </a:solidFill>
          <a:ln w="12700">
            <a:solidFill>
              <a:srgbClr val="D9902F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3666744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Merksatz / Formel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77824" y="4050792"/>
            <a:ext cx="499262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Genau eine zentrale Aussage oder Beziehung festhalten – möglichst mit Bedeutung der Größen.</a:t>
            </a:r>
            <a:endParaRPr lang="en-US" sz="1340" dirty="0"/>
          </a:p>
        </p:txBody>
      </p:sp>
      <p:sp>
        <p:nvSpPr>
          <p:cNvPr id="21" name="Shape 19"/>
          <p:cNvSpPr/>
          <p:nvPr/>
        </p:nvSpPr>
        <p:spPr>
          <a:xfrm>
            <a:off x="6272784" y="3520440"/>
            <a:ext cx="5257800" cy="1627632"/>
          </a:xfrm>
          <a:prstGeom prst="roundRect">
            <a:avLst>
              <a:gd name="adj" fmla="val 4494"/>
            </a:avLst>
          </a:prstGeom>
          <a:solidFill>
            <a:srgbClr val="EBF4ED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272784" y="3520440"/>
            <a:ext cx="73152" cy="1627632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3952" y="3666744"/>
            <a:ext cx="4873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2-Minuten-Check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492240" y="4050792"/>
            <a:ext cx="4837176" cy="9509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2–3 kurze Abruffragen</a:t>
            </a:r>
            <a:endParaRPr lang="en-US" sz="1340" dirty="0"/>
          </a:p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möglichst ohne Unterlagen lösbar</a:t>
            </a:r>
            <a:endParaRPr lang="en-US" sz="1340" dirty="0"/>
          </a:p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eine Anwendung oder Erklärung einbauen</a:t>
            </a:r>
            <a:endParaRPr lang="en-US" sz="1340" dirty="0"/>
          </a:p>
        </p:txBody>
      </p:sp>
      <p:sp>
        <p:nvSpPr>
          <p:cNvPr id="25" name="Shape 23"/>
          <p:cNvSpPr/>
          <p:nvPr/>
        </p:nvSpPr>
        <p:spPr>
          <a:xfrm>
            <a:off x="1691640" y="5541264"/>
            <a:ext cx="8796528" cy="585216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01952" y="5687568"/>
            <a:ext cx="83759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Codex-Workflow: neue Stunde in praesentation.json → lessons ergänzen → npm run build:pptx</a:t>
            </a:r>
            <a:endParaRPr lang="en-US" sz="11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Rivius Gymnasium Attendorn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Atom- und Kernphysik – Wiederholung</dc:title>
  <dc:subject>Fortlaufende Wiederholung: Atom- und Kernphysik</dc:subject>
  <dc:creator>Jonathan Hardenacke</dc:creator>
  <cp:lastModifiedBy>Jonathan Hardenacke</cp:lastModifiedBy>
  <cp:revision>1</cp:revision>
  <dcterms:created xsi:type="dcterms:W3CDTF">2026-09-11T17:58:40Z</dcterms:created>
  <dcterms:modified xsi:type="dcterms:W3CDTF">2026-09-11T17:58:40Z</dcterms:modified>
</cp:coreProperties>
</file>