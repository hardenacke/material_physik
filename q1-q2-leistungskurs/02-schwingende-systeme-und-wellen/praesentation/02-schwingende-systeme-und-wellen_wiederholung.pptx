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143000"/>
            <a:ext cx="5303520" cy="5303520"/>
          </a:xfrm>
          <a:prstGeom prst="ellipse">
            <a:avLst/>
          </a:prstGeom>
          <a:solidFill>
            <a:srgbClr val="4C88C2">
              <a:alpha val="88000"/>
            </a:srgbClr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251960"/>
            <a:ext cx="2514600" cy="2514600"/>
          </a:xfrm>
          <a:prstGeom prst="ellipse">
            <a:avLst/>
          </a:prstGeom>
          <a:solidFill>
            <a:srgbClr val="2C7A7B">
              <a:alpha val="80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61872"/>
            <a:ext cx="1051560" cy="0"/>
          </a:xfrm>
          <a:prstGeom prst="line">
            <a:avLst/>
          </a:prstGeom>
          <a:noFill/>
          <a:ln w="50800">
            <a:solidFill>
              <a:srgbClr val="6DB2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583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8D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8641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Schwingende Systeme und Wellen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49808" y="3246120"/>
            <a:ext cx="6309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E5F0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KLP-basierte Wiederholung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3776472"/>
            <a:ext cx="7132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ED2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Vom sicheren Abruf über einfache Anwendungen bis zum Transfer.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9808" y="4892040"/>
            <a:ext cx="4617720" cy="658368"/>
          </a:xfrm>
          <a:prstGeom prst="roundRect">
            <a:avLst>
              <a:gd name="adj" fmla="val 8333"/>
            </a:avLst>
          </a:prstGeom>
          <a:solidFill>
            <a:srgbClr val="1E425F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5074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E2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Abrufen    2  Verstehen    3  Rechnen    4  Transfer</a:t>
            </a:r>
            <a:endParaRPr lang="en-US" sz="1170" dirty="0"/>
          </a:p>
        </p:txBody>
      </p:sp>
      <p:sp>
        <p:nvSpPr>
          <p:cNvPr id="11" name="Text 9"/>
          <p:cNvSpPr/>
          <p:nvPr/>
        </p:nvSpPr>
        <p:spPr>
          <a:xfrm>
            <a:off x="749808" y="621792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A9C2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KLP-Recherche: 2026-09-12</a:t>
            </a:r>
            <a:endParaRPr lang="en-US" sz="9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KLP-KOMPASS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Inhaltsfeld Schwingende Systeme und Wellen (LK)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649224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4297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Verbindliche fachliche Schwerpunkte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6126480" cy="3675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Schwingungen/Wellen: harmonische Schwingungen; Huygens, Reflexion, Brechung, Beugung; Polarisation, Superposition; Michelson-Interferometer</a:t>
            </a:r>
            <a:endParaRPr lang="en-US" sz="1500" dirty="0"/>
          </a:p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Schwingende Systeme: Feder-/Fadenpendel, Resonanz; Schwingkreis, Hertzscher Dipol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60920" y="1600200"/>
            <a:ext cx="4160520" cy="2029968"/>
          </a:xfrm>
          <a:prstGeom prst="roundRect">
            <a:avLst>
              <a:gd name="adj" fmla="val 2703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60920" y="1600200"/>
            <a:ext cx="68580" cy="202996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62088" y="171907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du am Ende können sollst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62088" y="2093976"/>
            <a:ext cx="3794760" cy="1408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Mechanische und elektromagnetische Schwingungen mathematisch modellieren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Differentialgleichungen als Modellwerkzeug für Schwingungen nutzen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Wellenphänomene mit Superposition und Huygens-Prinzip erklären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Interferenz an Spalten, Gittern und Interferometern quantitativ auswerten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60920" y="3840480"/>
            <a:ext cx="4160520" cy="2057400"/>
          </a:xfrm>
          <a:prstGeom prst="roundRect">
            <a:avLst>
              <a:gd name="adj" fmla="val 2667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60920" y="3840480"/>
            <a:ext cx="68580" cy="2057400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2088" y="395935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Lernweg dieser Präsentation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562088" y="4334256"/>
            <a:ext cx="379476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sehr leichte Abruffragen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Formeln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und Grafik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606247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 Physik NRW 2022 · S. 47–49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1 · ABRUFEN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Leichter Einstieg → sicherer Abruf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7218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Fragen 1–2 sind bewusst sehr leicht. Danach wird der Abruf schrittweise fachlicher.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56232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" y="1938528"/>
            <a:ext cx="493776" cy="493776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194767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9344" y="1947672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Schaukel bewegt sich regelmäßig hin und her. Ist das eine Schwingung?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2670048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" y="2752344"/>
            <a:ext cx="493776" cy="493776"/>
          </a:xfrm>
          <a:prstGeom prst="ellipse">
            <a:avLst/>
          </a:prstGeom>
          <a:solidFill>
            <a:srgbClr val="4C88C2"/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2761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9344" y="2761488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passiert oft, wenn man eine Schaukel immer im passenden Rhythmus anschubst?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49808" y="3483864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" y="3566160"/>
            <a:ext cx="493776" cy="493776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35753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9344" y="3575304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hängen Periodendauer T und Frequenz f zusammen?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808" y="4297680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" y="4379976"/>
            <a:ext cx="493776" cy="493776"/>
          </a:xfrm>
          <a:prstGeom prst="ellipse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4389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9344" y="4389120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zwei mechanischen Energieformen wechseln sich beim Federpendel ab?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49808" y="5111496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3544" y="5193792"/>
            <a:ext cx="493776" cy="493776"/>
          </a:xfrm>
          <a:prstGeom prst="ellipse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" y="520293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09344" y="5202936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ist die zentrale Gemeinsamkeit von Federpendel und LC-Schwingkreis?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2 · VERSTEHEN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Fachbegriffe und Formeln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1938528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Eigenfrequenz f₀</a:t>
            </a:r>
            <a:endParaRPr lang="en-US" sz="153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Charakteristische Frequenz eines schwingungsfähigen Systems.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Hz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1600200"/>
            <a:ext cx="68580" cy="193852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Resonanz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6382512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Starke Antwort bei Anregung nahe der Eigenfrequenz.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822192"/>
            <a:ext cx="68580" cy="1938528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Kreisfrequenz ω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859536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 = 2πf.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rad/s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81344" y="3822192"/>
            <a:ext cx="68580" cy="1938528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Wellenlänge λ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6382512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Räumliche Periodenlänge einer Welle.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3 · ANWENDEN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 und Rechenbeispiele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Rechne zunächst mit bewusst einfachen Zahlen und klaren Einzelschritten.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865376"/>
            <a:ext cx="68580" cy="112471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84248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35915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Federpendel: m=1,0 kg, D=100 N/m. Bestimme T = 2π√(m/D).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9808" y="3227832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227832"/>
            <a:ext cx="68580" cy="112471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346704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7216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Fadenpendel: l=1,0 m, g≈10 m/s². Bestimme T ≈ 2π√(l/g).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49808" y="4590288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49808" y="4590288"/>
            <a:ext cx="68580" cy="1124712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0976" y="470916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508406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Welle hat λ=0,50 m und f=4,0 Hz. Bestimme v.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4 · TRANSFER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Jetzt verknüpfen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Hier musst du mehr als einen Gedanken verbinden oder das Modell begründet anwenden.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938528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F2EEF8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938528"/>
            <a:ext cx="68580" cy="1600200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205740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 / Transfer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432304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Brücke wird periodisch angeregt. Welche zwei Maßnahmen können eine Resonanzkatastrophe vermeiden? Begründe physikalisch.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9808" y="3840480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EDF5E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840480"/>
            <a:ext cx="68580" cy="1600200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959352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 · Warum?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4334256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wird die Resonanzkurve bei stärkerer Dämpfung niedriger und breiter? Erkläre den Zusammenhang energetisch.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926080" y="5833872"/>
            <a:ext cx="6336792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90672" y="592531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9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Strategie: Gegeben → Gesucht → Modell/Formel → Ergebnis → Plausibilität</a:t>
            </a:r>
            <a:endParaRPr lang="en-US" sz="10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5 · DARSTELLEN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Resonanzkurve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72768"/>
            <a:ext cx="754380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44752" y="5340096"/>
            <a:ext cx="6291072" cy="0"/>
          </a:xfrm>
          <a:prstGeom prst="line">
            <a:avLst/>
          </a:prstGeom>
          <a:noFill/>
          <a:ln w="17780">
            <a:solidFill>
              <a:srgbClr val="20304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444752" y="5340096"/>
            <a:ext cx="0" cy="-3355848"/>
          </a:xfrm>
          <a:prstGeom prst="line">
            <a:avLst/>
          </a:prstGeom>
          <a:noFill/>
          <a:ln w="17780">
            <a:solidFill>
              <a:srgbClr val="20304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444752" y="1984248"/>
            <a:ext cx="0" cy="3355848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44752" y="5340096"/>
            <a:ext cx="6291072" cy="0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16152" y="54132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68680" y="52486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-0,27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1984248"/>
            <a:ext cx="0" cy="3355848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44752" y="4501134"/>
            <a:ext cx="6291072" cy="0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54132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68680" y="440969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90288" y="1984248"/>
            <a:ext cx="0" cy="3355848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3662172"/>
            <a:ext cx="6291072" cy="0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61688" y="54132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68680" y="357073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1,67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63056" y="1984248"/>
            <a:ext cx="0" cy="3355848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44752" y="2823210"/>
            <a:ext cx="6291072" cy="0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54132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68680" y="273177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2,64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735824" y="1984248"/>
            <a:ext cx="0" cy="3355848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44752" y="1984248"/>
            <a:ext cx="6291072" cy="0"/>
          </a:xfrm>
          <a:prstGeom prst="line">
            <a:avLst/>
          </a:prstGeom>
          <a:noFill/>
          <a:ln w="7620">
            <a:solidFill>
              <a:srgbClr val="CDD8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54132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" y="18928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3,62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501384" y="56692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Erregerfrequenz f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68680" y="1755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Amplitude 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073859" y="4694929"/>
            <a:ext cx="141549" cy="-12179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15408" y="4682750"/>
            <a:ext cx="141549" cy="-14252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6957" y="4668498"/>
            <a:ext cx="141549" cy="-16813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98507" y="4651685"/>
            <a:ext cx="141549" cy="-20008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40056" y="4631677"/>
            <a:ext cx="141549" cy="-24042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81605" y="4607635"/>
            <a:ext cx="141549" cy="-29195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23154" y="4578440"/>
            <a:ext cx="141549" cy="-35866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64703" y="4542574"/>
            <a:ext cx="141549" cy="-44623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06252" y="4497951"/>
            <a:ext cx="141549" cy="-56285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47801" y="4441666"/>
            <a:ext cx="141549" cy="-72044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89350" y="4369622"/>
            <a:ext cx="141549" cy="-93626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30900" y="4275996"/>
            <a:ext cx="141549" cy="-123473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72449" y="4152522"/>
            <a:ext cx="141549" cy="-164812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13998" y="3987710"/>
            <a:ext cx="141549" cy="-221083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55547" y="3766627"/>
            <a:ext cx="141549" cy="-293191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197096" y="3473436"/>
            <a:ext cx="141549" cy="-371038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338645" y="3102398"/>
            <a:ext cx="141549" cy="-416007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80194" y="2686391"/>
            <a:ext cx="141549" cy="-350703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21743" y="2335687"/>
            <a:ext cx="141549" cy="-120002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763292" y="2215686"/>
            <a:ext cx="141549" cy="183711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04842" y="2399397"/>
            <a:ext cx="141549" cy="379104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46391" y="2778501"/>
            <a:ext cx="141549" cy="412364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87940" y="3190864"/>
            <a:ext cx="141549" cy="354586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29489" y="3545450"/>
            <a:ext cx="141549" cy="276020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71038" y="3821470"/>
            <a:ext cx="141549" cy="207155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12587" y="4028625"/>
            <a:ext cx="141549" cy="154448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54136" y="4183073"/>
            <a:ext cx="141549" cy="115972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895685" y="4299045"/>
            <a:ext cx="141549" cy="88214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037235" y="4387259"/>
            <a:ext cx="141549" cy="68110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178784" y="4455369"/>
            <a:ext cx="141549" cy="53388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320333" y="4508757"/>
            <a:ext cx="141549" cy="42459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61882" y="4551217"/>
            <a:ext cx="141549" cy="34227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603431" y="4585443"/>
            <a:ext cx="141549" cy="27935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744980" y="4613378"/>
            <a:ext cx="141549" cy="23060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886529" y="4636438"/>
            <a:ext cx="141549" cy="19234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28078" y="4655672"/>
            <a:ext cx="141549" cy="16195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169628" y="4671867"/>
            <a:ext cx="141549" cy="13754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311177" y="4685621"/>
            <a:ext cx="141549" cy="11773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52726" y="4697394"/>
            <a:ext cx="141549" cy="10150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94275" y="4707543"/>
            <a:ext cx="141549" cy="8809"/>
          </a:xfrm>
          <a:prstGeom prst="line">
            <a:avLst/>
          </a:prstGeom>
          <a:noFill/>
          <a:ln w="30480">
            <a:solidFill>
              <a:srgbClr val="2F6FAD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028139" y="4649209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69688" y="463703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11237" y="462277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452787" y="460596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594336" y="458595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735885" y="456191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877434" y="453272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18983" y="449685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160532" y="445223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302081" y="439594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43630" y="432390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585180" y="42302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726729" y="410680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868278" y="394199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009827" y="372090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151376" y="342771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292925" y="305667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434474" y="264067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576023" y="228996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717572" y="216996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59122" y="235367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00671" y="273278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142220" y="314514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83769" y="349973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425318" y="377575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566867" y="398290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708416" y="4137353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849965" y="425332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91515" y="4341539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133064" y="4409649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274613" y="446303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416162" y="450549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557711" y="4539723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699260" y="456765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840809" y="459071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982358" y="460995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123908" y="4626147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265457" y="463990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407006" y="465167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548555" y="4661823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690104" y="467063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A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673352" y="562356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Resonanz</a:t>
            </a:r>
            <a:endParaRPr lang="en-US" sz="920" dirty="0"/>
          </a:p>
        </p:txBody>
      </p:sp>
      <p:sp>
        <p:nvSpPr>
          <p:cNvPr id="116" name="Shape 114"/>
          <p:cNvSpPr/>
          <p:nvPr/>
        </p:nvSpPr>
        <p:spPr>
          <a:xfrm>
            <a:off x="4370832" y="2075688"/>
            <a:ext cx="0" cy="3154680"/>
          </a:xfrm>
          <a:prstGeom prst="line">
            <a:avLst/>
          </a:prstGeom>
          <a:noFill/>
          <a:ln w="12700">
            <a:solidFill>
              <a:srgbClr val="B5535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187952" y="52303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53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f₀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8412480" y="1572768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9" name="Shape 117"/>
          <p:cNvSpPr/>
          <p:nvPr/>
        </p:nvSpPr>
        <p:spPr>
          <a:xfrm>
            <a:off x="8412480" y="1572768"/>
            <a:ext cx="68580" cy="2011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613648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Auswerten</a:t>
            </a:r>
            <a:endParaRPr lang="en-US" sz="1450" dirty="0"/>
          </a:p>
        </p:txBody>
      </p:sp>
      <p:sp>
        <p:nvSpPr>
          <p:cNvPr id="121" name="Text 119"/>
          <p:cNvSpPr/>
          <p:nvPr/>
        </p:nvSpPr>
        <p:spPr>
          <a:xfrm>
            <a:off x="8613648" y="2066544"/>
            <a:ext cx="2743200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 liegt die Eigenfrequenz?</a:t>
            </a:r>
            <a:endParaRPr lang="en-US" sz="1320" dirty="0"/>
          </a:p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verändert stärkere Dämpfung Höhe und Breite der Kurve?</a:t>
            </a:r>
            <a:endParaRPr lang="en-US" sz="1320" dirty="0"/>
          </a:p>
        </p:txBody>
      </p:sp>
      <p:sp>
        <p:nvSpPr>
          <p:cNvPr id="122" name="Shape 120"/>
          <p:cNvSpPr/>
          <p:nvPr/>
        </p:nvSpPr>
        <p:spPr>
          <a:xfrm>
            <a:off x="8412480" y="3794760"/>
            <a:ext cx="3108960" cy="2304288"/>
          </a:xfrm>
          <a:prstGeom prst="roundRect">
            <a:avLst>
              <a:gd name="adj" fmla="val 2381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8412480" y="3794760"/>
            <a:ext cx="68580" cy="230428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613648" y="3913632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Darstellungssprache</a:t>
            </a:r>
            <a:endParaRPr lang="en-US" sz="1430" dirty="0"/>
          </a:p>
        </p:txBody>
      </p:sp>
      <p:sp>
        <p:nvSpPr>
          <p:cNvPr id="125" name="Text 123"/>
          <p:cNvSpPr/>
          <p:nvPr/>
        </p:nvSpPr>
        <p:spPr>
          <a:xfrm>
            <a:off x="8613648" y="4288536"/>
            <a:ext cx="2743200" cy="1682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Achsen + Einheiten prüfen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beschreiben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 Fachbegriff/Formel begründen</a:t>
            </a:r>
            <a:endParaRPr lang="en-US" sz="12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SICHERUNG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Lösungen und Exit-Ticket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447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Erst nach eigener Bearbeitung einblenden.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810512"/>
            <a:ext cx="68580" cy="1060704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859536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Warm-up: ja; die Amplitude kann durch Resonanz stark wachsen; f=1/T; Federenergie und Bewegungsenergie; in beiden Systemen pendelt Energie periodisch zwischen zwei Speicherformen.</a:t>
            </a:r>
            <a:endParaRPr lang="en-US" sz="1160" dirty="0"/>
          </a:p>
        </p:txBody>
      </p:sp>
      <p:sp>
        <p:nvSpPr>
          <p:cNvPr id="14" name="Shape 12"/>
          <p:cNvSpPr/>
          <p:nvPr/>
        </p:nvSpPr>
        <p:spPr>
          <a:xfrm>
            <a:off x="6181344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810512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382512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1: T≈0,63 s.</a:t>
            </a:r>
            <a:endParaRPr lang="en-US" sz="1160" dirty="0"/>
          </a:p>
        </p:txBody>
      </p:sp>
      <p:sp>
        <p:nvSpPr>
          <p:cNvPr id="18" name="Shape 16"/>
          <p:cNvSpPr/>
          <p:nvPr/>
        </p:nvSpPr>
        <p:spPr>
          <a:xfrm>
            <a:off x="658368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859536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2: T≈1,99 s.</a:t>
            </a:r>
            <a:endParaRPr lang="en-US" sz="1160" dirty="0"/>
          </a:p>
        </p:txBody>
      </p:sp>
      <p:sp>
        <p:nvSpPr>
          <p:cNvPr id="22" name="Shape 20"/>
          <p:cNvSpPr/>
          <p:nvPr/>
        </p:nvSpPr>
        <p:spPr>
          <a:xfrm>
            <a:off x="6181344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81344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</a:t>
            </a:r>
            <a:endParaRPr lang="en-US" sz="1180" dirty="0"/>
          </a:p>
        </p:txBody>
      </p:sp>
      <p:sp>
        <p:nvSpPr>
          <p:cNvPr id="25" name="Text 23"/>
          <p:cNvSpPr/>
          <p:nvPr/>
        </p:nvSpPr>
        <p:spPr>
          <a:xfrm>
            <a:off x="6382512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3: 2,0 m/s.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658368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859536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Anwendung: Dämpfung erhöhen und/oder Eigenfrequenz bzw. Anregungsfrequenz so verändern, dass keine starke Resonanz entsteht.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6181344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81344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</a:t>
            </a:r>
            <a:endParaRPr lang="en-US" sz="1180" dirty="0"/>
          </a:p>
        </p:txBody>
      </p:sp>
      <p:sp>
        <p:nvSpPr>
          <p:cNvPr id="33" name="Text 31"/>
          <p:cNvSpPr/>
          <p:nvPr/>
        </p:nvSpPr>
        <p:spPr>
          <a:xfrm>
            <a:off x="6382512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Konzeptfrage: Stärkere Dämpfung entzieht dem System pro Schwingung mehr mechanische Energie. Dadurch sinkt die maximale Amplitude; zugleich reagiert das System über einen breiteren Frequenzbereich weniger scharf selektiv.</a:t>
            </a:r>
            <a:endParaRPr lang="en-US" sz="1160" dirty="0"/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607040" cy="612648"/>
          </a:xfrm>
          <a:prstGeom prst="roundRect">
            <a:avLst>
              <a:gd name="adj" fmla="val 8955"/>
            </a:avLst>
          </a:prstGeom>
          <a:solidFill>
            <a:srgbClr val="FFF4DE"/>
          </a:solidFill>
          <a:ln w="15240">
            <a:solidFill>
              <a:srgbClr val="D78C2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581558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8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664208" y="5733288"/>
            <a:ext cx="9418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Ordne Energieformen zu: Federpendel ↔ LC-Schwingkreis.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Schwingende Systeme und Wellen – Wiederholung</dc:title>
  <dc:subject>KLP-basierte Wiederholung: Schwingende Systeme und Wellen</dc:subject>
  <dc:creator>Jonathan Hardenacke</dc:creator>
  <cp:lastModifiedBy>Jonathan Hardenacke</cp:lastModifiedBy>
  <cp:revision>1</cp:revision>
  <dcterms:created xsi:type="dcterms:W3CDTF">2026-09-12T09:38:45Z</dcterms:created>
  <dcterms:modified xsi:type="dcterms:W3CDTF">2026-09-12T09:38:45Z</dcterms:modified>
</cp:coreProperties>
</file>