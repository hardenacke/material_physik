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143000"/>
            <a:ext cx="5303520" cy="5303520"/>
          </a:xfrm>
          <a:prstGeom prst="ellipse">
            <a:avLst/>
          </a:prstGeom>
          <a:solidFill>
            <a:srgbClr val="4C88C2">
              <a:alpha val="88000"/>
            </a:srgbClr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4251960"/>
            <a:ext cx="2514600" cy="2514600"/>
          </a:xfrm>
          <a:prstGeom prst="ellipse">
            <a:avLst/>
          </a:prstGeom>
          <a:solidFill>
            <a:srgbClr val="2C7A7B">
              <a:alpha val="80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61872"/>
            <a:ext cx="1051560" cy="0"/>
          </a:xfrm>
          <a:prstGeom prst="line">
            <a:avLst/>
          </a:prstGeom>
          <a:noFill/>
          <a:ln w="50800">
            <a:solidFill>
              <a:srgbClr val="6DB2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8641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Ladungen, Felder und Induktion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3246120"/>
            <a:ext cx="6309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KLP-basierte Wiederholung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776472"/>
            <a:ext cx="7132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ED2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Vom sicheren Abruf über einfache Anwendungen bis zum Transfer.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4892040"/>
            <a:ext cx="4617720" cy="658368"/>
          </a:xfrm>
          <a:prstGeom prst="roundRect">
            <a:avLst>
              <a:gd name="adj" fmla="val 8333"/>
            </a:avLst>
          </a:prstGeom>
          <a:solidFill>
            <a:srgbClr val="1E425F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5074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E2EE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Abrufen    2  Verstehen    3  Rechnen    4  Transfer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749808" y="6217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KLP-Recherche: 2026-09-12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KLP-KOMPASS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Inhaltsfeld Ladungen, Felder und Induktion (LK)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4297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Verbindliche fachliche Schwerpunkte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612648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Elektrische Ladungen/Felder: E, Coulomb, Potential, Spannung, Kondensator/Kapazität; magnetische Felder/B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Bewegungen in Feldern: Längs-/Querfeld, Lorentzkraft, gekreuzte E- und B-Felder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Elektromagnetische Induktion: Φ, Induktionsgesetz, Lenz, Selbstinduktion, Induktivität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4160520" cy="2029968"/>
          </a:xfrm>
          <a:prstGeom prst="roundRect">
            <a:avLst>
              <a:gd name="adj" fmla="val 2703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1600200"/>
            <a:ext cx="68580" cy="20299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71907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du am Ende können sollst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62088" y="2093976"/>
            <a:ext cx="379476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Elektrische Felder, Potentiale und Kondensatoren quantitativ analysieren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Magnetische Felder und Lorentzkräfte auf bewegte Ladungen anwenden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Bahnbewegungen in Längs-, Quer- und gekreuzten Feldern modellieren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Magnetischen Fluss und elektromagnetische Induktion differenziert beschreiben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60920" y="3840480"/>
            <a:ext cx="4160520" cy="2057400"/>
          </a:xfrm>
          <a:prstGeom prst="roundRect">
            <a:avLst>
              <a:gd name="adj" fmla="val 2667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3840480"/>
            <a:ext cx="68580" cy="2057400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395935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Lernweg dieser Präsentation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62088" y="4334256"/>
            <a:ext cx="379476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sehr leichte Abruffragen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Formeln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und Grafik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" y="6062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 Physik NRW 2022 · S. 45–47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1 · ABRUFEN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Leichter Einstieg → sicherer Abruf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72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Fragen 1–2 sind bewusst sehr leicht. Danach wird der Abruf schrittweise fachlicher.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56232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1938528"/>
            <a:ext cx="493776" cy="493776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94767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9344" y="1947672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geladener Luftballon zieht Papierschnipsel an: Ist das vor allem eine elektrische oder magnetische Wirkung?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" y="2670048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" y="2752344"/>
            <a:ext cx="493776" cy="493776"/>
          </a:xfrm>
          <a:prstGeom prst="ellipse">
            <a:avLst/>
          </a:prstGeom>
          <a:solidFill>
            <a:srgbClr val="4C88C2"/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2761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9344" y="2761488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stromdurchflossene Spule zieht einen Eisenkern an: Ist das vor allem eine elektrische oder magnetische Wirkung?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" y="3483864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3566160"/>
            <a:ext cx="493776" cy="49377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35753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9344" y="3575304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Einheit hat die elektrische Spannung?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29768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" y="4379976"/>
            <a:ext cx="493776" cy="493776"/>
          </a:xfrm>
          <a:prstGeom prst="ellipse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4389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9344" y="4389120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Wirkt auf eine ruhende Ladung in einem reinen Magnetfeld eine Lorentzkraft?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808" y="5111496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" y="5193792"/>
            <a:ext cx="493776" cy="493776"/>
          </a:xfrm>
          <a:prstGeom prst="ellipse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52029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9344" y="5202936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beobachtet man, wenn sich der magnetische Fluss durch eine Spule ändert?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2 · VERSTEHEN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Fachbegriffe und Formeln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1938528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Elektrische Feldstärke E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Kraft pro Probeladung; im Plattenkondensator E≈U/d.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V/m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E = F/q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600200"/>
            <a:ext cx="68580" cy="193852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φ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382512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Potentielle elektrische Energie pro Ladung.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V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822192"/>
            <a:ext cx="68580" cy="1938528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Kapazität C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859536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Q/U eines Kondensators.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F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3822192"/>
            <a:ext cx="68580" cy="1938528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Induktivität L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6382512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Kenngröße für Selbstinduktion einer Spule.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H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3 · ANWENDEN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 und Rechenbeispiele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Rechne zunächst mit bewusst einfachen Zahlen und klaren Einzelschritten.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865376"/>
            <a:ext cx="68580" cy="112471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84248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3591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q₁=q₂=1,0 µC, r=0,10 m. Berechne F_C mit k≈9,0·10⁹ N·m²/C².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227832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227832"/>
            <a:ext cx="68580" cy="112471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346704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3721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Plattenkondensator: U=200 V, d=0,020 m. Berechne 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" y="4590288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590288"/>
            <a:ext cx="68580" cy="1124712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70916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" y="50840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Q=2,0 µC bei U=10 V. Berechne C.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4 · TRANSFER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Jetzt verknüpfen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 musst du mehr als einen Gedanken verbinden oder das Modell begründet anwenden.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F2EEF8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938528"/>
            <a:ext cx="68580" cy="1600200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5740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 / Transfer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432304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Kabelloses Laden: Eine Sendespule erzeugt ein zeitlich veränderliches Magnetfeld. Erkläre, warum in der Empfängerspule eine Spannung entsteht und wovon ihr Betrag qualitativ abhängt.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840480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EDF5E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40480"/>
            <a:ext cx="68580" cy="1600200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959352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 · Warum?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4334256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muss der induzierte Strom nach der Lenzschen Regel der verursachenden Flussänderung entgegenwirken? Begründe mit Energieerhaltung.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26080" y="5833872"/>
            <a:ext cx="6336792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592531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Strategie: Gegeben → Gesucht → Modell/Formel → Ergebnis → Plausibilität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5 · DARSTELLEN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Gekreuzte elektrische und magnetische Felder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75438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53312" y="2258568"/>
            <a:ext cx="6153912" cy="109728"/>
          </a:xfrm>
          <a:prstGeom prst="rect">
            <a:avLst/>
          </a:prstGeom>
          <a:solidFill>
            <a:srgbClr val="B55350"/>
          </a:solidFill>
          <a:ln w="12700">
            <a:solidFill>
              <a:srgbClr val="B553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4727448"/>
            <a:ext cx="6153912" cy="109728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194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55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33272" y="4663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47672" y="2505456"/>
            <a:ext cx="0" cy="2084832"/>
          </a:xfrm>
          <a:prstGeom prst="line">
            <a:avLst/>
          </a:prstGeom>
          <a:noFill/>
          <a:ln w="16510">
            <a:solidFill>
              <a:srgbClr val="B5535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090672" y="2505456"/>
            <a:ext cx="0" cy="2084832"/>
          </a:xfrm>
          <a:prstGeom prst="line">
            <a:avLst/>
          </a:prstGeom>
          <a:noFill/>
          <a:ln w="16510">
            <a:solidFill>
              <a:srgbClr val="B5535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33672" y="2505456"/>
            <a:ext cx="0" cy="2084832"/>
          </a:xfrm>
          <a:prstGeom prst="line">
            <a:avLst/>
          </a:prstGeom>
          <a:noFill/>
          <a:ln w="16510">
            <a:solidFill>
              <a:srgbClr val="B5535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76672" y="2505456"/>
            <a:ext cx="0" cy="2084832"/>
          </a:xfrm>
          <a:prstGeom prst="line">
            <a:avLst/>
          </a:prstGeom>
          <a:noFill/>
          <a:ln w="16510">
            <a:solidFill>
              <a:srgbClr val="B5535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618488" y="2633472"/>
            <a:ext cx="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28216" y="2633472"/>
            <a:ext cx="-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24328" y="2633472"/>
            <a:ext cx="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34056" y="2633472"/>
            <a:ext cx="-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30168" y="2633472"/>
            <a:ext cx="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39896" y="2633472"/>
            <a:ext cx="-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36008" y="2633472"/>
            <a:ext cx="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45736" y="2633472"/>
            <a:ext cx="-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41848" y="2633472"/>
            <a:ext cx="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51576" y="2633472"/>
            <a:ext cx="-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18488" y="3227832"/>
            <a:ext cx="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28216" y="3227832"/>
            <a:ext cx="-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24328" y="3227832"/>
            <a:ext cx="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34056" y="3227832"/>
            <a:ext cx="-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30168" y="3227832"/>
            <a:ext cx="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39896" y="3227832"/>
            <a:ext cx="-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36008" y="3227832"/>
            <a:ext cx="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45736" y="3227832"/>
            <a:ext cx="-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41848" y="3227832"/>
            <a:ext cx="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51576" y="3227832"/>
            <a:ext cx="-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18488" y="3822192"/>
            <a:ext cx="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28216" y="3822192"/>
            <a:ext cx="-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24328" y="3822192"/>
            <a:ext cx="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34056" y="3822192"/>
            <a:ext cx="-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30168" y="3822192"/>
            <a:ext cx="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39896" y="3822192"/>
            <a:ext cx="-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36008" y="3822192"/>
            <a:ext cx="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45736" y="3822192"/>
            <a:ext cx="-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41848" y="3822192"/>
            <a:ext cx="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51576" y="3822192"/>
            <a:ext cx="-109728" cy="109728"/>
          </a:xfrm>
          <a:prstGeom prst="line">
            <a:avLst/>
          </a:prstGeom>
          <a:noFill/>
          <a:ln w="12700">
            <a:solidFill>
              <a:srgbClr val="2C7A7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10512" y="3447288"/>
            <a:ext cx="182880" cy="182880"/>
          </a:xfrm>
          <a:prstGeom prst="ellipse">
            <a:avLst/>
          </a:prstGeom>
          <a:solidFill>
            <a:srgbClr val="D78C24"/>
          </a:solidFill>
          <a:ln w="12700">
            <a:solidFill>
              <a:srgbClr val="D78C2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93392" y="3538728"/>
            <a:ext cx="3017520" cy="0"/>
          </a:xfrm>
          <a:prstGeom prst="line">
            <a:avLst/>
          </a:prstGeom>
          <a:noFill/>
          <a:ln w="29210">
            <a:solidFill>
              <a:srgbClr val="D78C24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4965192" y="33375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947672" y="5001768"/>
            <a:ext cx="5696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E-Feld nach unten · B-Feld in die Folie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412480" y="1572768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412480" y="1572768"/>
            <a:ext cx="68580" cy="2011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13648" y="16916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Auswerten</a:t>
            </a:r>
            <a:endParaRPr lang="en-US" sz="1450" dirty="0"/>
          </a:p>
        </p:txBody>
      </p:sp>
      <p:sp>
        <p:nvSpPr>
          <p:cNvPr id="55" name="Text 53"/>
          <p:cNvSpPr/>
          <p:nvPr/>
        </p:nvSpPr>
        <p:spPr>
          <a:xfrm>
            <a:off x="8613648" y="2066544"/>
            <a:ext cx="274320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Wann heben sich elektrische und magnetische Kraft auf?</a:t>
            </a:r>
            <a:endParaRPr lang="en-US" sz="1320" dirty="0"/>
          </a:p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Ladungsvorzeichen würden die Kraftrichtungen vertauschen?</a:t>
            </a:r>
            <a:endParaRPr lang="en-US" sz="1320" dirty="0"/>
          </a:p>
        </p:txBody>
      </p:sp>
      <p:sp>
        <p:nvSpPr>
          <p:cNvPr id="56" name="Shape 54"/>
          <p:cNvSpPr/>
          <p:nvPr/>
        </p:nvSpPr>
        <p:spPr>
          <a:xfrm>
            <a:off x="8412480" y="3794760"/>
            <a:ext cx="3108960" cy="2304288"/>
          </a:xfrm>
          <a:prstGeom prst="roundRect">
            <a:avLst>
              <a:gd name="adj" fmla="val 2381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8412480" y="3794760"/>
            <a:ext cx="68580" cy="230428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13648" y="391363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Darstellungssprache</a:t>
            </a:r>
            <a:endParaRPr lang="en-US" sz="1430" dirty="0"/>
          </a:p>
        </p:txBody>
      </p:sp>
      <p:sp>
        <p:nvSpPr>
          <p:cNvPr id="59" name="Text 57"/>
          <p:cNvSpPr/>
          <p:nvPr/>
        </p:nvSpPr>
        <p:spPr>
          <a:xfrm>
            <a:off x="8613648" y="4288536"/>
            <a:ext cx="274320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Achsen + Einheiten prüfen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beschreiben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Fachbegriff/Formel begründen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SICHERUNG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Lösungen und Exit-Ticket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Erst nach eigener Bearbeitung einblenden.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810512"/>
            <a:ext cx="68580" cy="1060704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59536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Warm-up: elektrische Wirkung; magnetische Wirkung; Volt (V); nein; eine Induktionsspannung kann auftreten.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181344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810512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82512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1: 0,90 N.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658368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859536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2: 1,0·10⁴ V/m.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181344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382512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3: 2,0·10⁻⁷ F = 0,20 µF.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58368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59536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Anwendung: Das zeitlich veränderliche Magnetfeld verändert den magnetischen Fluss durch die Empfängerspule; U_ind wächst qualitativ mit Windungszahl und Änderungsrate des Flusses.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181344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382512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Konzeptfrage: Die induzierte Wirkung muss die verursachende Änderung hemmen. Eine Verstärkung ohne zusätzliche Arbeit würde eine selbsttätige Energiezunahme ermöglichen und der Energieerhaltung widersprechen.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749808" y="5650992"/>
            <a:ext cx="10607040" cy="612648"/>
          </a:xfrm>
          <a:prstGeom prst="roundRect">
            <a:avLst>
              <a:gd name="adj" fmla="val 8955"/>
            </a:avLst>
          </a:prstGeom>
          <a:solidFill>
            <a:srgbClr val="FFF4DE"/>
          </a:solidFill>
          <a:ln w="15240">
            <a:solidFill>
              <a:srgbClr val="D78C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8155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64208" y="5733288"/>
            <a:ext cx="9418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Formuliere die Bedingung für geradlinigen Durchgang im Wien-Filter sowohl als Kräfte- als auch als Geschwindigkeitsgleichung.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Ladungen, Felder und Induktion – Wiederholung</dc:title>
  <dc:subject>KLP-basierte Wiederholung: Ladungen, Felder und Induktion</dc:subject>
  <dc:creator>Jonathan Hardenacke</dc:creator>
  <cp:lastModifiedBy>Jonathan Hardenacke</cp:lastModifiedBy>
  <cp:revision>1</cp:revision>
  <dcterms:created xsi:type="dcterms:W3CDTF">2026-09-12T09:38:45Z</dcterms:created>
  <dcterms:modified xsi:type="dcterms:W3CDTF">2026-09-12T09:38:45Z</dcterms:modified>
</cp:coreProperties>
</file>